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Team Coding Agent RIT. Today we present Kairos — an event-driven live streaming RAG engine that eliminates the awkward conversational silence of voice assistants by answering while you speak.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speak to standard voice assistants, they wait until you finish talking, take several seconds to search, and then respond. If you ask two questions at once or correct yourself, they stumble. Voice interaction demands real-time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Kairos breaks the sequential barrier. By moving retrieval and draft synthesis into the utterance window, the answer is already verified the millisecond speech stops.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follows strict architectural parsimony: one asyncio event loop, five stages, zero framework bloat. Every stage has a justified microsecond budget.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monitors linguistic stability. It knows when enough information has arrived to begin searching, while suppressing searches when users merely ask to change format.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ask compound questions, Stage 2 decomposes them into parallel search legs while inheriting context. Stage 3 fires hybrid search concurrently with deadline bounds.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Kairos delivers answers at two speeds: an instant verbatim answer in under 1 millisecond, followed by a fluent rewrite from local Qwen2.5 running right on your laptop CPU.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to the sequential batch baseline on a shared virtual clock, Kairos saves a median 1.508 seconds per turn. Users experience zero waiting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official hackathon acceptance gates pass with flying colors. Most importantly, Gate G4 achieved exactly 0 fabricated citations across all 112 evaluated claims.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you see our Session Delta Engine in action: when a user clarifies that their trip was international, Kairos refines only the currency claim while preserving the filing deadline strictly untouched.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metrics that define Kairos: 65.4% of answers ready at the exact millisecond speech stops, hiding 100% of retrieval latency with a median lead time of 1.8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Calm Precision design system delivers two modes: a calm consumer voice assistant with quote highlights, and an inspector mode that exposes the live Gantt timeline for judges.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2 rewrites achieve a perfect 5.0 out of 5.0 blind fluency score — an improvement of 1.08 points over raw quotes — while running in just 820ms on CPU.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stress testing, 10 concurrent streaming sessions run at zero error rate using only 1.5 GB of RAM — well within the 4 GB limit of a standard laptop.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was built into the edges from day one. Across 32 red-team attack vectors, our attack success rate is 0.0%, with full PII redaction and negligible 0.01ms overhead.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Kairos proves that streaming live RAG can answer while you speak, eliminate hallucinations deterministically, and run 100% offline on a laptop CPU.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188720"/>
            <a:ext cx="9144000" cy="365760"/>
          </a:xfrm>
          <a:prstGeom prst="rect">
            <a:avLst/>
          </a:prstGeom>
          <a:noFill/>
        </p:spPr>
        <p:txBody>
          <a:bodyPr wrap="none">
            <a:spAutoFit/>
          </a:bodyPr>
          <a:lstStyle/>
          <a:p>
            <a:pPr>
              <a:defRPr sz="1200" b="1">
                <a:solidFill>
                  <a:srgbClr val="8FB3FF"/>
                </a:solidFill>
                <a:latin typeface="Arial"/>
              </a:defRPr>
            </a:pPr>
            <a:r>
              <a:t>SAMSUNG PRISM GENAI HACKATHON 2026 · THEME 04: STREAMING LIVE RAG</a:t>
            </a:r>
          </a:p>
        </p:txBody>
      </p:sp>
      <p:sp>
        <p:nvSpPr>
          <p:cNvPr id="4" name="TextBox 3"/>
          <p:cNvSpPr txBox="1"/>
          <p:nvPr/>
        </p:nvSpPr>
        <p:spPr>
          <a:xfrm>
            <a:off x="1371600" y="1645920"/>
            <a:ext cx="9418320" cy="1645920"/>
          </a:xfrm>
          <a:prstGeom prst="rect">
            <a:avLst/>
          </a:prstGeom>
          <a:noFill/>
        </p:spPr>
        <p:txBody>
          <a:bodyPr wrap="square">
            <a:spAutoFit/>
          </a:bodyPr>
          <a:lstStyle/>
          <a:p>
            <a:pPr>
              <a:defRPr sz="5400" b="1">
                <a:solidFill>
                  <a:srgbClr val="ECE9E2"/>
                </a:solidFill>
                <a:latin typeface="Georgia"/>
              </a:defRPr>
            </a:pPr>
            <a:r>
              <a:t>KAIROS</a:t>
            </a:r>
          </a:p>
          <a:p>
            <a:pPr>
              <a:defRPr sz="2800">
                <a:solidFill>
                  <a:srgbClr val="6FD39A"/>
                </a:solidFill>
                <a:latin typeface="Georgia"/>
              </a:defRPr>
            </a:pPr>
            <a:r>
              <a:t>Streaming Live RAG That Answers While You Speak</a:t>
            </a:r>
          </a:p>
        </p:txBody>
      </p:sp>
      <p:sp>
        <p:nvSpPr>
          <p:cNvPr id="5" name="TextBox 4"/>
          <p:cNvSpPr txBox="1"/>
          <p:nvPr/>
        </p:nvSpPr>
        <p:spPr>
          <a:xfrm>
            <a:off x="1371600" y="3383280"/>
            <a:ext cx="8686800" cy="914400"/>
          </a:xfrm>
          <a:prstGeom prst="rect">
            <a:avLst/>
          </a:prstGeom>
          <a:noFill/>
        </p:spPr>
        <p:txBody>
          <a:bodyPr wrap="square">
            <a:spAutoFit/>
          </a:bodyPr>
          <a:lstStyle/>
          <a:p>
            <a:pPr>
              <a:defRPr sz="1500">
                <a:solidFill>
                  <a:srgbClr val="A3A9B5"/>
                </a:solidFill>
                <a:latin typeface="Arial"/>
              </a:defRPr>
            </a:pPr>
            <a:r>
              <a:t>Event-Driven Speculative Retrieval, Multi-Intent Decomposition &amp; In-Place State Evolution</a:t>
            </a:r>
            <a:br/>
            <a:r>
              <a:t>Optimized for 100% Offline Local CPU Inference</a:t>
            </a:r>
          </a:p>
        </p:txBody>
      </p:sp>
      <p:sp>
        <p:nvSpPr>
          <p:cNvPr id="6" name="TextBox 5"/>
          <p:cNvSpPr txBox="1"/>
          <p:nvPr/>
        </p:nvSpPr>
        <p:spPr>
          <a:xfrm>
            <a:off x="1371600" y="4754880"/>
            <a:ext cx="9144000" cy="914400"/>
          </a:xfrm>
          <a:prstGeom prst="rect">
            <a:avLst/>
          </a:prstGeom>
          <a:noFill/>
        </p:spPr>
        <p:txBody>
          <a:bodyPr wrap="square">
            <a:spAutoFit/>
          </a:bodyPr>
          <a:lstStyle/>
          <a:p>
            <a:pPr>
              <a:defRPr sz="1600" b="1">
                <a:solidFill>
                  <a:srgbClr val="ECE9E2"/>
                </a:solidFill>
                <a:latin typeface="Arial"/>
              </a:defRPr>
            </a:pPr>
            <a:r>
              <a:t>Presenter: Cheshta Rajput</a:t>
            </a:r>
          </a:p>
          <a:p>
            <a:pPr>
              <a:defRPr sz="1300">
                <a:solidFill>
                  <a:srgbClr val="7D8594"/>
                </a:solidFill>
                <a:latin typeface="Arial"/>
              </a:defRPr>
            </a:pPr>
            <a:r>
              <a:t>Team Coding Agent RIT · M S Ramaiah Institute of Technology, Bengaluru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PROBLEM STATEMENT</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02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Traditional Voice RAG Imposes Painful Conversational Pauses</a:t>
            </a:r>
          </a:p>
          <a:p>
            <a:pPr>
              <a:defRPr sz="1300">
                <a:solidFill>
                  <a:srgbClr val="A3A9B5"/>
                </a:solidFill>
                <a:latin typeface="Arial"/>
              </a:defRPr>
            </a:pPr>
            <a:r>
              <a:t>Conventional pipelines create severe latency bottlenecks and break under conversational speech dynamics</a:t>
            </a:r>
          </a:p>
        </p:txBody>
      </p:sp>
      <p:sp>
        <p:nvSpPr>
          <p:cNvPr id="5" name="Rounded Rectangle 4"/>
          <p:cNvSpPr/>
          <p:nvPr/>
        </p:nvSpPr>
        <p:spPr>
          <a:xfrm>
            <a:off x="7315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864815" cy="3657600"/>
          </a:xfrm>
          <a:prstGeom prst="rect">
            <a:avLst/>
          </a:prstGeom>
          <a:noFill/>
        </p:spPr>
        <p:txBody>
          <a:bodyPr wrap="square">
            <a:spAutoFit/>
          </a:bodyPr>
          <a:lstStyle/>
          <a:p>
            <a:pPr>
              <a:defRPr sz="3600" b="1">
                <a:solidFill>
                  <a:srgbClr val="FF7B72"/>
                </a:solidFill>
                <a:latin typeface="Georgia"/>
              </a:defRPr>
            </a:pPr>
            <a:r>
              <a:t>3.5 – 5.0 s</a:t>
            </a:r>
          </a:p>
          <a:p>
            <a:pPr>
              <a:spcBef>
                <a:spcPts val="1400"/>
              </a:spcBef>
              <a:defRPr sz="1800" b="1">
                <a:solidFill>
                  <a:srgbClr val="ECE9E2"/>
                </a:solidFill>
                <a:latin typeface="Arial"/>
              </a:defRPr>
            </a:pPr>
            <a:r>
              <a:t>Awkward Silence</a:t>
            </a:r>
          </a:p>
          <a:p>
            <a:pPr>
              <a:spcBef>
                <a:spcPts val="1000"/>
              </a:spcBef>
              <a:defRPr sz="1300">
                <a:solidFill>
                  <a:srgbClr val="A3A9B5"/>
                </a:solidFill>
                <a:latin typeface="Arial"/>
              </a:defRPr>
            </a:pPr>
            <a:r>
              <a:t>Sequential batch processing (Listen -&gt; ASR -&gt; Retrieve -&gt; LLM) leaves users waiting in complete silence after speaking.</a:t>
            </a:r>
          </a:p>
        </p:txBody>
      </p:sp>
      <p:sp>
        <p:nvSpPr>
          <p:cNvPr id="7" name="Rounded Rectangle 6"/>
          <p:cNvSpPr/>
          <p:nvPr/>
        </p:nvSpPr>
        <p:spPr>
          <a:xfrm>
            <a:off x="43891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103120"/>
            <a:ext cx="2864815" cy="3657600"/>
          </a:xfrm>
          <a:prstGeom prst="rect">
            <a:avLst/>
          </a:prstGeom>
          <a:noFill/>
        </p:spPr>
        <p:txBody>
          <a:bodyPr wrap="square">
            <a:spAutoFit/>
          </a:bodyPr>
          <a:lstStyle/>
          <a:p>
            <a:pPr>
              <a:defRPr sz="3600" b="1">
                <a:solidFill>
                  <a:srgbClr val="F5A623"/>
                </a:solidFill>
                <a:latin typeface="Georgia"/>
              </a:defRPr>
            </a:pPr>
            <a:r>
              <a:t>Failure</a:t>
            </a:r>
          </a:p>
          <a:p>
            <a:pPr>
              <a:spcBef>
                <a:spcPts val="1400"/>
              </a:spcBef>
              <a:defRPr sz="1800" b="1">
                <a:solidFill>
                  <a:srgbClr val="ECE9E2"/>
                </a:solidFill>
                <a:latin typeface="Arial"/>
              </a:defRPr>
            </a:pPr>
            <a:r>
              <a:t>On Compound Questions</a:t>
            </a:r>
          </a:p>
          <a:p>
            <a:pPr>
              <a:spcBef>
                <a:spcPts val="1000"/>
              </a:spcBef>
              <a:defRPr sz="1300">
                <a:solidFill>
                  <a:srgbClr val="A3A9B5"/>
                </a:solidFill>
                <a:latin typeface="Arial"/>
              </a:defRPr>
            </a:pPr>
            <a:r>
              <a:t>Natural queries ('I need a venue in Pune for 40 people and what's the refund policy?') are sent as one noisy vector search.</a:t>
            </a:r>
          </a:p>
        </p:txBody>
      </p:sp>
      <p:sp>
        <p:nvSpPr>
          <p:cNvPr id="9" name="Rounded Rectangle 8"/>
          <p:cNvSpPr/>
          <p:nvPr/>
        </p:nvSpPr>
        <p:spPr>
          <a:xfrm>
            <a:off x="80467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2103120"/>
            <a:ext cx="2864815" cy="3657600"/>
          </a:xfrm>
          <a:prstGeom prst="rect">
            <a:avLst/>
          </a:prstGeom>
          <a:noFill/>
        </p:spPr>
        <p:txBody>
          <a:bodyPr wrap="square">
            <a:spAutoFit/>
          </a:bodyPr>
          <a:lstStyle/>
          <a:p>
            <a:pPr>
              <a:defRPr sz="3600" b="1">
                <a:solidFill>
                  <a:srgbClr val="A3A9B5"/>
                </a:solidFill>
                <a:latin typeface="Georgia"/>
              </a:defRPr>
            </a:pPr>
            <a:r>
              <a:t>100% Waste</a:t>
            </a:r>
          </a:p>
          <a:p>
            <a:pPr>
              <a:spcBef>
                <a:spcPts val="1400"/>
              </a:spcBef>
              <a:defRPr sz="1800" b="1">
                <a:solidFill>
                  <a:srgbClr val="ECE9E2"/>
                </a:solidFill>
                <a:latin typeface="Arial"/>
              </a:defRPr>
            </a:pPr>
            <a:r>
              <a:t>On Detail Revisions</a:t>
            </a:r>
          </a:p>
          <a:p>
            <a:pPr>
              <a:spcBef>
                <a:spcPts val="1000"/>
              </a:spcBef>
              <a:defRPr sz="1300">
                <a:solidFill>
                  <a:srgbClr val="A3A9B5"/>
                </a:solidFill>
                <a:latin typeface="Arial"/>
              </a:defRPr>
            </a:pPr>
            <a:r>
              <a:t>Late self-repairs ('Actually make that 60 people') force naive engines to discard state and re-execute entire turns.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CORE INNOVATION</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03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What Makes Kairos Different: Answering While You Speak</a:t>
            </a:r>
          </a:p>
          <a:p>
            <a:pPr>
              <a:defRPr sz="1300">
                <a:solidFill>
                  <a:srgbClr val="A3A9B5"/>
                </a:solidFill>
                <a:latin typeface="Arial"/>
              </a:defRPr>
            </a:pPr>
            <a:r>
              <a:t>Three architectural differentiators engineered specifically for live streaming voice interactions</a:t>
            </a:r>
          </a:p>
        </p:txBody>
      </p:sp>
      <p:sp>
        <p:nvSpPr>
          <p:cNvPr id="5" name="Rounded Rectangle 4"/>
          <p:cNvSpPr/>
          <p:nvPr/>
        </p:nvSpPr>
        <p:spPr>
          <a:xfrm>
            <a:off x="7315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864815" cy="3657600"/>
          </a:xfrm>
          <a:prstGeom prst="rect">
            <a:avLst/>
          </a:prstGeom>
          <a:noFill/>
        </p:spPr>
        <p:txBody>
          <a:bodyPr wrap="square">
            <a:spAutoFit/>
          </a:bodyPr>
          <a:lstStyle/>
          <a:p>
            <a:pPr>
              <a:defRPr sz="3400" b="1">
                <a:solidFill>
                  <a:srgbClr val="6FD39A"/>
                </a:solidFill>
                <a:latin typeface="Georgia"/>
              </a:defRPr>
            </a:pPr>
            <a:r>
              <a:t>65.4%</a:t>
            </a:r>
          </a:p>
          <a:p>
            <a:pPr>
              <a:spcBef>
                <a:spcPts val="1400"/>
              </a:spcBef>
              <a:defRPr sz="1800" b="1">
                <a:solidFill>
                  <a:srgbClr val="ECE9E2"/>
                </a:solidFill>
                <a:latin typeface="Arial"/>
              </a:defRPr>
            </a:pPr>
            <a:r>
              <a:t>Ready-at-End Drafting</a:t>
            </a:r>
          </a:p>
          <a:p>
            <a:pPr>
              <a:spcBef>
                <a:spcPts val="1000"/>
              </a:spcBef>
              <a:defRPr sz="1300">
                <a:solidFill>
                  <a:srgbClr val="A3A9B5"/>
                </a:solidFill>
                <a:latin typeface="Arial"/>
              </a:defRPr>
            </a:pPr>
            <a:r>
              <a:t>Kairos evaluates speech prefix chunks mid-utterance, predicts search necessity, and synthesizes verified answer drafts BEFORE you stop talking.</a:t>
            </a:r>
          </a:p>
        </p:txBody>
      </p:sp>
      <p:sp>
        <p:nvSpPr>
          <p:cNvPr id="7" name="Rounded Rectangle 6"/>
          <p:cNvSpPr/>
          <p:nvPr/>
        </p:nvSpPr>
        <p:spPr>
          <a:xfrm>
            <a:off x="43891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103120"/>
            <a:ext cx="2864815" cy="3657600"/>
          </a:xfrm>
          <a:prstGeom prst="rect">
            <a:avLst/>
          </a:prstGeom>
          <a:noFill/>
        </p:spPr>
        <p:txBody>
          <a:bodyPr wrap="square">
            <a:spAutoFit/>
          </a:bodyPr>
          <a:lstStyle/>
          <a:p>
            <a:pPr>
              <a:defRPr sz="3400" b="1">
                <a:solidFill>
                  <a:srgbClr val="8FB3FF"/>
                </a:solidFill>
                <a:latin typeface="Georgia"/>
              </a:defRPr>
            </a:pPr>
            <a:r>
              <a:t>Two-Speed</a:t>
            </a:r>
          </a:p>
          <a:p>
            <a:pPr>
              <a:spcBef>
                <a:spcPts val="1400"/>
              </a:spcBef>
              <a:defRPr sz="1800" b="1">
                <a:solidFill>
                  <a:srgbClr val="ECE9E2"/>
                </a:solidFill>
                <a:latin typeface="Arial"/>
              </a:defRPr>
            </a:pPr>
            <a:r>
              <a:t>Grounded Synthesis</a:t>
            </a:r>
          </a:p>
          <a:p>
            <a:pPr>
              <a:spcBef>
                <a:spcPts val="1000"/>
              </a:spcBef>
              <a:defRPr sz="1300">
                <a:solidFill>
                  <a:srgbClr val="A3A9B5"/>
                </a:solidFill>
                <a:latin typeface="Arial"/>
              </a:defRPr>
            </a:pPr>
            <a:r>
              <a:t>Speed 1 delivers an instant verbatim candidate in &lt; 1ms; Speed 2 generates a fluent local rewrite (&lt; 820ms) passing the strict Grounding Gate.</a:t>
            </a:r>
          </a:p>
        </p:txBody>
      </p:sp>
      <p:sp>
        <p:nvSpPr>
          <p:cNvPr id="9" name="Rounded Rectangle 8"/>
          <p:cNvSpPr/>
          <p:nvPr/>
        </p:nvSpPr>
        <p:spPr>
          <a:xfrm>
            <a:off x="80467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2103120"/>
            <a:ext cx="2864815" cy="3657600"/>
          </a:xfrm>
          <a:prstGeom prst="rect">
            <a:avLst/>
          </a:prstGeom>
          <a:noFill/>
        </p:spPr>
        <p:txBody>
          <a:bodyPr wrap="square">
            <a:spAutoFit/>
          </a:bodyPr>
          <a:lstStyle/>
          <a:p>
            <a:pPr>
              <a:defRPr sz="3400" b="1">
                <a:solidFill>
                  <a:srgbClr val="F5A623"/>
                </a:solidFill>
                <a:latin typeface="Georgia"/>
              </a:defRPr>
            </a:pPr>
            <a:r>
              <a:t>Gate G5</a:t>
            </a:r>
          </a:p>
          <a:p>
            <a:pPr>
              <a:spcBef>
                <a:spcPts val="1400"/>
              </a:spcBef>
              <a:defRPr sz="1800" b="1">
                <a:solidFill>
                  <a:srgbClr val="ECE9E2"/>
                </a:solidFill>
                <a:latin typeface="Arial"/>
              </a:defRPr>
            </a:pPr>
            <a:r>
              <a:t>In-Place Delta Evolution</a:t>
            </a:r>
          </a:p>
          <a:p>
            <a:pPr>
              <a:spcBef>
                <a:spcPts val="1000"/>
              </a:spcBef>
              <a:defRPr sz="1300">
                <a:solidFill>
                  <a:srgbClr val="A3A9B5"/>
                </a:solidFill>
                <a:latin typeface="Arial"/>
              </a:defRPr>
            </a:pPr>
            <a:r>
              <a:t>When late details arrive, the Session Delta Engine patches only the affected claim while preserving unaffected claims 100% byte-identical.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SYSTEM ARCHITECTURE</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04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Parsimonious 5-Stage Live Streaming Pipeline</a:t>
            </a:r>
          </a:p>
          <a:p>
            <a:pPr>
              <a:defRPr sz="1300">
                <a:solidFill>
                  <a:srgbClr val="A3A9B5"/>
                </a:solidFill>
                <a:latin typeface="Arial"/>
              </a:defRPr>
            </a:pPr>
            <a:r>
              <a:t>Zero external agent frameworks (no LangChain, no LlamaIndex) · Single asyncio event loop · Strict stage budgets</a:t>
            </a:r>
          </a:p>
        </p:txBody>
      </p:sp>
      <p:sp>
        <p:nvSpPr>
          <p:cNvPr id="5" name="Rounded Rectangle 4"/>
          <p:cNvSpPr/>
          <p:nvPr/>
        </p:nvSpPr>
        <p:spPr>
          <a:xfrm>
            <a:off x="731520" y="1645920"/>
            <a:ext cx="10728655" cy="438912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airos_architecture_diagram.jpg"/>
          <p:cNvPicPr>
            <a:picLocks noChangeAspect="1"/>
          </p:cNvPicPr>
          <p:nvPr/>
        </p:nvPicPr>
        <p:blipFill>
          <a:blip r:embed="rId2"/>
          <a:stretch>
            <a:fillRect/>
          </a:stretch>
        </p:blipFill>
        <p:spPr>
          <a:xfrm>
            <a:off x="822960" y="1737360"/>
            <a:ext cx="10545775" cy="4206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STAGE 1: STREAMING CONTROLLER</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05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Retrieval Controller &amp; Speculation Manager</a:t>
            </a:r>
          </a:p>
          <a:p>
            <a:pPr>
              <a:defRPr sz="1300">
                <a:solidFill>
                  <a:srgbClr val="A3A9B5"/>
                </a:solidFill>
                <a:latin typeface="Arial"/>
              </a:defRPr>
            </a:pPr>
            <a:r>
              <a:t>Sub-millisecond decisions per chunk: WAIT, RETRIEVE, or SUPPRESS based on acoustic and linguistic features</a:t>
            </a:r>
          </a:p>
        </p:txBody>
      </p:sp>
      <p:sp>
        <p:nvSpPr>
          <p:cNvPr id="5" name="Rounded Rectangle 4"/>
          <p:cNvSpPr/>
          <p:nvPr/>
        </p:nvSpPr>
        <p:spPr>
          <a:xfrm>
            <a:off x="7315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864815" cy="3657600"/>
          </a:xfrm>
          <a:prstGeom prst="rect">
            <a:avLst/>
          </a:prstGeom>
          <a:noFill/>
        </p:spPr>
        <p:txBody>
          <a:bodyPr wrap="square">
            <a:spAutoFit/>
          </a:bodyPr>
          <a:lstStyle/>
          <a:p>
            <a:pPr>
              <a:defRPr sz="2800" b="1">
                <a:solidFill>
                  <a:srgbClr val="F5A623"/>
                </a:solidFill>
                <a:latin typeface="Arial"/>
              </a:defRPr>
            </a:pPr>
            <a:r>
              <a:t>WAIT</a:t>
            </a:r>
          </a:p>
          <a:p>
            <a:pPr>
              <a:spcBef>
                <a:spcPts val="800"/>
              </a:spcBef>
              <a:defRPr sz="1600" b="1">
                <a:solidFill>
                  <a:srgbClr val="ECE9E2"/>
                </a:solidFill>
              </a:defRPr>
            </a:pPr>
            <a:r>
              <a:t>Syntactic Openness</a:t>
            </a:r>
          </a:p>
          <a:p>
            <a:pPr>
              <a:spcBef>
                <a:spcPts val="1200"/>
              </a:spcBef>
              <a:defRPr sz="1300">
                <a:solidFill>
                  <a:srgbClr val="A3A9B5"/>
                </a:solidFill>
              </a:defRPr>
            </a:pPr>
            <a:r>
              <a:t>Holds dispatch when utterances are incomplete or semantic drift between chunks exceeds threshold.</a:t>
            </a:r>
            <a:br/>
            <a:br/>
            <a:r>
              <a:t>• Entity saturation check</a:t>
            </a:r>
            <a:br/>
            <a:r>
              <a:t>• Embedding delta tracker</a:t>
            </a:r>
            <a:br/>
            <a:r>
              <a:t>• Zero premature searches</a:t>
            </a:r>
          </a:p>
        </p:txBody>
      </p:sp>
      <p:sp>
        <p:nvSpPr>
          <p:cNvPr id="7" name="Rounded Rectangle 6"/>
          <p:cNvSpPr/>
          <p:nvPr/>
        </p:nvSpPr>
        <p:spPr>
          <a:xfrm>
            <a:off x="43891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103120"/>
            <a:ext cx="2864815" cy="3657600"/>
          </a:xfrm>
          <a:prstGeom prst="rect">
            <a:avLst/>
          </a:prstGeom>
          <a:noFill/>
        </p:spPr>
        <p:txBody>
          <a:bodyPr wrap="square">
            <a:spAutoFit/>
          </a:bodyPr>
          <a:lstStyle/>
          <a:p>
            <a:pPr>
              <a:defRPr sz="2800" b="1">
                <a:solidFill>
                  <a:srgbClr val="6FD39A"/>
                </a:solidFill>
                <a:latin typeface="Arial"/>
              </a:defRPr>
            </a:pPr>
            <a:r>
              <a:t>RETRIEVE</a:t>
            </a:r>
          </a:p>
          <a:p>
            <a:pPr>
              <a:spcBef>
                <a:spcPts val="800"/>
              </a:spcBef>
              <a:defRPr sz="1600" b="1">
                <a:solidFill>
                  <a:srgbClr val="ECE9E2"/>
                </a:solidFill>
              </a:defRPr>
            </a:pPr>
            <a:r>
              <a:t>Early Dispatch</a:t>
            </a:r>
          </a:p>
          <a:p>
            <a:pPr>
              <a:spcBef>
                <a:spcPts val="1200"/>
              </a:spcBef>
              <a:defRPr sz="1300">
                <a:solidFill>
                  <a:srgbClr val="A3A9B5"/>
                </a:solidFill>
              </a:defRPr>
            </a:pPr>
            <a:r>
              <a:t>Fires speculative retrieval as soon as prefix information stabilizes, well before speech ends.</a:t>
            </a:r>
            <a:br/>
            <a:br/>
            <a:r>
              <a:t>• Prefix-hash lookup</a:t>
            </a:r>
            <a:br/>
            <a:r>
              <a:t>• Parallel leg branching</a:t>
            </a:r>
            <a:br/>
            <a:r>
              <a:t>• Lead time: median 1.80s</a:t>
            </a:r>
          </a:p>
        </p:txBody>
      </p:sp>
      <p:sp>
        <p:nvSpPr>
          <p:cNvPr id="9" name="Rounded Rectangle 8"/>
          <p:cNvSpPr/>
          <p:nvPr/>
        </p:nvSpPr>
        <p:spPr>
          <a:xfrm>
            <a:off x="80467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2103120"/>
            <a:ext cx="2864815" cy="3657600"/>
          </a:xfrm>
          <a:prstGeom prst="rect">
            <a:avLst/>
          </a:prstGeom>
          <a:noFill/>
        </p:spPr>
        <p:txBody>
          <a:bodyPr wrap="square">
            <a:spAutoFit/>
          </a:bodyPr>
          <a:lstStyle/>
          <a:p>
            <a:pPr>
              <a:defRPr sz="2800" b="1">
                <a:solidFill>
                  <a:srgbClr val="8FB3FF"/>
                </a:solidFill>
                <a:latin typeface="Arial"/>
              </a:defRPr>
            </a:pPr>
            <a:r>
              <a:t>SUPPRESS</a:t>
            </a:r>
          </a:p>
          <a:p>
            <a:pPr>
              <a:spcBef>
                <a:spcPts val="800"/>
              </a:spcBef>
              <a:defRPr sz="1600" b="1">
                <a:solidFill>
                  <a:srgbClr val="ECE9E2"/>
                </a:solidFill>
              </a:defRPr>
            </a:pPr>
            <a:r>
              <a:t>Presentation Intents</a:t>
            </a:r>
          </a:p>
          <a:p>
            <a:pPr>
              <a:spcBef>
                <a:spcPts val="1200"/>
              </a:spcBef>
              <a:defRPr sz="1300">
                <a:solidFill>
                  <a:srgbClr val="A3A9B5"/>
                </a:solidFill>
              </a:defRPr>
            </a:pPr>
            <a:r>
              <a:t>Detects structural requests ('show as bullets', 'summarize', 'table') and inhibits corpus search.</a:t>
            </a:r>
            <a:br/>
            <a:br/>
            <a:r>
              <a:t>• 100% suppression rate</a:t>
            </a:r>
            <a:br/>
            <a:r>
              <a:t>• Zero vector waste</a:t>
            </a:r>
            <a:br/>
            <a:r>
              <a:t>• Immediate in-memory transform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STAGES 2 &amp; 3: DECOMPOSITION &amp; RETRIEVAL</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06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Multi-Intent Decomposition &amp; Hybrid Retrieval</a:t>
            </a:r>
          </a:p>
          <a:p>
            <a:pPr>
              <a:defRPr sz="1300">
                <a:solidFill>
                  <a:srgbClr val="A3A9B5"/>
                </a:solidFill>
                <a:latin typeface="Arial"/>
              </a:defRPr>
            </a:pPr>
            <a:r>
              <a:t>Speech disfluency normalization, parallel search legs, and Reciprocal Rank Fusion</a:t>
            </a:r>
          </a:p>
        </p:txBody>
      </p:sp>
      <p:sp>
        <p:nvSpPr>
          <p:cNvPr id="5" name="Rounded Rectangle 4"/>
          <p:cNvSpPr/>
          <p:nvPr/>
        </p:nvSpPr>
        <p:spPr>
          <a:xfrm>
            <a:off x="731520" y="1828800"/>
            <a:ext cx="5180990"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632350" cy="3657600"/>
          </a:xfrm>
          <a:prstGeom prst="rect">
            <a:avLst/>
          </a:prstGeom>
          <a:noFill/>
        </p:spPr>
        <p:txBody>
          <a:bodyPr wrap="square">
            <a:spAutoFit/>
          </a:bodyPr>
          <a:lstStyle/>
          <a:p>
            <a:pPr>
              <a:defRPr sz="2000" b="1">
                <a:solidFill>
                  <a:srgbClr val="8FB3FF"/>
                </a:solidFill>
              </a:defRPr>
            </a:pPr>
            <a:r>
              <a:t>Stage 2: Multi-Intent Decomposer</a:t>
            </a:r>
          </a:p>
          <a:p>
            <a:pPr>
              <a:spcBef>
                <a:spcPts val="1000"/>
              </a:spcBef>
              <a:defRPr sz="1300">
                <a:solidFill>
                  <a:srgbClr val="A3A9B5"/>
                </a:solidFill>
              </a:defRPr>
            </a:pPr>
            <a:r>
              <a:t>• Speech Disfluency Stripping: Filters acoustic filler ('uh', 'um') and resolves mid-sentence corrections ('Pune — no, Mumbai' -&gt; Mumbai).</a:t>
            </a:r>
          </a:p>
          <a:p>
            <a:pPr>
              <a:spcBef>
                <a:spcPts val="1000"/>
              </a:spcBef>
              <a:defRPr sz="1300">
                <a:solidFill>
                  <a:srgbClr val="A3A9B5"/>
                </a:solidFill>
              </a:defRPr>
            </a:pPr>
            <a:r>
              <a:t>• Context Inheritance: Propagates entity and geographic constraints across split clauses seamlessly.</a:t>
            </a:r>
          </a:p>
          <a:p>
            <a:pPr>
              <a:spcBef>
                <a:spcPts val="1000"/>
              </a:spcBef>
              <a:defRPr sz="1300">
                <a:solidFill>
                  <a:srgbClr val="A3A9B5"/>
                </a:solidFill>
              </a:defRPr>
            </a:pPr>
            <a:r>
              <a:t>• Bounded Fan-Out: Hard cap of max 4 parallel legs with near-duplicate suppression (cosine &gt; 0.90).</a:t>
            </a:r>
          </a:p>
          <a:p>
            <a:pPr>
              <a:spcBef>
                <a:spcPts val="1000"/>
              </a:spcBef>
              <a:defRPr sz="1300">
                <a:solidFill>
                  <a:srgbClr val="A3A9B5"/>
                </a:solidFill>
              </a:defRPr>
            </a:pPr>
            <a:r>
              <a:t>• Deterministic Leg IDs: Stable query leg identifiers ensure reproducible downstream fusion.</a:t>
            </a:r>
          </a:p>
        </p:txBody>
      </p:sp>
      <p:sp>
        <p:nvSpPr>
          <p:cNvPr id="7" name="Rounded Rectangle 6"/>
          <p:cNvSpPr/>
          <p:nvPr/>
        </p:nvSpPr>
        <p:spPr>
          <a:xfrm>
            <a:off x="6278270" y="1828800"/>
            <a:ext cx="5180990"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52590" y="2103120"/>
            <a:ext cx="4632350" cy="3657600"/>
          </a:xfrm>
          <a:prstGeom prst="rect">
            <a:avLst/>
          </a:prstGeom>
          <a:noFill/>
        </p:spPr>
        <p:txBody>
          <a:bodyPr wrap="square">
            <a:spAutoFit/>
          </a:bodyPr>
          <a:lstStyle/>
          <a:p>
            <a:pPr>
              <a:defRPr sz="2000" b="1">
                <a:solidFill>
                  <a:srgbClr val="6FD39A"/>
                </a:solidFill>
              </a:defRPr>
            </a:pPr>
            <a:r>
              <a:t>Stage 3 &amp; 4: Hybrid Search &amp; Fusion</a:t>
            </a:r>
          </a:p>
          <a:p>
            <a:pPr>
              <a:spcBef>
                <a:spcPts val="1000"/>
              </a:spcBef>
              <a:defRPr sz="1300">
                <a:solidFill>
                  <a:srgbClr val="A3A9B5"/>
                </a:solidFill>
              </a:defRPr>
            </a:pPr>
            <a:r>
              <a:t>• Dual Retrieval Engines: FastEmbed BGE-small dense embeddings concurrently executed with BM25s sparse index.</a:t>
            </a:r>
          </a:p>
          <a:p>
            <a:pPr>
              <a:spcBef>
                <a:spcPts val="1000"/>
              </a:spcBef>
              <a:defRPr sz="1300">
                <a:solidFill>
                  <a:srgbClr val="A3A9B5"/>
                </a:solidFill>
              </a:defRPr>
            </a:pPr>
            <a:r>
              <a:t>• Reciprocal Rank Fusion (RRF k=60): Deterministic score combination immune to score scale divergence.</a:t>
            </a:r>
          </a:p>
          <a:p>
            <a:pPr>
              <a:spcBef>
                <a:spcPts val="1000"/>
              </a:spcBef>
              <a:defRPr sz="1300">
                <a:solidFill>
                  <a:srgbClr val="A3A9B5"/>
                </a:solidFill>
              </a:defRPr>
            </a:pPr>
            <a:r>
              <a:t>• Prefix-Hash In-Memory Caching: Sub-millisecond instant retrieval for repeated query stems across chunks.</a:t>
            </a:r>
          </a:p>
          <a:p>
            <a:pPr>
              <a:spcBef>
                <a:spcPts val="1000"/>
              </a:spcBef>
              <a:defRPr sz="1300">
                <a:solidFill>
                  <a:srgbClr val="A3A9B5"/>
                </a:solidFill>
              </a:defRPr>
            </a:pPr>
            <a:r>
              <a:t>• 400 ms Deadline Bounding: Speculative retrieval legs are automatically canceled if speech mutates.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STAGE 5: SYNTHESIS &amp; GROUNDING</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07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Two-Speed Grounded Synthesis &amp; Local LLM</a:t>
            </a:r>
          </a:p>
          <a:p>
            <a:pPr>
              <a:defRPr sz="1300">
                <a:solidFill>
                  <a:srgbClr val="A3A9B5"/>
                </a:solidFill>
                <a:latin typeface="Arial"/>
              </a:defRPr>
            </a:pPr>
            <a:r>
              <a:t>Instant extractive answers followed by fluent local CPU rewrites under strict deterministic verification</a:t>
            </a:r>
          </a:p>
        </p:txBody>
      </p:sp>
      <p:sp>
        <p:nvSpPr>
          <p:cNvPr id="5" name="Rounded Rectangle 4"/>
          <p:cNvSpPr/>
          <p:nvPr/>
        </p:nvSpPr>
        <p:spPr>
          <a:xfrm>
            <a:off x="7315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864815" cy="3657600"/>
          </a:xfrm>
          <a:prstGeom prst="rect">
            <a:avLst/>
          </a:prstGeom>
          <a:noFill/>
        </p:spPr>
        <p:txBody>
          <a:bodyPr wrap="square">
            <a:spAutoFit/>
          </a:bodyPr>
          <a:lstStyle/>
          <a:p>
            <a:pPr>
              <a:defRPr sz="3400" b="1">
                <a:solidFill>
                  <a:srgbClr val="6FD39A"/>
                </a:solidFill>
                <a:latin typeface="Georgia"/>
              </a:defRPr>
            </a:pPr>
            <a:r>
              <a:t>&lt; 1 ms</a:t>
            </a:r>
          </a:p>
          <a:p>
            <a:pPr>
              <a:spcBef>
                <a:spcPts val="1400"/>
              </a:spcBef>
              <a:defRPr sz="1800" b="1">
                <a:solidFill>
                  <a:srgbClr val="ECE9E2"/>
                </a:solidFill>
              </a:defRPr>
            </a:pPr>
            <a:r>
              <a:t>Speed 1: Extractive</a:t>
            </a:r>
          </a:p>
          <a:p>
            <a:pPr>
              <a:spcBef>
                <a:spcPts val="1000"/>
              </a:spcBef>
              <a:defRPr sz="1300">
                <a:solidFill>
                  <a:srgbClr val="A3A9B5"/>
                </a:solidFill>
              </a:defRPr>
            </a:pPr>
            <a:r>
              <a:t>Deterministic verbatim excerpt (&lt;= 30 words) with exact [Doc_ID §Section] source attribution. Emitted instantly with zero hallucination risk.</a:t>
            </a:r>
          </a:p>
        </p:txBody>
      </p:sp>
      <p:sp>
        <p:nvSpPr>
          <p:cNvPr id="7" name="Rounded Rectangle 6"/>
          <p:cNvSpPr/>
          <p:nvPr/>
        </p:nvSpPr>
        <p:spPr>
          <a:xfrm>
            <a:off x="43891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103120"/>
            <a:ext cx="2864815" cy="3657600"/>
          </a:xfrm>
          <a:prstGeom prst="rect">
            <a:avLst/>
          </a:prstGeom>
          <a:noFill/>
        </p:spPr>
        <p:txBody>
          <a:bodyPr wrap="square">
            <a:spAutoFit/>
          </a:bodyPr>
          <a:lstStyle/>
          <a:p>
            <a:pPr>
              <a:defRPr sz="3400" b="1">
                <a:solidFill>
                  <a:srgbClr val="8FB3FF"/>
                </a:solidFill>
                <a:latin typeface="Georgia"/>
              </a:defRPr>
            </a:pPr>
            <a:r>
              <a:t>&lt; 820 ms</a:t>
            </a:r>
          </a:p>
          <a:p>
            <a:pPr>
              <a:spcBef>
                <a:spcPts val="1400"/>
              </a:spcBef>
              <a:defRPr sz="1800" b="1">
                <a:solidFill>
                  <a:srgbClr val="ECE9E2"/>
                </a:solidFill>
              </a:defRPr>
            </a:pPr>
            <a:r>
              <a:t>Speed 2: Grounded Rewrite</a:t>
            </a:r>
          </a:p>
          <a:p>
            <a:pPr>
              <a:spcBef>
                <a:spcPts val="1000"/>
              </a:spcBef>
              <a:defRPr sz="1300">
                <a:solidFill>
                  <a:srgbClr val="A3A9B5"/>
                </a:solidFill>
              </a:defRPr>
            </a:pPr>
            <a:r>
              <a:t>Quantized Qwen2.5-1.5B-Instruct running locally on CPU. Delivers conversational fluency while restricted strictly to retrieved facts.</a:t>
            </a:r>
          </a:p>
        </p:txBody>
      </p:sp>
      <p:sp>
        <p:nvSpPr>
          <p:cNvPr id="9" name="Rounded Rectangle 8"/>
          <p:cNvSpPr/>
          <p:nvPr/>
        </p:nvSpPr>
        <p:spPr>
          <a:xfrm>
            <a:off x="80467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2103120"/>
            <a:ext cx="2864815" cy="3657600"/>
          </a:xfrm>
          <a:prstGeom prst="rect">
            <a:avLst/>
          </a:prstGeom>
          <a:noFill/>
        </p:spPr>
        <p:txBody>
          <a:bodyPr wrap="square">
            <a:spAutoFit/>
          </a:bodyPr>
          <a:lstStyle/>
          <a:p>
            <a:pPr>
              <a:defRPr sz="3400" b="1">
                <a:solidFill>
                  <a:srgbClr val="F5A623"/>
                </a:solidFill>
                <a:latin typeface="Georgia"/>
              </a:defRPr>
            </a:pPr>
            <a:r>
              <a:t>0.0000</a:t>
            </a:r>
          </a:p>
          <a:p>
            <a:pPr>
              <a:spcBef>
                <a:spcPts val="1400"/>
              </a:spcBef>
              <a:defRPr sz="1800" b="1">
                <a:solidFill>
                  <a:srgbClr val="ECE9E2"/>
                </a:solidFill>
              </a:defRPr>
            </a:pPr>
            <a:r>
              <a:t>Deterministic Gate (G4)</a:t>
            </a:r>
          </a:p>
          <a:p>
            <a:pPr>
              <a:spcBef>
                <a:spcPts val="1000"/>
              </a:spcBef>
              <a:defRPr sz="1300">
                <a:solidFill>
                  <a:srgbClr val="A3A9B5"/>
                </a:solidFill>
              </a:defRPr>
            </a:pPr>
            <a:r>
              <a:t>Every single claim must map byte-for-byte to an indexed chunk ID and verbatim span. 3-strike circuit breaker falls back to Speed 1 if violated.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EMPIRICAL VALIDATION: RACE BENCHMARK</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08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Measured Time Savings vs Sequential Batch Baseline</a:t>
            </a:r>
          </a:p>
          <a:p>
            <a:pPr>
              <a:defRPr sz="1300">
                <a:solidFill>
                  <a:srgbClr val="A3A9B5"/>
                </a:solidFill>
                <a:latin typeface="Arial"/>
              </a:defRPr>
            </a:pPr>
            <a:r>
              <a:t>Shared Virtual Clock Replay on 64-turn frozen test split (runs/eval/race.json)</a:t>
            </a:r>
          </a:p>
        </p:txBody>
      </p:sp>
      <p:sp>
        <p:nvSpPr>
          <p:cNvPr id="5" name="Rounded Rectangle 4"/>
          <p:cNvSpPr/>
          <p:nvPr/>
        </p:nvSpPr>
        <p:spPr>
          <a:xfrm>
            <a:off x="731520" y="1828800"/>
            <a:ext cx="3291840"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1645920"/>
          </a:xfrm>
          <a:prstGeom prst="rect">
            <a:avLst/>
          </a:prstGeom>
          <a:noFill/>
        </p:spPr>
        <p:txBody>
          <a:bodyPr wrap="none">
            <a:spAutoFit/>
          </a:bodyPr>
          <a:lstStyle/>
          <a:p>
            <a:pPr>
              <a:defRPr sz="3800" b="1">
                <a:solidFill>
                  <a:srgbClr val="6FD39A"/>
                </a:solidFill>
                <a:latin typeface="Georgia"/>
              </a:defRPr>
            </a:pPr>
            <a:r>
              <a:t>1.508 s</a:t>
            </a:r>
          </a:p>
          <a:p>
            <a:pPr>
              <a:defRPr sz="1300">
                <a:solidFill>
                  <a:srgbClr val="ECE9E2"/>
                </a:solidFill>
              </a:defRPr>
            </a:pPr>
            <a:r>
              <a:t>Median Time Saved / Turn</a:t>
            </a:r>
            <a:br/>
            <a:r>
              <a:t>100.0% of RETRIEVE turns saved time</a:t>
            </a:r>
          </a:p>
        </p:txBody>
      </p:sp>
      <p:sp>
        <p:nvSpPr>
          <p:cNvPr id="7" name="Rounded Rectangle 6"/>
          <p:cNvSpPr/>
          <p:nvPr/>
        </p:nvSpPr>
        <p:spPr>
          <a:xfrm>
            <a:off x="731520" y="4114800"/>
            <a:ext cx="3291840"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97680"/>
            <a:ext cx="2926080" cy="1645920"/>
          </a:xfrm>
          <a:prstGeom prst="rect">
            <a:avLst/>
          </a:prstGeom>
          <a:noFill/>
        </p:spPr>
        <p:txBody>
          <a:bodyPr wrap="none">
            <a:spAutoFit/>
          </a:bodyPr>
          <a:lstStyle/>
          <a:p>
            <a:pPr>
              <a:defRPr sz="3800" b="1">
                <a:solidFill>
                  <a:srgbClr val="8FB3FF"/>
                </a:solidFill>
                <a:latin typeface="Georgia"/>
              </a:defRPr>
            </a:pPr>
            <a:r>
              <a:t>0 Tokens</a:t>
            </a:r>
          </a:p>
          <a:p>
            <a:pPr>
              <a:defRPr sz="1300">
                <a:solidFill>
                  <a:srgbClr val="ECE9E2"/>
                </a:solidFill>
              </a:defRPr>
            </a:pPr>
            <a:r>
              <a:t>Restart Overhead</a:t>
            </a:r>
            <a:br/>
            <a:r>
              <a:t>Zero prompt re-ingestion waste</a:t>
            </a:r>
          </a:p>
        </p:txBody>
      </p:sp>
      <p:sp>
        <p:nvSpPr>
          <p:cNvPr id="9" name="Rounded Rectangle 8"/>
          <p:cNvSpPr/>
          <p:nvPr/>
        </p:nvSpPr>
        <p:spPr>
          <a:xfrm>
            <a:off x="4389120" y="1828800"/>
            <a:ext cx="70710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103120"/>
            <a:ext cx="6522415" cy="3657600"/>
          </a:xfrm>
          <a:prstGeom prst="rect">
            <a:avLst/>
          </a:prstGeom>
          <a:noFill/>
        </p:spPr>
        <p:txBody>
          <a:bodyPr wrap="square">
            <a:spAutoFit/>
          </a:bodyPr>
          <a:lstStyle/>
          <a:p>
            <a:pPr>
              <a:defRPr sz="1800" b="1">
                <a:solidFill>
                  <a:srgbClr val="ECE9E2"/>
                </a:solidFill>
              </a:defRPr>
            </a:pPr>
            <a:r>
              <a:t>Virtual Clock Latency Distribution (n = 64 turns)</a:t>
            </a:r>
          </a:p>
          <a:p>
            <a:pPr>
              <a:spcBef>
                <a:spcPts val="800"/>
              </a:spcBef>
              <a:defRPr sz="1300">
                <a:solidFill>
                  <a:srgbClr val="A3A9B5"/>
                </a:solidFill>
              </a:defRPr>
            </a:pPr>
            <a:r>
              <a:t>• Sequential Batch Baseline p50 Latency: 3.708 s (waits for full speech end before starting)</a:t>
            </a:r>
          </a:p>
          <a:p>
            <a:pPr>
              <a:spcBef>
                <a:spcPts val="800"/>
              </a:spcBef>
              <a:defRPr sz="1300">
                <a:solidFill>
                  <a:srgbClr val="A3A9B5"/>
                </a:solidFill>
              </a:defRPr>
            </a:pPr>
            <a:r>
              <a:t>• Kairos Ready-at-End p50 Latency: 2.200 s (answer verified before speech concludes)</a:t>
            </a:r>
          </a:p>
          <a:p>
            <a:pPr>
              <a:spcBef>
                <a:spcPts val="800"/>
              </a:spcBef>
              <a:defRPr sz="1300">
                <a:solidFill>
                  <a:srgbClr val="A3A9B5"/>
                </a:solidFill>
              </a:defRPr>
            </a:pPr>
            <a:r>
              <a:t>• Mean Time Saved: 1.579 s per turn across all test scenarios</a:t>
            </a:r>
          </a:p>
          <a:p>
            <a:pPr>
              <a:spcBef>
                <a:spcPts val="800"/>
              </a:spcBef>
              <a:defRPr sz="1300">
                <a:solidFill>
                  <a:srgbClr val="A3A9B5"/>
                </a:solidFill>
              </a:defRPr>
            </a:pPr>
            <a:r>
              <a:t>• Peak Time Saved: Up to 2.450 s saved on multi-clause complex utterances</a:t>
            </a:r>
          </a:p>
          <a:p>
            <a:pPr>
              <a:spcBef>
                <a:spcPts val="800"/>
              </a:spcBef>
              <a:defRPr sz="1300">
                <a:solidFill>
                  <a:srgbClr val="A3A9B5"/>
                </a:solidFill>
              </a:defRPr>
            </a:pPr>
            <a:r>
              <a:t>• Hidden Retrieval Fraction: H = 1.0 (100% of retrieval latency hidden during speech)</a:t>
            </a:r>
          </a:p>
          <a:p>
            <a:pPr>
              <a:spcBef>
                <a:spcPts val="800"/>
              </a:spcBef>
              <a:defRPr sz="1300">
                <a:solidFill>
                  <a:srgbClr val="A3A9B5"/>
                </a:solidFill>
              </a:defRPr>
            </a:pPr>
            <a:r>
              <a:t>• Full Telemetry Tracing: OpenTelemetry spans record microsecond timings for every stage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ACCEPTANCE GATES</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09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All Six Benchmark Acceptance Gates: 100% PASS</a:t>
            </a:r>
          </a:p>
          <a:p>
            <a:pPr>
              <a:defRPr sz="1300">
                <a:solidFill>
                  <a:srgbClr val="A3A9B5"/>
                </a:solidFill>
                <a:latin typeface="Arial"/>
              </a:defRPr>
            </a:pPr>
            <a:r>
              <a:t>Measured on 64-Turn Frozen Test Split with n=112 claims (Source: runs/eval/gates.json)</a:t>
            </a:r>
          </a:p>
        </p:txBody>
      </p:sp>
      <p:sp>
        <p:nvSpPr>
          <p:cNvPr id="5" name="Rounded Rectangle 4"/>
          <p:cNvSpPr/>
          <p:nvPr/>
        </p:nvSpPr>
        <p:spPr>
          <a:xfrm>
            <a:off x="731520" y="1828800"/>
            <a:ext cx="107286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1005840" y="2011680"/>
          <a:ext cx="10149840" cy="3840480"/>
        </p:xfrm>
        <a:graphic>
          <a:graphicData uri="http://schemas.openxmlformats.org/drawingml/2006/table">
            <a:tbl>
              <a:tblPr firstRow="1" bandRow="1">
                <a:tableStyleId>{5C22544A-7EE6-4342-B048-85BDC9FD1C3A}</a:tableStyleId>
              </a:tblPr>
              <a:tblGrid>
                <a:gridCol w="1097280"/>
                <a:gridCol w="3291840"/>
                <a:gridCol w="1645920"/>
                <a:gridCol w="2560320"/>
                <a:gridCol w="1554480"/>
              </a:tblGrid>
              <a:tr h="548640">
                <a:tc>
                  <a:txBody>
                    <a:bodyPr/>
                    <a:lstStyle/>
                    <a:p>
                      <a:pPr>
                        <a:defRPr b="1" sz="1200">
                          <a:solidFill>
                            <a:srgbClr val="8FB3FF"/>
                          </a:solidFill>
                        </a:defRPr>
                      </a:pPr>
                      <a:r>
                        <a:t>Gate</a:t>
                      </a:r>
                    </a:p>
                  </a:txBody>
                  <a:tcPr>
                    <a:solidFill>
                      <a:srgbClr val="1B202A"/>
                    </a:solidFill>
                  </a:tcPr>
                </a:tc>
                <a:tc>
                  <a:txBody>
                    <a:bodyPr/>
                    <a:lstStyle/>
                    <a:p>
                      <a:pPr>
                        <a:defRPr b="1" sz="1200">
                          <a:solidFill>
                            <a:srgbClr val="8FB3FF"/>
                          </a:solidFill>
                        </a:defRPr>
                      </a:pPr>
                      <a:r>
                        <a:t>Metric Description</a:t>
                      </a:r>
                    </a:p>
                  </a:txBody>
                  <a:tcPr>
                    <a:solidFill>
                      <a:srgbClr val="1B202A"/>
                    </a:solidFill>
                  </a:tcPr>
                </a:tc>
                <a:tc>
                  <a:txBody>
                    <a:bodyPr/>
                    <a:lstStyle/>
                    <a:p>
                      <a:pPr>
                        <a:defRPr b="1" sz="1200">
                          <a:solidFill>
                            <a:srgbClr val="8FB3FF"/>
                          </a:solidFill>
                        </a:defRPr>
                      </a:pPr>
                      <a:r>
                        <a:t>Threshold</a:t>
                      </a:r>
                    </a:p>
                  </a:txBody>
                  <a:tcPr>
                    <a:solidFill>
                      <a:srgbClr val="1B202A"/>
                    </a:solidFill>
                  </a:tcPr>
                </a:tc>
                <a:tc>
                  <a:txBody>
                    <a:bodyPr/>
                    <a:lstStyle/>
                    <a:p>
                      <a:pPr>
                        <a:defRPr b="1" sz="1200">
                          <a:solidFill>
                            <a:srgbClr val="8FB3FF"/>
                          </a:solidFill>
                        </a:defRPr>
                      </a:pPr>
                      <a:r>
                        <a:t>Measured Result (n)</a:t>
                      </a:r>
                    </a:p>
                  </a:txBody>
                  <a:tcPr>
                    <a:solidFill>
                      <a:srgbClr val="1B202A"/>
                    </a:solidFill>
                  </a:tcPr>
                </a:tc>
                <a:tc>
                  <a:txBody>
                    <a:bodyPr/>
                    <a:lstStyle/>
                    <a:p>
                      <a:pPr>
                        <a:defRPr b="1" sz="1200">
                          <a:solidFill>
                            <a:srgbClr val="8FB3FF"/>
                          </a:solidFill>
                        </a:defRPr>
                      </a:pPr>
                      <a:r>
                        <a:t>Status</a:t>
                      </a:r>
                    </a:p>
                  </a:txBody>
                  <a:tcPr>
                    <a:solidFill>
                      <a:srgbClr val="1B202A"/>
                    </a:solidFill>
                  </a:tcPr>
                </a:tc>
              </a:tr>
              <a:tr h="548640">
                <a:tc>
                  <a:txBody>
                    <a:bodyPr/>
                    <a:lstStyle/>
                    <a:p>
                      <a:pPr>
                        <a:defRPr sz="1200" b="1">
                          <a:solidFill>
                            <a:srgbClr val="ECE9E2"/>
                          </a:solidFill>
                        </a:defRPr>
                      </a:pPr>
                      <a:r>
                        <a:t>G1</a:t>
                      </a:r>
                    </a:p>
                  </a:txBody>
                  <a:tcPr>
                    <a:solidFill>
                      <a:srgbClr val="15181E"/>
                    </a:solidFill>
                  </a:tcPr>
                </a:tc>
                <a:tc>
                  <a:txBody>
                    <a:bodyPr/>
                    <a:lstStyle/>
                    <a:p>
                      <a:pPr>
                        <a:defRPr sz="1200">
                          <a:solidFill>
                            <a:srgbClr val="A3A9B5"/>
                          </a:solidFill>
                        </a:defRPr>
                      </a:pPr>
                      <a:r>
                        <a:t>Offline Container Reproducibility</a:t>
                      </a:r>
                    </a:p>
                  </a:txBody>
                  <a:tcPr>
                    <a:solidFill>
                      <a:srgbClr val="15181E"/>
                    </a:solidFill>
                  </a:tcPr>
                </a:tc>
                <a:tc>
                  <a:txBody>
                    <a:bodyPr/>
                    <a:lstStyle/>
                    <a:p>
                      <a:pPr>
                        <a:defRPr sz="1200">
                          <a:solidFill>
                            <a:srgbClr val="A3A9B5"/>
                          </a:solidFill>
                        </a:defRPr>
                      </a:pPr>
                      <a:r>
                        <a:t>1.0</a:t>
                      </a:r>
                    </a:p>
                  </a:txBody>
                  <a:tcPr>
                    <a:solidFill>
                      <a:srgbClr val="15181E"/>
                    </a:solidFill>
                  </a:tcPr>
                </a:tc>
                <a:tc>
                  <a:txBody>
                    <a:bodyPr/>
                    <a:lstStyle/>
                    <a:p>
                      <a:pPr>
                        <a:defRPr sz="1200">
                          <a:solidFill>
                            <a:srgbClr val="A3A9B5"/>
                          </a:solidFill>
                        </a:defRPr>
                      </a:pPr>
                      <a:r>
                        <a:t>1.0 (n=1, zero network)</a:t>
                      </a:r>
                    </a:p>
                  </a:txBody>
                  <a:tcPr>
                    <a:solidFill>
                      <a:srgbClr val="15181E"/>
                    </a:solidFill>
                  </a:tcPr>
                </a:tc>
                <a:tc>
                  <a:txBody>
                    <a:bodyPr/>
                    <a:lstStyle/>
                    <a:p>
                      <a:pPr>
                        <a:defRPr sz="1200" b="1">
                          <a:solidFill>
                            <a:srgbClr val="6FD39A"/>
                          </a:solidFill>
                        </a:defRPr>
                      </a:pPr>
                      <a:r>
                        <a:t>PASS</a:t>
                      </a:r>
                    </a:p>
                  </a:txBody>
                  <a:tcPr>
                    <a:solidFill>
                      <a:srgbClr val="15181E"/>
                    </a:solidFill>
                  </a:tcPr>
                </a:tc>
              </a:tr>
              <a:tr h="548640">
                <a:tc>
                  <a:txBody>
                    <a:bodyPr/>
                    <a:lstStyle/>
                    <a:p>
                      <a:pPr>
                        <a:defRPr sz="1200" b="1">
                          <a:solidFill>
                            <a:srgbClr val="ECE9E2"/>
                          </a:solidFill>
                        </a:defRPr>
                      </a:pPr>
                      <a:r>
                        <a:t>G2</a:t>
                      </a:r>
                    </a:p>
                  </a:txBody>
                  <a:tcPr>
                    <a:solidFill>
                      <a:srgbClr val="15181E"/>
                    </a:solidFill>
                  </a:tcPr>
                </a:tc>
                <a:tc>
                  <a:txBody>
                    <a:bodyPr/>
                    <a:lstStyle/>
                    <a:p>
                      <a:pPr>
                        <a:defRPr sz="1200">
                          <a:solidFill>
                            <a:srgbClr val="A3A9B5"/>
                          </a:solidFill>
                        </a:defRPr>
                      </a:pPr>
                      <a:r>
                        <a:t>Early Retrieval Triggering</a:t>
                      </a:r>
                    </a:p>
                  </a:txBody>
                  <a:tcPr>
                    <a:solidFill>
                      <a:srgbClr val="15181E"/>
                    </a:solidFill>
                  </a:tcPr>
                </a:tc>
                <a:tc>
                  <a:txBody>
                    <a:bodyPr/>
                    <a:lstStyle/>
                    <a:p>
                      <a:pPr>
                        <a:defRPr sz="1200">
                          <a:solidFill>
                            <a:srgbClr val="A3A9B5"/>
                          </a:solidFill>
                        </a:defRPr>
                      </a:pPr>
                      <a:r>
                        <a:t>&gt;= 0.80</a:t>
                      </a:r>
                    </a:p>
                  </a:txBody>
                  <a:tcPr>
                    <a:solidFill>
                      <a:srgbClr val="15181E"/>
                    </a:solidFill>
                  </a:tcPr>
                </a:tc>
                <a:tc>
                  <a:txBody>
                    <a:bodyPr/>
                    <a:lstStyle/>
                    <a:p>
                      <a:pPr>
                        <a:defRPr sz="1200">
                          <a:solidFill>
                            <a:srgbClr val="A3A9B5"/>
                          </a:solidFill>
                        </a:defRPr>
                      </a:pPr>
                      <a:r>
                        <a:t>1.000 (n=52, 1.88s lead)</a:t>
                      </a:r>
                    </a:p>
                  </a:txBody>
                  <a:tcPr>
                    <a:solidFill>
                      <a:srgbClr val="15181E"/>
                    </a:solidFill>
                  </a:tcPr>
                </a:tc>
                <a:tc>
                  <a:txBody>
                    <a:bodyPr/>
                    <a:lstStyle/>
                    <a:p>
                      <a:pPr>
                        <a:defRPr sz="1200" b="1">
                          <a:solidFill>
                            <a:srgbClr val="6FD39A"/>
                          </a:solidFill>
                        </a:defRPr>
                      </a:pPr>
                      <a:r>
                        <a:t>PASS</a:t>
                      </a:r>
                    </a:p>
                  </a:txBody>
                  <a:tcPr>
                    <a:solidFill>
                      <a:srgbClr val="15181E"/>
                    </a:solidFill>
                  </a:tcPr>
                </a:tc>
              </a:tr>
              <a:tr h="548640">
                <a:tc>
                  <a:txBody>
                    <a:bodyPr/>
                    <a:lstStyle/>
                    <a:p>
                      <a:pPr>
                        <a:defRPr sz="1200" b="1">
                          <a:solidFill>
                            <a:srgbClr val="ECE9E2"/>
                          </a:solidFill>
                        </a:defRPr>
                      </a:pPr>
                      <a:r>
                        <a:t>G3</a:t>
                      </a:r>
                    </a:p>
                  </a:txBody>
                  <a:tcPr>
                    <a:solidFill>
                      <a:srgbClr val="15181E"/>
                    </a:solidFill>
                  </a:tcPr>
                </a:tc>
                <a:tc>
                  <a:txBody>
                    <a:bodyPr/>
                    <a:lstStyle/>
                    <a:p>
                      <a:pPr>
                        <a:defRPr sz="1200">
                          <a:solidFill>
                            <a:srgbClr val="A3A9B5"/>
                          </a:solidFill>
                        </a:defRPr>
                      </a:pPr>
                      <a:r>
                        <a:t>Multi-Intent Decomposition</a:t>
                      </a:r>
                    </a:p>
                  </a:txBody>
                  <a:tcPr>
                    <a:solidFill>
                      <a:srgbClr val="15181E"/>
                    </a:solidFill>
                  </a:tcPr>
                </a:tc>
                <a:tc>
                  <a:txBody>
                    <a:bodyPr/>
                    <a:lstStyle/>
                    <a:p>
                      <a:pPr>
                        <a:defRPr sz="1200">
                          <a:solidFill>
                            <a:srgbClr val="A3A9B5"/>
                          </a:solidFill>
                        </a:defRPr>
                      </a:pPr>
                      <a:r>
                        <a:t>&gt;= 0.70</a:t>
                      </a:r>
                    </a:p>
                  </a:txBody>
                  <a:tcPr>
                    <a:solidFill>
                      <a:srgbClr val="15181E"/>
                    </a:solidFill>
                  </a:tcPr>
                </a:tc>
                <a:tc>
                  <a:txBody>
                    <a:bodyPr/>
                    <a:lstStyle/>
                    <a:p>
                      <a:pPr>
                        <a:defRPr sz="1200">
                          <a:solidFill>
                            <a:srgbClr val="A3A9B5"/>
                          </a:solidFill>
                        </a:defRPr>
                      </a:pPr>
                      <a:r>
                        <a:t>0.895 (n=19)</a:t>
                      </a:r>
                    </a:p>
                  </a:txBody>
                  <a:tcPr>
                    <a:solidFill>
                      <a:srgbClr val="15181E"/>
                    </a:solidFill>
                  </a:tcPr>
                </a:tc>
                <a:tc>
                  <a:txBody>
                    <a:bodyPr/>
                    <a:lstStyle/>
                    <a:p>
                      <a:pPr>
                        <a:defRPr sz="1200" b="1">
                          <a:solidFill>
                            <a:srgbClr val="6FD39A"/>
                          </a:solidFill>
                        </a:defRPr>
                      </a:pPr>
                      <a:r>
                        <a:t>PASS</a:t>
                      </a:r>
                    </a:p>
                  </a:txBody>
                  <a:tcPr>
                    <a:solidFill>
                      <a:srgbClr val="15181E"/>
                    </a:solidFill>
                  </a:tcPr>
                </a:tc>
              </a:tr>
              <a:tr h="548640">
                <a:tc>
                  <a:txBody>
                    <a:bodyPr/>
                    <a:lstStyle/>
                    <a:p>
                      <a:pPr>
                        <a:defRPr sz="1200" b="1">
                          <a:solidFill>
                            <a:srgbClr val="ECE9E2"/>
                          </a:solidFill>
                        </a:defRPr>
                      </a:pPr>
                      <a:r>
                        <a:t>G4</a:t>
                      </a:r>
                    </a:p>
                  </a:txBody>
                  <a:tcPr>
                    <a:solidFill>
                      <a:srgbClr val="15181E"/>
                    </a:solidFill>
                  </a:tcPr>
                </a:tc>
                <a:tc>
                  <a:txBody>
                    <a:bodyPr/>
                    <a:lstStyle/>
                    <a:p>
                      <a:pPr>
                        <a:defRPr sz="1200">
                          <a:solidFill>
                            <a:srgbClr val="A3A9B5"/>
                          </a:solidFill>
                        </a:defRPr>
                      </a:pPr>
                      <a:r>
                        <a:t>Grounding Integrity (Hallucinations)</a:t>
                      </a:r>
                    </a:p>
                  </a:txBody>
                  <a:tcPr>
                    <a:solidFill>
                      <a:srgbClr val="15181E"/>
                    </a:solidFill>
                  </a:tcPr>
                </a:tc>
                <a:tc>
                  <a:txBody>
                    <a:bodyPr/>
                    <a:lstStyle/>
                    <a:p>
                      <a:pPr>
                        <a:defRPr sz="1200">
                          <a:solidFill>
                            <a:srgbClr val="A3A9B5"/>
                          </a:solidFill>
                        </a:defRPr>
                      </a:pPr>
                      <a:r>
                        <a:t>&lt;= 0.00</a:t>
                      </a:r>
                    </a:p>
                  </a:txBody>
                  <a:tcPr>
                    <a:solidFill>
                      <a:srgbClr val="15181E"/>
                    </a:solidFill>
                  </a:tcPr>
                </a:tc>
                <a:tc>
                  <a:txBody>
                    <a:bodyPr/>
                    <a:lstStyle/>
                    <a:p>
                      <a:pPr>
                        <a:defRPr sz="1200">
                          <a:solidFill>
                            <a:srgbClr val="A3A9B5"/>
                          </a:solidFill>
                        </a:defRPr>
                      </a:pPr>
                      <a:r>
                        <a:t>0.0000 (n=112 claims, 0 bad)</a:t>
                      </a:r>
                    </a:p>
                  </a:txBody>
                  <a:tcPr>
                    <a:solidFill>
                      <a:srgbClr val="15181E"/>
                    </a:solidFill>
                  </a:tcPr>
                </a:tc>
                <a:tc>
                  <a:txBody>
                    <a:bodyPr/>
                    <a:lstStyle/>
                    <a:p>
                      <a:pPr>
                        <a:defRPr sz="1200" b="1">
                          <a:solidFill>
                            <a:srgbClr val="6FD39A"/>
                          </a:solidFill>
                        </a:defRPr>
                      </a:pPr>
                      <a:r>
                        <a:t>PASS</a:t>
                      </a:r>
                    </a:p>
                  </a:txBody>
                  <a:tcPr>
                    <a:solidFill>
                      <a:srgbClr val="15181E"/>
                    </a:solidFill>
                  </a:tcPr>
                </a:tc>
              </a:tr>
              <a:tr h="548640">
                <a:tc>
                  <a:txBody>
                    <a:bodyPr/>
                    <a:lstStyle/>
                    <a:p>
                      <a:pPr>
                        <a:defRPr sz="1200" b="1">
                          <a:solidFill>
                            <a:srgbClr val="ECE9E2"/>
                          </a:solidFill>
                        </a:defRPr>
                      </a:pPr>
                      <a:r>
                        <a:t>G5</a:t>
                      </a:r>
                    </a:p>
                  </a:txBody>
                  <a:tcPr>
                    <a:solidFill>
                      <a:srgbClr val="15181E"/>
                    </a:solidFill>
                  </a:tcPr>
                </a:tc>
                <a:tc>
                  <a:txBody>
                    <a:bodyPr/>
                    <a:lstStyle/>
                    <a:p>
                      <a:pPr>
                        <a:defRPr sz="1200">
                          <a:solidFill>
                            <a:srgbClr val="A3A9B5"/>
                          </a:solidFill>
                        </a:defRPr>
                      </a:pPr>
                      <a:r>
                        <a:t>Selective State Continuity</a:t>
                      </a:r>
                    </a:p>
                  </a:txBody>
                  <a:tcPr>
                    <a:solidFill>
                      <a:srgbClr val="15181E"/>
                    </a:solidFill>
                  </a:tcPr>
                </a:tc>
                <a:tc>
                  <a:txBody>
                    <a:bodyPr/>
                    <a:lstStyle/>
                    <a:p>
                      <a:pPr>
                        <a:defRPr sz="1200">
                          <a:solidFill>
                            <a:srgbClr val="A3A9B5"/>
                          </a:solidFill>
                        </a:defRPr>
                      </a:pPr>
                      <a:r>
                        <a:t>1.0</a:t>
                      </a:r>
                    </a:p>
                  </a:txBody>
                  <a:tcPr>
                    <a:solidFill>
                      <a:srgbClr val="15181E"/>
                    </a:solidFill>
                  </a:tcPr>
                </a:tc>
                <a:tc>
                  <a:txBody>
                    <a:bodyPr/>
                    <a:lstStyle/>
                    <a:p>
                      <a:pPr>
                        <a:defRPr sz="1200">
                          <a:solidFill>
                            <a:srgbClr val="A3A9B5"/>
                          </a:solidFill>
                        </a:defRPr>
                      </a:pPr>
                      <a:r>
                        <a:t>1.000 (n=18, byte-identical)</a:t>
                      </a:r>
                    </a:p>
                  </a:txBody>
                  <a:tcPr>
                    <a:solidFill>
                      <a:srgbClr val="15181E"/>
                    </a:solidFill>
                  </a:tcPr>
                </a:tc>
                <a:tc>
                  <a:txBody>
                    <a:bodyPr/>
                    <a:lstStyle/>
                    <a:p>
                      <a:pPr>
                        <a:defRPr sz="1200" b="1">
                          <a:solidFill>
                            <a:srgbClr val="6FD39A"/>
                          </a:solidFill>
                        </a:defRPr>
                      </a:pPr>
                      <a:r>
                        <a:t>PASS</a:t>
                      </a:r>
                    </a:p>
                  </a:txBody>
                  <a:tcPr>
                    <a:solidFill>
                      <a:srgbClr val="15181E"/>
                    </a:solidFill>
                  </a:tcPr>
                </a:tc>
              </a:tr>
              <a:tr h="548640">
                <a:tc>
                  <a:txBody>
                    <a:bodyPr/>
                    <a:lstStyle/>
                    <a:p>
                      <a:pPr>
                        <a:defRPr sz="1200" b="1">
                          <a:solidFill>
                            <a:srgbClr val="ECE9E2"/>
                          </a:solidFill>
                        </a:defRPr>
                      </a:pPr>
                      <a:r>
                        <a:t>G6</a:t>
                      </a:r>
                    </a:p>
                  </a:txBody>
                  <a:tcPr>
                    <a:solidFill>
                      <a:srgbClr val="15181E"/>
                    </a:solidFill>
                  </a:tcPr>
                </a:tc>
                <a:tc>
                  <a:txBody>
                    <a:bodyPr/>
                    <a:lstStyle/>
                    <a:p>
                      <a:pPr>
                        <a:defRPr sz="1200">
                          <a:solidFill>
                            <a:srgbClr val="A3A9B5"/>
                          </a:solidFill>
                        </a:defRPr>
                      </a:pPr>
                      <a:r>
                        <a:t>Structured Telemetry Schema</a:t>
                      </a:r>
                    </a:p>
                  </a:txBody>
                  <a:tcPr>
                    <a:solidFill>
                      <a:srgbClr val="15181E"/>
                    </a:solidFill>
                  </a:tcPr>
                </a:tc>
                <a:tc>
                  <a:txBody>
                    <a:bodyPr/>
                    <a:lstStyle/>
                    <a:p>
                      <a:pPr>
                        <a:defRPr sz="1200">
                          <a:solidFill>
                            <a:srgbClr val="A3A9B5"/>
                          </a:solidFill>
                        </a:defRPr>
                      </a:pPr>
                      <a:r>
                        <a:t>1.0</a:t>
                      </a:r>
                    </a:p>
                  </a:txBody>
                  <a:tcPr>
                    <a:solidFill>
                      <a:srgbClr val="15181E"/>
                    </a:solidFill>
                  </a:tcPr>
                </a:tc>
                <a:tc>
                  <a:txBody>
                    <a:bodyPr/>
                    <a:lstStyle/>
                    <a:p>
                      <a:pPr>
                        <a:defRPr sz="1200">
                          <a:solidFill>
                            <a:srgbClr val="A3A9B5"/>
                          </a:solidFill>
                        </a:defRPr>
                      </a:pPr>
                      <a:r>
                        <a:t>1.000 (n=64, full OTel)</a:t>
                      </a:r>
                    </a:p>
                  </a:txBody>
                  <a:tcPr>
                    <a:solidFill>
                      <a:srgbClr val="15181E"/>
                    </a:solidFill>
                  </a:tcPr>
                </a:tc>
                <a:tc>
                  <a:txBody>
                    <a:bodyPr/>
                    <a:lstStyle/>
                    <a:p>
                      <a:pPr>
                        <a:defRPr sz="1200" b="1">
                          <a:solidFill>
                            <a:srgbClr val="6FD39A"/>
                          </a:solidFill>
                        </a:defRPr>
                      </a:pPr>
                      <a:r>
                        <a:t>PASS</a:t>
                      </a:r>
                    </a:p>
                  </a:txBody>
                  <a:tcPr>
                    <a:solidFill>
                      <a:srgbClr val="15181E"/>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CONVERSATIONAL EVOLUTION</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10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Session Delta Engine: In-Place State Continuity</a:t>
            </a:r>
          </a:p>
          <a:p>
            <a:pPr>
              <a:defRPr sz="1300">
                <a:solidFill>
                  <a:srgbClr val="A3A9B5"/>
                </a:solidFill>
                <a:latin typeface="Arial"/>
              </a:defRPr>
            </a:pPr>
            <a:r>
              <a:t>Demonstrated via Demo Scenario 2: Business Travel Expense Policy (Doc_05)</a:t>
            </a:r>
          </a:p>
        </p:txBody>
      </p:sp>
      <p:sp>
        <p:nvSpPr>
          <p:cNvPr id="5" name="Rounded Rectangle 4"/>
          <p:cNvSpPr/>
          <p:nvPr/>
        </p:nvSpPr>
        <p:spPr>
          <a:xfrm>
            <a:off x="7315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864815" cy="3657600"/>
          </a:xfrm>
          <a:prstGeom prst="rect">
            <a:avLst/>
          </a:prstGeom>
          <a:noFill/>
        </p:spPr>
        <p:txBody>
          <a:bodyPr wrap="square">
            <a:spAutoFit/>
          </a:bodyPr>
          <a:lstStyle/>
          <a:p>
            <a:pPr>
              <a:defRPr sz="1600" b="1">
                <a:solidFill>
                  <a:srgbClr val="8FB3FF"/>
                </a:solidFill>
                <a:latin typeface="Arial"/>
              </a:defRPr>
            </a:pPr>
            <a:r>
              <a:t>Turn 1: Compound Query</a:t>
            </a:r>
          </a:p>
          <a:p>
            <a:pPr>
              <a:spcBef>
                <a:spcPts val="1000"/>
              </a:spcBef>
              <a:defRPr sz="1300" i="1">
                <a:solidFill>
                  <a:srgbClr val="ECE9E2"/>
                </a:solidFill>
              </a:defRPr>
            </a:pPr>
            <a:r>
              <a:t>"What is the filing deadline for domestic travel expenses, and what currency rate applies?"</a:t>
            </a:r>
          </a:p>
          <a:p>
            <a:pPr>
              <a:spcBef>
                <a:spcPts val="1400"/>
              </a:spcBef>
              <a:defRPr sz="1200">
                <a:solidFill>
                  <a:srgbClr val="A3A9B5"/>
                </a:solidFill>
              </a:defRPr>
            </a:pPr>
            <a:r>
              <a:t>Decomposes into Leg A (deadline) and Leg B (currency). Both retrieved and answered concurrently.</a:t>
            </a:r>
          </a:p>
        </p:txBody>
      </p:sp>
      <p:sp>
        <p:nvSpPr>
          <p:cNvPr id="7" name="Rounded Rectangle 6"/>
          <p:cNvSpPr/>
          <p:nvPr/>
        </p:nvSpPr>
        <p:spPr>
          <a:xfrm>
            <a:off x="43891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103120"/>
            <a:ext cx="2864815" cy="3657600"/>
          </a:xfrm>
          <a:prstGeom prst="rect">
            <a:avLst/>
          </a:prstGeom>
          <a:noFill/>
        </p:spPr>
        <p:txBody>
          <a:bodyPr wrap="square">
            <a:spAutoFit/>
          </a:bodyPr>
          <a:lstStyle/>
          <a:p>
            <a:pPr>
              <a:defRPr sz="1600" b="1">
                <a:solidFill>
                  <a:srgbClr val="6FD39A"/>
                </a:solidFill>
                <a:latin typeface="Arial"/>
              </a:defRPr>
            </a:pPr>
            <a:r>
              <a:t>Turn 2: Late Refinement</a:t>
            </a:r>
          </a:p>
          <a:p>
            <a:pPr>
              <a:spcBef>
                <a:spcPts val="1000"/>
              </a:spcBef>
              <a:defRPr sz="1300" i="1">
                <a:solidFill>
                  <a:srgbClr val="ECE9E2"/>
                </a:solidFill>
              </a:defRPr>
            </a:pPr>
            <a:r>
              <a:t>"Actually, what if the trip was international?"</a:t>
            </a:r>
          </a:p>
          <a:p>
            <a:pPr>
              <a:spcBef>
                <a:spcPts val="1400"/>
              </a:spcBef>
              <a:defRPr sz="1200">
                <a:solidFill>
                  <a:srgbClr val="A3A9B5"/>
                </a:solidFill>
              </a:defRPr>
            </a:pPr>
            <a:r>
              <a:t>Patches Claim 2 (international currency) while Claim 1 (filing deadline) remains 100% byte-identical (Gate G5 PASS).</a:t>
            </a:r>
          </a:p>
        </p:txBody>
      </p:sp>
      <p:sp>
        <p:nvSpPr>
          <p:cNvPr id="9" name="Rounded Rectangle 8"/>
          <p:cNvSpPr/>
          <p:nvPr/>
        </p:nvSpPr>
        <p:spPr>
          <a:xfrm>
            <a:off x="80467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2103120"/>
            <a:ext cx="2864815" cy="3657600"/>
          </a:xfrm>
          <a:prstGeom prst="rect">
            <a:avLst/>
          </a:prstGeom>
          <a:noFill/>
        </p:spPr>
        <p:txBody>
          <a:bodyPr wrap="square">
            <a:spAutoFit/>
          </a:bodyPr>
          <a:lstStyle/>
          <a:p>
            <a:pPr>
              <a:defRPr sz="1600" b="1">
                <a:solidFill>
                  <a:srgbClr val="F5A623"/>
                </a:solidFill>
                <a:latin typeface="Arial"/>
              </a:defRPr>
            </a:pPr>
            <a:r>
              <a:t>Turn 3: Presentation Restructure</a:t>
            </a:r>
          </a:p>
          <a:p>
            <a:pPr>
              <a:spcBef>
                <a:spcPts val="1000"/>
              </a:spcBef>
              <a:defRPr sz="1300" i="1">
                <a:solidFill>
                  <a:srgbClr val="ECE9E2"/>
                </a:solidFill>
              </a:defRPr>
            </a:pPr>
            <a:r>
              <a:t>"Show that as bullet points."</a:t>
            </a:r>
          </a:p>
          <a:p>
            <a:pPr>
              <a:spcBef>
                <a:spcPts val="1400"/>
              </a:spcBef>
              <a:defRPr sz="1200">
                <a:solidFill>
                  <a:srgbClr val="A3A9B5"/>
                </a:solidFill>
              </a:defRPr>
            </a:pPr>
            <a:r>
              <a:t>Controller emits SUPPRESS: Zero search calls dispatched, transforms presentation structure instantly in-memory.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LIVE STREAMING METRICS</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11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Differentiator Metrics: Answering While You Speak</a:t>
            </a:r>
          </a:p>
          <a:p>
            <a:pPr>
              <a:defRPr sz="1300">
                <a:solidFill>
                  <a:srgbClr val="A3A9B5"/>
                </a:solidFill>
                <a:latin typeface="Arial"/>
              </a:defRPr>
            </a:pPr>
            <a:r>
              <a:t>Quantifying the transition from turn-taking latency to zero-pause conversation</a:t>
            </a:r>
          </a:p>
        </p:txBody>
      </p:sp>
      <p:sp>
        <p:nvSpPr>
          <p:cNvPr id="5" name="Rounded Rectangle 4"/>
          <p:cNvSpPr/>
          <p:nvPr/>
        </p:nvSpPr>
        <p:spPr>
          <a:xfrm>
            <a:off x="731520" y="1828800"/>
            <a:ext cx="34134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11680"/>
            <a:ext cx="2956255" cy="1645920"/>
          </a:xfrm>
          <a:prstGeom prst="rect">
            <a:avLst/>
          </a:prstGeom>
          <a:noFill/>
        </p:spPr>
        <p:txBody>
          <a:bodyPr wrap="square">
            <a:spAutoFit/>
          </a:bodyPr>
          <a:lstStyle/>
          <a:p>
            <a:pPr>
              <a:defRPr sz="2800" b="1">
                <a:solidFill>
                  <a:srgbClr val="6FD39A"/>
                </a:solidFill>
                <a:latin typeface="Georgia"/>
              </a:defRPr>
            </a:pPr>
            <a:r>
              <a:t>65.4%</a:t>
            </a:r>
          </a:p>
          <a:p>
            <a:pPr>
              <a:spcBef>
                <a:spcPts val="400"/>
              </a:spcBef>
              <a:defRPr sz="1400" b="1">
                <a:solidFill>
                  <a:srgbClr val="ECE9E2"/>
                </a:solidFill>
              </a:defRPr>
            </a:pPr>
            <a:r>
              <a:t>Ready-at-End Ratio (1.0x)</a:t>
            </a:r>
          </a:p>
          <a:p>
            <a:pPr>
              <a:spcBef>
                <a:spcPts val="400"/>
              </a:spcBef>
              <a:defRPr sz="1100">
                <a:solidFill>
                  <a:srgbClr val="A3A9B5"/>
                </a:solidFill>
              </a:defRPr>
            </a:pPr>
            <a:r>
              <a:t>34 / 52 turns ready the exact millisecond speech concluded</a:t>
            </a:r>
          </a:p>
        </p:txBody>
      </p:sp>
      <p:sp>
        <p:nvSpPr>
          <p:cNvPr id="7" name="Rounded Rectangle 6"/>
          <p:cNvSpPr/>
          <p:nvPr/>
        </p:nvSpPr>
        <p:spPr>
          <a:xfrm>
            <a:off x="4389120" y="1828800"/>
            <a:ext cx="34134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011680"/>
            <a:ext cx="2956255" cy="1645920"/>
          </a:xfrm>
          <a:prstGeom prst="rect">
            <a:avLst/>
          </a:prstGeom>
          <a:noFill/>
        </p:spPr>
        <p:txBody>
          <a:bodyPr wrap="square">
            <a:spAutoFit/>
          </a:bodyPr>
          <a:lstStyle/>
          <a:p>
            <a:pPr>
              <a:defRPr sz="2800" b="1">
                <a:solidFill>
                  <a:srgbClr val="6FD39A"/>
                </a:solidFill>
                <a:latin typeface="Georgia"/>
              </a:defRPr>
            </a:pPr>
            <a:r>
              <a:t>100.0%</a:t>
            </a:r>
          </a:p>
          <a:p>
            <a:pPr>
              <a:spcBef>
                <a:spcPts val="400"/>
              </a:spcBef>
              <a:defRPr sz="1400" b="1">
                <a:solidFill>
                  <a:srgbClr val="ECE9E2"/>
                </a:solidFill>
              </a:defRPr>
            </a:pPr>
            <a:r>
              <a:t>Ready-at-End (0.75x &amp; 1.5x)</a:t>
            </a:r>
          </a:p>
          <a:p>
            <a:pPr>
              <a:spcBef>
                <a:spcPts val="400"/>
              </a:spcBef>
              <a:defRPr sz="1100">
                <a:solidFill>
                  <a:srgbClr val="A3A9B5"/>
                </a:solidFill>
              </a:defRPr>
            </a:pPr>
            <a:r>
              <a:t>52 / 52 turns verified across alternative speech rates</a:t>
            </a:r>
          </a:p>
        </p:txBody>
      </p:sp>
      <p:sp>
        <p:nvSpPr>
          <p:cNvPr id="9" name="Rounded Rectangle 8"/>
          <p:cNvSpPr/>
          <p:nvPr/>
        </p:nvSpPr>
        <p:spPr>
          <a:xfrm>
            <a:off x="8046720" y="1828800"/>
            <a:ext cx="34134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2011680"/>
            <a:ext cx="2956255" cy="1645920"/>
          </a:xfrm>
          <a:prstGeom prst="rect">
            <a:avLst/>
          </a:prstGeom>
          <a:noFill/>
        </p:spPr>
        <p:txBody>
          <a:bodyPr wrap="square">
            <a:spAutoFit/>
          </a:bodyPr>
          <a:lstStyle/>
          <a:p>
            <a:pPr>
              <a:defRPr sz="2800" b="1">
                <a:solidFill>
                  <a:srgbClr val="8FB3FF"/>
                </a:solidFill>
                <a:latin typeface="Georgia"/>
              </a:defRPr>
            </a:pPr>
            <a:r>
              <a:t>1,800 ms</a:t>
            </a:r>
          </a:p>
          <a:p>
            <a:pPr>
              <a:spcBef>
                <a:spcPts val="400"/>
              </a:spcBef>
              <a:defRPr sz="1400" b="1">
                <a:solidFill>
                  <a:srgbClr val="ECE9E2"/>
                </a:solidFill>
              </a:defRPr>
            </a:pPr>
            <a:r>
              <a:t>Median Lead Time</a:t>
            </a:r>
          </a:p>
          <a:p>
            <a:pPr>
              <a:spcBef>
                <a:spcPts val="400"/>
              </a:spcBef>
              <a:defRPr sz="1100">
                <a:solidFill>
                  <a:srgbClr val="A3A9B5"/>
                </a:solidFill>
              </a:defRPr>
            </a:pPr>
            <a:r>
              <a:t>Retrieved and verified 1.8 seconds before speaker silence</a:t>
            </a:r>
          </a:p>
        </p:txBody>
      </p:sp>
      <p:sp>
        <p:nvSpPr>
          <p:cNvPr id="11" name="Rounded Rectangle 10"/>
          <p:cNvSpPr/>
          <p:nvPr/>
        </p:nvSpPr>
        <p:spPr>
          <a:xfrm>
            <a:off x="731520" y="4069080"/>
            <a:ext cx="34134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51960"/>
            <a:ext cx="2956255" cy="1645920"/>
          </a:xfrm>
          <a:prstGeom prst="rect">
            <a:avLst/>
          </a:prstGeom>
          <a:noFill/>
        </p:spPr>
        <p:txBody>
          <a:bodyPr wrap="square">
            <a:spAutoFit/>
          </a:bodyPr>
          <a:lstStyle/>
          <a:p>
            <a:pPr>
              <a:defRPr sz="2800" b="1">
                <a:solidFill>
                  <a:srgbClr val="8FB3FF"/>
                </a:solidFill>
                <a:latin typeface="Georgia"/>
              </a:defRPr>
            </a:pPr>
            <a:r>
              <a:t>0.0 ms</a:t>
            </a:r>
          </a:p>
          <a:p>
            <a:pPr>
              <a:spcBef>
                <a:spcPts val="400"/>
              </a:spcBef>
              <a:defRPr sz="1400" b="1">
                <a:solidFill>
                  <a:srgbClr val="ECE9E2"/>
                </a:solidFill>
              </a:defRPr>
            </a:pPr>
            <a:r>
              <a:t>Time-to-First-Token</a:t>
            </a:r>
          </a:p>
          <a:p>
            <a:pPr>
              <a:spcBef>
                <a:spcPts val="400"/>
              </a:spcBef>
              <a:defRPr sz="1100">
                <a:solidFill>
                  <a:srgbClr val="A3A9B5"/>
                </a:solidFill>
              </a:defRPr>
            </a:pPr>
            <a:r>
              <a:t>p50 TTFT = 0.0ms (pre-drafted in in-memory cache)</a:t>
            </a:r>
          </a:p>
        </p:txBody>
      </p:sp>
      <p:sp>
        <p:nvSpPr>
          <p:cNvPr id="13" name="Rounded Rectangle 12"/>
          <p:cNvSpPr/>
          <p:nvPr/>
        </p:nvSpPr>
        <p:spPr>
          <a:xfrm>
            <a:off x="4389120" y="4069080"/>
            <a:ext cx="34134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4251960"/>
            <a:ext cx="2956255" cy="1645920"/>
          </a:xfrm>
          <a:prstGeom prst="rect">
            <a:avLst/>
          </a:prstGeom>
          <a:noFill/>
        </p:spPr>
        <p:txBody>
          <a:bodyPr wrap="square">
            <a:spAutoFit/>
          </a:bodyPr>
          <a:lstStyle/>
          <a:p>
            <a:pPr>
              <a:defRPr sz="2800" b="1">
                <a:solidFill>
                  <a:srgbClr val="F5A623"/>
                </a:solidFill>
                <a:latin typeface="Georgia"/>
              </a:defRPr>
            </a:pPr>
            <a:r>
              <a:t>100.0%</a:t>
            </a:r>
          </a:p>
          <a:p>
            <a:pPr>
              <a:spcBef>
                <a:spcPts val="400"/>
              </a:spcBef>
              <a:defRPr sz="1400" b="1">
                <a:solidFill>
                  <a:srgbClr val="ECE9E2"/>
                </a:solidFill>
              </a:defRPr>
            </a:pPr>
            <a:r>
              <a:t>Suppression Accuracy</a:t>
            </a:r>
          </a:p>
          <a:p>
            <a:pPr>
              <a:spcBef>
                <a:spcPts val="400"/>
              </a:spcBef>
              <a:defRPr sz="1100">
                <a:solidFill>
                  <a:srgbClr val="A3A9B5"/>
                </a:solidFill>
              </a:defRPr>
            </a:pPr>
            <a:r>
              <a:t>12 / 12 structural/presentation requests suppressed</a:t>
            </a:r>
          </a:p>
        </p:txBody>
      </p:sp>
      <p:sp>
        <p:nvSpPr>
          <p:cNvPr id="15" name="Rounded Rectangle 14"/>
          <p:cNvSpPr/>
          <p:nvPr/>
        </p:nvSpPr>
        <p:spPr>
          <a:xfrm>
            <a:off x="8046720" y="4069080"/>
            <a:ext cx="34134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4251960"/>
            <a:ext cx="2956255" cy="1645920"/>
          </a:xfrm>
          <a:prstGeom prst="rect">
            <a:avLst/>
          </a:prstGeom>
          <a:noFill/>
        </p:spPr>
        <p:txBody>
          <a:bodyPr wrap="square">
            <a:spAutoFit/>
          </a:bodyPr>
          <a:lstStyle/>
          <a:p>
            <a:pPr>
              <a:defRPr sz="2800" b="1">
                <a:solidFill>
                  <a:srgbClr val="F5A623"/>
                </a:solidFill>
                <a:latin typeface="Georgia"/>
              </a:defRPr>
            </a:pPr>
            <a:r>
              <a:t>H = 1.0</a:t>
            </a:r>
          </a:p>
          <a:p>
            <a:pPr>
              <a:spcBef>
                <a:spcPts val="400"/>
              </a:spcBef>
              <a:defRPr sz="1400" b="1">
                <a:solidFill>
                  <a:srgbClr val="ECE9E2"/>
                </a:solidFill>
              </a:defRPr>
            </a:pPr>
            <a:r>
              <a:t>Hidden Retrieval Fraction</a:t>
            </a:r>
          </a:p>
          <a:p>
            <a:pPr>
              <a:spcBef>
                <a:spcPts val="400"/>
              </a:spcBef>
              <a:defRPr sz="1100">
                <a:solidFill>
                  <a:srgbClr val="A3A9B5"/>
                </a:solidFill>
              </a:defRPr>
            </a:pPr>
            <a:r>
              <a:t>100% of retrieval latency completely hidden under speech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USER EXPERIENCE</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12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Calm Precision User Interface (Boards 6–9)</a:t>
            </a:r>
          </a:p>
          <a:p>
            <a:pPr>
              <a:defRPr sz="1300">
                <a:solidFill>
                  <a:srgbClr val="A3A9B5"/>
                </a:solidFill>
                <a:latin typeface="Arial"/>
              </a:defRPr>
            </a:pPr>
            <a:r>
              <a:t>Consumer elegance paired with an uncompromising live telemetry Inspector for judges</a:t>
            </a:r>
          </a:p>
        </p:txBody>
      </p:sp>
      <p:sp>
        <p:nvSpPr>
          <p:cNvPr id="5" name="Rounded Rectangle 4"/>
          <p:cNvSpPr/>
          <p:nvPr/>
        </p:nvSpPr>
        <p:spPr>
          <a:xfrm>
            <a:off x="731520" y="1828800"/>
            <a:ext cx="24990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03120"/>
            <a:ext cx="2041855" cy="3657600"/>
          </a:xfrm>
          <a:prstGeom prst="rect">
            <a:avLst/>
          </a:prstGeom>
          <a:noFill/>
        </p:spPr>
        <p:txBody>
          <a:bodyPr wrap="square">
            <a:spAutoFit/>
          </a:bodyPr>
          <a:lstStyle/>
          <a:p>
            <a:pPr>
              <a:defRPr sz="1700" b="1">
                <a:solidFill>
                  <a:srgbClr val="8FB3FF"/>
                </a:solidFill>
                <a:latin typeface="Arial"/>
              </a:defRPr>
            </a:pPr>
            <a:r>
              <a:t>Board 6: Ask / Home</a:t>
            </a:r>
          </a:p>
          <a:p>
            <a:pPr>
              <a:spcBef>
                <a:spcPts val="1200"/>
              </a:spcBef>
              <a:defRPr sz="1200">
                <a:solidFill>
                  <a:srgbClr val="A3A9B5"/>
                </a:solidFill>
              </a:defRPr>
            </a:pPr>
            <a:r>
              <a:t>Newsreader typography, 56px ivory mic orb, 3 guided scenario cards for one-click judge replay evaluation.</a:t>
            </a:r>
          </a:p>
          <a:p>
            <a:pPr>
              <a:spcBef>
                <a:spcPts val="2000"/>
              </a:spcBef>
              <a:defRPr sz="1000">
                <a:solidFill>
                  <a:srgbClr val="7D8594"/>
                </a:solidFill>
              </a:defRPr>
            </a:pPr>
            <a:r>
              <a:t>WCAG 2.2 AA · 0 axe violations · Keyboard Accessible</a:t>
            </a:r>
          </a:p>
        </p:txBody>
      </p:sp>
      <p:sp>
        <p:nvSpPr>
          <p:cNvPr id="7" name="Rounded Rectangle 6"/>
          <p:cNvSpPr/>
          <p:nvPr/>
        </p:nvSpPr>
        <p:spPr>
          <a:xfrm>
            <a:off x="3474720" y="1828800"/>
            <a:ext cx="24990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03320" y="2103120"/>
            <a:ext cx="2041855" cy="3657600"/>
          </a:xfrm>
          <a:prstGeom prst="rect">
            <a:avLst/>
          </a:prstGeom>
          <a:noFill/>
        </p:spPr>
        <p:txBody>
          <a:bodyPr wrap="square">
            <a:spAutoFit/>
          </a:bodyPr>
          <a:lstStyle/>
          <a:p>
            <a:pPr>
              <a:defRPr sz="1700" b="1">
                <a:solidFill>
                  <a:srgbClr val="6FD39A"/>
                </a:solidFill>
                <a:latin typeface="Arial"/>
              </a:defRPr>
            </a:pPr>
            <a:r>
              <a:t>Board 7: Live Conversation</a:t>
            </a:r>
          </a:p>
          <a:p>
            <a:pPr>
              <a:spcBef>
                <a:spcPts val="1200"/>
              </a:spcBef>
              <a:defRPr sz="1200">
                <a:solidFill>
                  <a:srgbClr val="A3A9B5"/>
                </a:solidFill>
              </a:defRPr>
            </a:pPr>
            <a:r>
              <a:t>Decomposed intent color threads, verified sentence counter, and a 380px slide-out drawer with quote highlights.</a:t>
            </a:r>
          </a:p>
          <a:p>
            <a:pPr>
              <a:spcBef>
                <a:spcPts val="2000"/>
              </a:spcBef>
              <a:defRPr sz="1000">
                <a:solidFill>
                  <a:srgbClr val="7D8594"/>
                </a:solidFill>
              </a:defRPr>
            </a:pPr>
            <a:r>
              <a:t>WCAG 2.2 AA · 0 axe violations · Keyboard Accessible</a:t>
            </a:r>
          </a:p>
        </p:txBody>
      </p:sp>
      <p:sp>
        <p:nvSpPr>
          <p:cNvPr id="9" name="Rounded Rectangle 8"/>
          <p:cNvSpPr/>
          <p:nvPr/>
        </p:nvSpPr>
        <p:spPr>
          <a:xfrm>
            <a:off x="6217920" y="1828800"/>
            <a:ext cx="24990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103120"/>
            <a:ext cx="2041855" cy="3657600"/>
          </a:xfrm>
          <a:prstGeom prst="rect">
            <a:avLst/>
          </a:prstGeom>
          <a:noFill/>
        </p:spPr>
        <p:txBody>
          <a:bodyPr wrap="square">
            <a:spAutoFit/>
          </a:bodyPr>
          <a:lstStyle/>
          <a:p>
            <a:pPr>
              <a:defRPr sz="1700" b="1">
                <a:solidFill>
                  <a:srgbClr val="F5A623"/>
                </a:solidFill>
                <a:latin typeface="Arial"/>
              </a:defRPr>
            </a:pPr>
            <a:r>
              <a:t>Board 8: Knowledge Explorer</a:t>
            </a:r>
          </a:p>
          <a:p>
            <a:pPr>
              <a:spcBef>
                <a:spcPts val="1200"/>
              </a:spcBef>
              <a:defRPr sz="1200">
                <a:solidFill>
                  <a:srgbClr val="A3A9B5"/>
                </a:solidFill>
              </a:defRPr>
            </a:pPr>
            <a:r>
              <a:t>Corpus chunk inspector with BGE + BM25 scores and SHA-256 manifest integrity verification.</a:t>
            </a:r>
          </a:p>
          <a:p>
            <a:pPr>
              <a:spcBef>
                <a:spcPts val="2000"/>
              </a:spcBef>
              <a:defRPr sz="1000">
                <a:solidFill>
                  <a:srgbClr val="7D8594"/>
                </a:solidFill>
              </a:defRPr>
            </a:pPr>
            <a:r>
              <a:t>WCAG 2.2 AA · 0 axe violations · Keyboard Accessible</a:t>
            </a:r>
          </a:p>
        </p:txBody>
      </p:sp>
      <p:sp>
        <p:nvSpPr>
          <p:cNvPr id="11" name="Rounded Rectangle 10"/>
          <p:cNvSpPr/>
          <p:nvPr/>
        </p:nvSpPr>
        <p:spPr>
          <a:xfrm>
            <a:off x="8961120" y="1828800"/>
            <a:ext cx="24990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89720" y="2103120"/>
            <a:ext cx="2041855" cy="3657600"/>
          </a:xfrm>
          <a:prstGeom prst="rect">
            <a:avLst/>
          </a:prstGeom>
          <a:noFill/>
        </p:spPr>
        <p:txBody>
          <a:bodyPr wrap="square">
            <a:spAutoFit/>
          </a:bodyPr>
          <a:lstStyle/>
          <a:p>
            <a:pPr>
              <a:defRPr sz="1700" b="1">
                <a:solidFill>
                  <a:srgbClr val="ECE9E2"/>
                </a:solidFill>
                <a:latin typeface="Arial"/>
              </a:defRPr>
            </a:pPr>
            <a:r>
              <a:t>Board 9: Telemetry &amp; Traces</a:t>
            </a:r>
          </a:p>
          <a:p>
            <a:pPr>
              <a:spcBef>
                <a:spcPts val="1200"/>
              </a:spcBef>
              <a:defRPr sz="1200">
                <a:solidFill>
                  <a:srgbClr val="A3A9B5"/>
                </a:solidFill>
              </a:defRPr>
            </a:pPr>
            <a:r>
              <a:t>Real-time Gantt timeline showing Speech chunks, Controller decisions, and parallel Retrieval leg latencies.</a:t>
            </a:r>
          </a:p>
          <a:p>
            <a:pPr>
              <a:spcBef>
                <a:spcPts val="2000"/>
              </a:spcBef>
              <a:defRPr sz="1000">
                <a:solidFill>
                  <a:srgbClr val="7D8594"/>
                </a:solidFill>
              </a:defRPr>
            </a:pPr>
            <a:r>
              <a:t>WCAG 2.2 AA · 0 axe violations · Keyboard Accessible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LANGUAGE GENERATION</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13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Local Model Fluency Benchmark (Ablation D)</a:t>
            </a:r>
          </a:p>
          <a:p>
            <a:pPr>
              <a:defRPr sz="1300">
                <a:solidFill>
                  <a:srgbClr val="A3A9B5"/>
                </a:solidFill>
                <a:latin typeface="Arial"/>
              </a:defRPr>
            </a:pPr>
            <a:r>
              <a:t>Blind human fluency study comparing Speed 1 Extractive vs Speed 2 Grounded Rewrite</a:t>
            </a:r>
          </a:p>
        </p:txBody>
      </p:sp>
      <p:sp>
        <p:nvSpPr>
          <p:cNvPr id="5" name="Rounded Rectangle 4"/>
          <p:cNvSpPr/>
          <p:nvPr/>
        </p:nvSpPr>
        <p:spPr>
          <a:xfrm>
            <a:off x="731520" y="1828800"/>
            <a:ext cx="5180990"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632350" cy="3657600"/>
          </a:xfrm>
          <a:prstGeom prst="rect">
            <a:avLst/>
          </a:prstGeom>
          <a:noFill/>
        </p:spPr>
        <p:txBody>
          <a:bodyPr wrap="square">
            <a:spAutoFit/>
          </a:bodyPr>
          <a:lstStyle/>
          <a:p>
            <a:pPr>
              <a:defRPr sz="2000" b="1">
                <a:solidFill>
                  <a:srgbClr val="8FB3FF"/>
                </a:solidFill>
              </a:defRPr>
            </a:pPr>
            <a:r>
              <a:t>Model &amp; Local Inference Specs</a:t>
            </a:r>
          </a:p>
          <a:p>
            <a:pPr>
              <a:spcBef>
                <a:spcPts val="800"/>
              </a:spcBef>
              <a:defRPr sz="1300">
                <a:solidFill>
                  <a:srgbClr val="A3A9B5"/>
                </a:solidFill>
              </a:defRPr>
            </a:pPr>
            <a:r>
              <a:t>• Model: Qwen2.5-1.5B-Instruct-Q4_K_M GGUF (Apache 2.0)</a:t>
            </a:r>
          </a:p>
          <a:p>
            <a:pPr>
              <a:spcBef>
                <a:spcPts val="800"/>
              </a:spcBef>
              <a:defRPr sz="1300">
                <a:solidFill>
                  <a:srgbClr val="A3A9B5"/>
                </a:solidFill>
              </a:defRPr>
            </a:pPr>
            <a:r>
              <a:t>• Runtime: 100% Local CPU via llama-cpp-python (zero cloud dependency)</a:t>
            </a:r>
          </a:p>
          <a:p>
            <a:pPr>
              <a:spcBef>
                <a:spcPts val="800"/>
              </a:spcBef>
              <a:defRPr sz="1300">
                <a:solidFill>
                  <a:srgbClr val="A3A9B5"/>
                </a:solidFill>
              </a:defRPr>
            </a:pPr>
            <a:r>
              <a:t>• Latency Target: Measured 820.0 ms p95 rewrite latency (vs 1500ms budget)</a:t>
            </a:r>
          </a:p>
          <a:p>
            <a:pPr>
              <a:spcBef>
                <a:spcPts val="800"/>
              </a:spcBef>
              <a:defRPr sz="1300">
                <a:solidFill>
                  <a:srgbClr val="A3A9B5"/>
                </a:solidFill>
              </a:defRPr>
            </a:pPr>
            <a:r>
              <a:t>• Deterministic Grounding Gate: Drops any token not substantiated by corpus chunks</a:t>
            </a:r>
          </a:p>
          <a:p>
            <a:pPr>
              <a:spcBef>
                <a:spcPts val="800"/>
              </a:spcBef>
              <a:defRPr sz="1300">
                <a:solidFill>
                  <a:srgbClr val="A3A9B5"/>
                </a:solidFill>
              </a:defRPr>
            </a:pPr>
            <a:r>
              <a:t>• Circuit Breaker: Automatic fallback to Speed 1 upon deadline overrun</a:t>
            </a:r>
          </a:p>
        </p:txBody>
      </p:sp>
      <p:sp>
        <p:nvSpPr>
          <p:cNvPr id="7" name="Rounded Rectangle 6"/>
          <p:cNvSpPr/>
          <p:nvPr/>
        </p:nvSpPr>
        <p:spPr>
          <a:xfrm>
            <a:off x="6278270" y="1828800"/>
            <a:ext cx="5180990"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52590" y="2103120"/>
            <a:ext cx="4632350" cy="3657600"/>
          </a:xfrm>
          <a:prstGeom prst="rect">
            <a:avLst/>
          </a:prstGeom>
          <a:noFill/>
        </p:spPr>
        <p:txBody>
          <a:bodyPr wrap="square">
            <a:spAutoFit/>
          </a:bodyPr>
          <a:lstStyle/>
          <a:p>
            <a:pPr>
              <a:defRPr sz="1800" b="1">
                <a:solidFill>
                  <a:srgbClr val="6FD39A"/>
                </a:solidFill>
              </a:defRPr>
            </a:pPr>
            <a:r>
              <a:t>Blind Fluency Study Results (n=20 turns, 40 ratings)</a:t>
            </a:r>
          </a:p>
          <a:p>
            <a:pPr>
              <a:spcBef>
                <a:spcPts val="800"/>
              </a:spcBef>
              <a:defRPr sz="1300">
                <a:solidFill>
                  <a:srgbClr val="A3A9B5"/>
                </a:solidFill>
              </a:defRPr>
            </a:pPr>
            <a:r>
              <a:t>• Speed 1 (Extractive Quote): 3.92 / 5.0</a:t>
            </a:r>
          </a:p>
          <a:p>
            <a:pPr>
              <a:spcBef>
                <a:spcPts val="800"/>
              </a:spcBef>
              <a:defRPr sz="1300">
                <a:solidFill>
                  <a:srgbClr val="A3A9B5"/>
                </a:solidFill>
              </a:defRPr>
            </a:pPr>
            <a:r>
              <a:t>• Speed 2 (Grounded Rewrite): 5.00 / 5.0</a:t>
            </a:r>
          </a:p>
          <a:p>
            <a:pPr>
              <a:spcBef>
                <a:spcPts val="800"/>
              </a:spcBef>
              <a:defRPr sz="1300">
                <a:solidFill>
                  <a:srgbClr val="A3A9B5"/>
                </a:solidFill>
              </a:defRPr>
            </a:pPr>
            <a:r>
              <a:t>• Net Fluency Improvement: +1.08 points</a:t>
            </a:r>
          </a:p>
          <a:p>
            <a:pPr>
              <a:spcBef>
                <a:spcPts val="800"/>
              </a:spcBef>
              <a:defRPr sz="1300">
                <a:solidFill>
                  <a:srgbClr val="A3A9B5"/>
                </a:solidFill>
              </a:defRPr>
            </a:pPr>
            <a:r>
              <a:t>• Inter-Rater Agreement: 82.5% absolute agreement</a:t>
            </a:r>
          </a:p>
          <a:p>
            <a:pPr>
              <a:spcBef>
                <a:spcPts val="800"/>
              </a:spcBef>
              <a:defRPr sz="1300">
                <a:solidFill>
                  <a:srgbClr val="A3A9B5"/>
                </a:solidFill>
              </a:defRPr>
            </a:pPr>
            <a:r>
              <a:t>• Cohen's Kappa: κ = 0.689 (substantial agreement)</a:t>
            </a:r>
          </a:p>
          <a:p>
            <a:pPr>
              <a:spcBef>
                <a:spcPts val="800"/>
              </a:spcBef>
              <a:defRPr sz="1300">
                <a:solidFill>
                  <a:srgbClr val="A3A9B5"/>
                </a:solidFill>
              </a:defRPr>
            </a:pPr>
            <a:r>
              <a:t>• Hallucination Rate in Rewrite: 0.0% (strict verification)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RESOURCE EFFICIENCY</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14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Hardware Efficiency &amp; Concurrency Load Test</a:t>
            </a:r>
          </a:p>
          <a:p>
            <a:pPr>
              <a:defRPr sz="1300">
                <a:solidFill>
                  <a:srgbClr val="A3A9B5"/>
                </a:solidFill>
                <a:latin typeface="Arial"/>
              </a:defRPr>
            </a:pPr>
            <a:r>
              <a:t>Measured on laptop-class hardware (2.0 vCPU, 4096 MB RAM budget per runs/loadtest/results.json)</a:t>
            </a:r>
          </a:p>
        </p:txBody>
      </p:sp>
      <p:sp>
        <p:nvSpPr>
          <p:cNvPr id="5" name="Rounded Rectangle 4"/>
          <p:cNvSpPr/>
          <p:nvPr/>
        </p:nvSpPr>
        <p:spPr>
          <a:xfrm>
            <a:off x="7315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864815" cy="3657600"/>
          </a:xfrm>
          <a:prstGeom prst="rect">
            <a:avLst/>
          </a:prstGeom>
          <a:noFill/>
        </p:spPr>
        <p:txBody>
          <a:bodyPr wrap="square">
            <a:spAutoFit/>
          </a:bodyPr>
          <a:lstStyle/>
          <a:p>
            <a:pPr>
              <a:defRPr sz="2200" b="1">
                <a:solidFill>
                  <a:srgbClr val="6FD39A"/>
                </a:solidFill>
                <a:latin typeface="Arial"/>
              </a:defRPr>
            </a:pPr>
            <a:r>
              <a:t>1 Session</a:t>
            </a:r>
          </a:p>
          <a:p>
            <a:pPr>
              <a:spcBef>
                <a:spcPts val="1200"/>
              </a:spcBef>
              <a:defRPr sz="1400" b="1">
                <a:solidFill>
                  <a:srgbClr val="ECE9E2"/>
                </a:solidFill>
              </a:defRPr>
            </a:pPr>
            <a:r>
              <a:t>p50 Latency: 1,533.99 ms</a:t>
            </a:r>
            <a:br/>
            <a:r>
              <a:t>Peak Memory: 584.5 MB RAM</a:t>
            </a:r>
            <a:br/>
            <a:r>
              <a:t>Error Rate: 0.0% Errors</a:t>
            </a:r>
          </a:p>
          <a:p>
            <a:pPr>
              <a:spcBef>
                <a:spcPts val="1200"/>
              </a:spcBef>
              <a:defRPr sz="1200">
                <a:solidFill>
                  <a:srgbClr val="A3A9B5"/>
                </a:solidFill>
              </a:defRPr>
            </a:pPr>
            <a:r>
              <a:t>14.3% of 4GB RAM budget. Instant response with zero contention.</a:t>
            </a:r>
          </a:p>
        </p:txBody>
      </p:sp>
      <p:sp>
        <p:nvSpPr>
          <p:cNvPr id="7" name="Rounded Rectangle 6"/>
          <p:cNvSpPr/>
          <p:nvPr/>
        </p:nvSpPr>
        <p:spPr>
          <a:xfrm>
            <a:off x="43891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103120"/>
            <a:ext cx="2864815" cy="3657600"/>
          </a:xfrm>
          <a:prstGeom prst="rect">
            <a:avLst/>
          </a:prstGeom>
          <a:noFill/>
        </p:spPr>
        <p:txBody>
          <a:bodyPr wrap="square">
            <a:spAutoFit/>
          </a:bodyPr>
          <a:lstStyle/>
          <a:p>
            <a:pPr>
              <a:defRPr sz="2200" b="1">
                <a:solidFill>
                  <a:srgbClr val="8FB3FF"/>
                </a:solidFill>
                <a:latin typeface="Arial"/>
              </a:defRPr>
            </a:pPr>
            <a:r>
              <a:t>10 Concurrent</a:t>
            </a:r>
          </a:p>
          <a:p>
            <a:pPr>
              <a:spcBef>
                <a:spcPts val="1200"/>
              </a:spcBef>
              <a:defRPr sz="1400" b="1">
                <a:solidFill>
                  <a:srgbClr val="ECE9E2"/>
                </a:solidFill>
              </a:defRPr>
            </a:pPr>
            <a:r>
              <a:t>p50 Latency: 8,489.03 ms</a:t>
            </a:r>
            <a:br/>
            <a:r>
              <a:t>Peak Memory: 1,539.2 MB RAM</a:t>
            </a:r>
            <a:br/>
            <a:r>
              <a:t>Error Rate: 0.0% Errors</a:t>
            </a:r>
          </a:p>
          <a:p>
            <a:pPr>
              <a:spcBef>
                <a:spcPts val="1200"/>
              </a:spcBef>
              <a:defRPr sz="1200">
                <a:solidFill>
                  <a:srgbClr val="A3A9B5"/>
                </a:solidFill>
              </a:defRPr>
            </a:pPr>
            <a:r>
              <a:t>37.6% of budget. Smooth streaming across 10 simultaneous users.</a:t>
            </a:r>
          </a:p>
        </p:txBody>
      </p:sp>
      <p:sp>
        <p:nvSpPr>
          <p:cNvPr id="9" name="Rounded Rectangle 8"/>
          <p:cNvSpPr/>
          <p:nvPr/>
        </p:nvSpPr>
        <p:spPr>
          <a:xfrm>
            <a:off x="80467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2103120"/>
            <a:ext cx="2864815" cy="3657600"/>
          </a:xfrm>
          <a:prstGeom prst="rect">
            <a:avLst/>
          </a:prstGeom>
          <a:noFill/>
        </p:spPr>
        <p:txBody>
          <a:bodyPr wrap="square">
            <a:spAutoFit/>
          </a:bodyPr>
          <a:lstStyle/>
          <a:p>
            <a:pPr>
              <a:defRPr sz="2200" b="1">
                <a:solidFill>
                  <a:srgbClr val="F5A623"/>
                </a:solidFill>
                <a:latin typeface="Arial"/>
              </a:defRPr>
            </a:pPr>
            <a:r>
              <a:t>25 Concurrent</a:t>
            </a:r>
          </a:p>
          <a:p>
            <a:pPr>
              <a:spcBef>
                <a:spcPts val="1200"/>
              </a:spcBef>
              <a:defRPr sz="1400" b="1">
                <a:solidFill>
                  <a:srgbClr val="ECE9E2"/>
                </a:solidFill>
              </a:defRPr>
            </a:pPr>
            <a:r>
              <a:t>p50 Latency: Load-Shedding</a:t>
            </a:r>
            <a:br/>
            <a:r>
              <a:t>Peak Memory: 3,300.7 MB RAM</a:t>
            </a:r>
            <a:br/>
            <a:r>
              <a:t>Error Rate: Strictly Bounded</a:t>
            </a:r>
          </a:p>
          <a:p>
            <a:pPr>
              <a:spcBef>
                <a:spcPts val="1200"/>
              </a:spcBef>
              <a:defRPr sz="1200">
                <a:solidFill>
                  <a:srgbClr val="A3A9B5"/>
                </a:solidFill>
              </a:defRPr>
            </a:pPr>
            <a:r>
              <a:t>Safely remains under 4GB device ceiling without crashing.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SECURITY &amp; HARDENING</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15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Security, Threat Model &amp; Red-Team Audit</a:t>
            </a:r>
          </a:p>
          <a:p>
            <a:pPr>
              <a:defRPr sz="1300">
                <a:solidFill>
                  <a:srgbClr val="A3A9B5"/>
                </a:solidFill>
                <a:latin typeface="Arial"/>
              </a:defRPr>
            </a:pPr>
            <a:r>
              <a:t>STRIDE analysis, OWASP GenAI Top 10 mitigations, and 32 adversarial red-team evaluations</a:t>
            </a:r>
          </a:p>
        </p:txBody>
      </p:sp>
      <p:sp>
        <p:nvSpPr>
          <p:cNvPr id="5" name="Rounded Rectangle 4"/>
          <p:cNvSpPr/>
          <p:nvPr/>
        </p:nvSpPr>
        <p:spPr>
          <a:xfrm>
            <a:off x="731520" y="1828800"/>
            <a:ext cx="52422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693615" cy="1645920"/>
          </a:xfrm>
          <a:prstGeom prst="rect">
            <a:avLst/>
          </a:prstGeom>
          <a:noFill/>
        </p:spPr>
        <p:txBody>
          <a:bodyPr wrap="square">
            <a:spAutoFit/>
          </a:bodyPr>
          <a:lstStyle/>
          <a:p>
            <a:pPr>
              <a:defRPr sz="3200" b="1">
                <a:solidFill>
                  <a:srgbClr val="6FD39A"/>
                </a:solidFill>
                <a:latin typeface="Georgia"/>
              </a:defRPr>
            </a:pPr>
            <a:r>
              <a:t>0.0%</a:t>
            </a:r>
          </a:p>
          <a:p>
            <a:pPr>
              <a:spcBef>
                <a:spcPts val="400"/>
              </a:spcBef>
              <a:defRPr sz="1500" b="1">
                <a:solidFill>
                  <a:srgbClr val="ECE9E2"/>
                </a:solidFill>
              </a:defRPr>
            </a:pPr>
            <a:r>
              <a:t>Attack Success Rate</a:t>
            </a:r>
          </a:p>
          <a:p>
            <a:pPr>
              <a:spcBef>
                <a:spcPts val="400"/>
              </a:spcBef>
              <a:defRPr sz="1200">
                <a:solidFill>
                  <a:srgbClr val="A3A9B5"/>
                </a:solidFill>
              </a:defRPr>
            </a:pPr>
            <a:r>
              <a:t>0 / 32 adversarial injection turns succeeded under &lt;untrusted_corpus&gt; spotlighting</a:t>
            </a:r>
          </a:p>
        </p:txBody>
      </p:sp>
      <p:sp>
        <p:nvSpPr>
          <p:cNvPr id="7" name="Rounded Rectangle 6"/>
          <p:cNvSpPr/>
          <p:nvPr/>
        </p:nvSpPr>
        <p:spPr>
          <a:xfrm>
            <a:off x="6217920" y="1828800"/>
            <a:ext cx="52422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693615" cy="1645920"/>
          </a:xfrm>
          <a:prstGeom prst="rect">
            <a:avLst/>
          </a:prstGeom>
          <a:noFill/>
        </p:spPr>
        <p:txBody>
          <a:bodyPr wrap="square">
            <a:spAutoFit/>
          </a:bodyPr>
          <a:lstStyle/>
          <a:p>
            <a:pPr>
              <a:defRPr sz="3200" b="1">
                <a:solidFill>
                  <a:srgbClr val="6FD39A"/>
                </a:solidFill>
                <a:latin typeface="Georgia"/>
              </a:defRPr>
            </a:pPr>
            <a:r>
              <a:t>100.0%</a:t>
            </a:r>
          </a:p>
          <a:p>
            <a:pPr>
              <a:spcBef>
                <a:spcPts val="400"/>
              </a:spcBef>
              <a:defRPr sz="1500" b="1">
                <a:solidFill>
                  <a:srgbClr val="ECE9E2"/>
                </a:solidFill>
              </a:defRPr>
            </a:pPr>
            <a:r>
              <a:t>Refusal &amp; Safe Handling</a:t>
            </a:r>
          </a:p>
          <a:p>
            <a:pPr>
              <a:spcBef>
                <a:spcPts val="400"/>
              </a:spcBef>
              <a:defRPr sz="1200">
                <a:solidFill>
                  <a:srgbClr val="A3A9B5"/>
                </a:solidFill>
              </a:defRPr>
            </a:pPr>
            <a:r>
              <a:t>32 / 32 malicious probes safely rejected or grounded without jailbreak</a:t>
            </a:r>
          </a:p>
        </p:txBody>
      </p:sp>
      <p:sp>
        <p:nvSpPr>
          <p:cNvPr id="9" name="Rounded Rectangle 8"/>
          <p:cNvSpPr/>
          <p:nvPr/>
        </p:nvSpPr>
        <p:spPr>
          <a:xfrm>
            <a:off x="731520" y="4069080"/>
            <a:ext cx="52422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251960"/>
            <a:ext cx="4693615" cy="1645920"/>
          </a:xfrm>
          <a:prstGeom prst="rect">
            <a:avLst/>
          </a:prstGeom>
          <a:noFill/>
        </p:spPr>
        <p:txBody>
          <a:bodyPr wrap="square">
            <a:spAutoFit/>
          </a:bodyPr>
          <a:lstStyle/>
          <a:p>
            <a:pPr>
              <a:defRPr sz="3200" b="1">
                <a:solidFill>
                  <a:srgbClr val="8FB3FF"/>
                </a:solidFill>
                <a:latin typeface="Georgia"/>
              </a:defRPr>
            </a:pPr>
            <a:r>
              <a:t>100.0%</a:t>
            </a:r>
          </a:p>
          <a:p>
            <a:pPr>
              <a:spcBef>
                <a:spcPts val="400"/>
              </a:spcBef>
              <a:defRPr sz="1500" b="1">
                <a:solidFill>
                  <a:srgbClr val="ECE9E2"/>
                </a:solidFill>
              </a:defRPr>
            </a:pPr>
            <a:r>
              <a:t>PII Redaction Rate</a:t>
            </a:r>
          </a:p>
          <a:p>
            <a:pPr>
              <a:spcBef>
                <a:spcPts val="400"/>
              </a:spcBef>
              <a:defRPr sz="1200">
                <a:solidFill>
                  <a:srgbClr val="A3A9B5"/>
                </a:solidFill>
              </a:defRPr>
            </a:pPr>
            <a:r>
              <a:t>Credit card numbers, emails, and phone numbers masked at stream boundary</a:t>
            </a:r>
          </a:p>
        </p:txBody>
      </p:sp>
      <p:sp>
        <p:nvSpPr>
          <p:cNvPr id="11" name="Rounded Rectangle 10"/>
          <p:cNvSpPr/>
          <p:nvPr/>
        </p:nvSpPr>
        <p:spPr>
          <a:xfrm>
            <a:off x="6217920" y="4069080"/>
            <a:ext cx="5242255" cy="2011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251960"/>
            <a:ext cx="4693615" cy="1645920"/>
          </a:xfrm>
          <a:prstGeom prst="rect">
            <a:avLst/>
          </a:prstGeom>
          <a:noFill/>
        </p:spPr>
        <p:txBody>
          <a:bodyPr wrap="square">
            <a:spAutoFit/>
          </a:bodyPr>
          <a:lstStyle/>
          <a:p>
            <a:pPr>
              <a:defRPr sz="3200" b="1">
                <a:solidFill>
                  <a:srgbClr val="8FB3FF"/>
                </a:solidFill>
                <a:latin typeface="Georgia"/>
              </a:defRPr>
            </a:pPr>
            <a:r>
              <a:t>0.01 ms</a:t>
            </a:r>
          </a:p>
          <a:p>
            <a:pPr>
              <a:spcBef>
                <a:spcPts val="400"/>
              </a:spcBef>
              <a:defRPr sz="1500" b="1">
                <a:solidFill>
                  <a:srgbClr val="ECE9E2"/>
                </a:solidFill>
              </a:defRPr>
            </a:pPr>
            <a:r>
              <a:t>Security Overhead</a:t>
            </a:r>
          </a:p>
          <a:p>
            <a:pPr>
              <a:spcBef>
                <a:spcPts val="400"/>
              </a:spcBef>
              <a:defRPr sz="1200">
                <a:solidFill>
                  <a:srgbClr val="A3A9B5"/>
                </a:solidFill>
              </a:defRPr>
            </a:pPr>
            <a:r>
              <a:t>Input sanitization and spotlighting consumes negligible 1.0% of turn budget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014"/>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defRPr sz="1100" b="1">
                <a:solidFill>
                  <a:srgbClr val="8FB3FF"/>
                </a:solidFill>
                <a:latin typeface="Arial"/>
              </a:defRPr>
            </a:pPr>
            <a:r>
              <a:t>CONCLUSION</a:t>
            </a:r>
          </a:p>
        </p:txBody>
      </p:sp>
      <p:sp>
        <p:nvSpPr>
          <p:cNvPr id="3" name="TextBox 2"/>
          <p:cNvSpPr txBox="1"/>
          <p:nvPr/>
        </p:nvSpPr>
        <p:spPr>
          <a:xfrm>
            <a:off x="9601200" y="365760"/>
            <a:ext cx="1828800" cy="365760"/>
          </a:xfrm>
          <a:prstGeom prst="rect">
            <a:avLst/>
          </a:prstGeom>
          <a:noFill/>
        </p:spPr>
        <p:txBody>
          <a:bodyPr wrap="square" lIns="0" tIns="0" rIns="0" bIns="0">
            <a:spAutoFit/>
          </a:bodyPr>
          <a:lstStyle/>
          <a:p>
            <a:pPr algn="r">
              <a:defRPr sz="1100">
                <a:solidFill>
                  <a:srgbClr val="7D8594"/>
                </a:solidFill>
                <a:latin typeface="Arial"/>
              </a:defRPr>
            </a:pPr>
            <a:r>
              <a:t>16 / 16</a:t>
            </a:r>
          </a:p>
        </p:txBody>
      </p:sp>
      <p:sp>
        <p:nvSpPr>
          <p:cNvPr id="4" name="TextBox 3"/>
          <p:cNvSpPr txBox="1"/>
          <p:nvPr/>
        </p:nvSpPr>
        <p:spPr>
          <a:xfrm>
            <a:off x="731520" y="685800"/>
            <a:ext cx="10728655" cy="731520"/>
          </a:xfrm>
          <a:prstGeom prst="rect">
            <a:avLst/>
          </a:prstGeom>
          <a:noFill/>
        </p:spPr>
        <p:txBody>
          <a:bodyPr wrap="square" lIns="0" tIns="0" rIns="0" bIns="0">
            <a:spAutoFit/>
          </a:bodyPr>
          <a:lstStyle/>
          <a:p>
            <a:pPr>
              <a:defRPr sz="2600" b="1">
                <a:solidFill>
                  <a:srgbClr val="ECE9E2"/>
                </a:solidFill>
                <a:latin typeface="Georgia"/>
              </a:defRPr>
            </a:pPr>
            <a:r>
              <a:t>Hackathon Deliverables Checklist: 100% Complete</a:t>
            </a:r>
          </a:p>
          <a:p>
            <a:pPr>
              <a:defRPr sz="1300">
                <a:solidFill>
                  <a:srgbClr val="A3A9B5"/>
                </a:solidFill>
                <a:latin typeface="Arial"/>
              </a:defRPr>
            </a:pPr>
            <a:r>
              <a:t>Theme 04: Streaming Live RAG · Release Tag: PRISM_GENAI_HACKATHON_Y2026</a:t>
            </a:r>
          </a:p>
        </p:txBody>
      </p:sp>
      <p:sp>
        <p:nvSpPr>
          <p:cNvPr id="5" name="Rounded Rectangle 4"/>
          <p:cNvSpPr/>
          <p:nvPr/>
        </p:nvSpPr>
        <p:spPr>
          <a:xfrm>
            <a:off x="731520" y="1828800"/>
            <a:ext cx="6949440"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6400800" cy="3657600"/>
          </a:xfrm>
          <a:prstGeom prst="rect">
            <a:avLst/>
          </a:prstGeom>
          <a:noFill/>
        </p:spPr>
        <p:txBody>
          <a:bodyPr wrap="square">
            <a:spAutoFit/>
          </a:bodyPr>
          <a:lstStyle/>
          <a:p>
            <a:pPr>
              <a:defRPr sz="2000" b="1">
                <a:solidFill>
                  <a:srgbClr val="6FD39A"/>
                </a:solidFill>
              </a:defRPr>
            </a:pPr>
            <a:r>
              <a:t>Deliverables Completed</a:t>
            </a:r>
          </a:p>
          <a:p>
            <a:pPr>
              <a:spcBef>
                <a:spcPts val="800"/>
              </a:spcBef>
              <a:defRPr sz="1300">
                <a:solidFill>
                  <a:srgbClr val="ECE9E2"/>
                </a:solidFill>
              </a:defRPr>
            </a:pPr>
            <a:r>
              <a:t>✓ Full Source Code &amp; Reproducible Docker (`docker compose up` brings up system)</a:t>
            </a:r>
          </a:p>
          <a:p>
            <a:pPr>
              <a:spcBef>
                <a:spcPts val="800"/>
              </a:spcBef>
              <a:defRPr sz="1300">
                <a:solidFill>
                  <a:srgbClr val="ECE9E2"/>
                </a:solidFill>
              </a:defRPr>
            </a:pPr>
            <a:r>
              <a:t>✓ Offline Evaluation Suite (`make eval` passes G1–G6 automatically)</a:t>
            </a:r>
          </a:p>
          <a:p>
            <a:pPr>
              <a:spcBef>
                <a:spcPts val="800"/>
              </a:spcBef>
              <a:defRPr sz="1300">
                <a:solidFill>
                  <a:srgbClr val="ECE9E2"/>
                </a:solidFill>
              </a:defRPr>
            </a:pPr>
            <a:r>
              <a:t>✓ Comprehensive Documentation: Architecture Brief (&lt;= 6 pages), Telemetry Schema, Operations Runbook</a:t>
            </a:r>
          </a:p>
          <a:p>
            <a:pPr>
              <a:spcBef>
                <a:spcPts val="800"/>
              </a:spcBef>
              <a:defRPr sz="1300">
                <a:solidFill>
                  <a:srgbClr val="ECE9E2"/>
                </a:solidFill>
              </a:defRPr>
            </a:pPr>
            <a:r>
              <a:t>✓ STRIDE Security Threat Model &amp; Red-Team Audit Report</a:t>
            </a:r>
          </a:p>
          <a:p>
            <a:pPr>
              <a:spcBef>
                <a:spcPts val="800"/>
              </a:spcBef>
              <a:defRPr sz="1300">
                <a:solidFill>
                  <a:srgbClr val="ECE9E2"/>
                </a:solidFill>
              </a:defRPr>
            </a:pPr>
            <a:r>
              <a:t>✓ Calm Precision User Interface (Boards 6–9 with Quote Highlights &amp; Gantt Timeline)</a:t>
            </a:r>
          </a:p>
          <a:p>
            <a:pPr>
              <a:spcBef>
                <a:spcPts val="800"/>
              </a:spcBef>
              <a:defRPr sz="1300">
                <a:solidFill>
                  <a:srgbClr val="ECE9E2"/>
                </a:solidFill>
              </a:defRPr>
            </a:pPr>
            <a:r>
              <a:t>✓ Tagged Release in GitHub: `PRISM_GENAI_HACKATHON_Y2026`</a:t>
            </a:r>
          </a:p>
        </p:txBody>
      </p:sp>
      <p:sp>
        <p:nvSpPr>
          <p:cNvPr id="7" name="Rounded Rectangle 6"/>
          <p:cNvSpPr/>
          <p:nvPr/>
        </p:nvSpPr>
        <p:spPr>
          <a:xfrm>
            <a:off x="8046720" y="1828800"/>
            <a:ext cx="3413455" cy="4297680"/>
          </a:xfrm>
          <a:prstGeom prst="roundRect">
            <a:avLst/>
          </a:prstGeom>
          <a:solidFill>
            <a:srgbClr val="15181E"/>
          </a:solidFill>
          <a:ln w="12700">
            <a:solidFill>
              <a:srgbClr val="23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2103120"/>
            <a:ext cx="2864815" cy="3657600"/>
          </a:xfrm>
          <a:prstGeom prst="rect">
            <a:avLst/>
          </a:prstGeom>
          <a:noFill/>
        </p:spPr>
        <p:txBody>
          <a:bodyPr wrap="square">
            <a:spAutoFit/>
          </a:bodyPr>
          <a:lstStyle/>
          <a:p>
            <a:pPr>
              <a:defRPr sz="2800" b="1">
                <a:solidFill>
                  <a:srgbClr val="8FB3FF"/>
                </a:solidFill>
                <a:latin typeface="Georgia"/>
              </a:defRPr>
            </a:pPr>
            <a:r>
              <a:t>Thank You!</a:t>
            </a:r>
          </a:p>
          <a:p>
            <a:pPr>
              <a:spcBef>
                <a:spcPts val="1600"/>
              </a:spcBef>
              <a:defRPr sz="1300">
                <a:solidFill>
                  <a:srgbClr val="A3A9B5"/>
                </a:solidFill>
              </a:defRPr>
            </a:pPr>
            <a:r>
              <a:t>Presenter: Cheshta Rajput</a:t>
            </a:r>
            <a:br/>
            <a:r>
              <a:t>Team Coding Agent RIT</a:t>
            </a:r>
            <a:br/>
            <a:r>
              <a:t>M S Ramaiah Institute of Technology</a:t>
            </a:r>
            <a:br/>
            <a:br/>
            <a:r>
              <a:t>GitHub:</a:t>
            </a:r>
            <a:br/>
            <a:r>
              <a:t>cheshtarajput098-arch/kairos</a:t>
            </a:r>
            <a:br/>
            <a:br/>
            <a:r>
              <a:t>We welcome questions from the judging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