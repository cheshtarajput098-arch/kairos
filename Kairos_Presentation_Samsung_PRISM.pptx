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 and Language AI / PRISM team. We are Team Coding Agent RIT from M S Ramaiah Institute of Technology. Today we present Kairos for Theme 04: Streaming Live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04 tackles the fundamental problem of conversational AI: standard RAG makes users wait in awkward silence. Our objective is true live streaming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Conventional RAG pipelines force users to wait several seconds, conflate compound questions into a single noisy vector search, and completely restart whenever a user corrects a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5-stage architecture: Live speech chunks feed the Stage 1 Controller. Stage 2 decomposes intents. Stage 3 fires hybrid search. Stage 4 fuses rankings. Stage 5 synthesizes two-speed answers verified by our Grounding Gate and Session Delta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live product walkthrough, all three hackathon scenarios execute seamlessly: compound parallel retrieval, byte-identical state evolution under Gate G5, and zero-retrieval presentation suppression.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tech stack avoids heavy agent frameworks. We run a single Python 3.11 asyncio loop, FastEmbed BGE dense search, BM25s sparse index, local Qwen2.5 GGUF on CPU, and a React TypeScript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impact of live streaming RAG spans mobile voice assistants, executive meeting copilots, and automotive hands-free systems where conversational delay is unacceptable.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official benchmark acceptance gates pass 100%. We report our numbers honestly: 1.508s saved, zero hallucinations, alongside clear hardware load ceilings.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Kairos will integrate direct acoustic embeddings from streaming ASR, leverage NPU acceleration for sub-100ms generation, and expand multi-speaker graph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four differentiators: Answering while you speak, two-speed grounded synthesis, in-place delta state preservation under Gate G5, and 100% offline CPU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checklist is 100% complete: public working prototype on GitHub, reproducible README, demo video script, PPT presentation, and reproducible offline evaluation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to the Language AI Team and PRISM Team at Samsung R&amp;D Institute India.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0515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FB3FF"/>
                </a:solidFill>
                <a:latin typeface="Arial"/>
              </a:defRPr>
            </a:pPr>
            <a:r>
              <a:t>SAMSUNG PRISM</a:t>
            </a:r>
          </a:p>
          <a:p>
            <a:pPr>
              <a:defRPr sz="1800" b="1">
                <a:solidFill>
                  <a:srgbClr val="ECE9E2"/>
                </a:solidFill>
                <a:latin typeface="Georgia"/>
              </a:defRPr>
            </a:pPr>
            <a:r>
              <a:t>Generative AI Hackathon · 3rd Edition 2026 –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FD39A"/>
                </a:solidFill>
                <a:latin typeface="Georgia"/>
              </a:defRPr>
            </a:pPr>
            <a:r>
              <a:t>KAIROS: Streaming Live RAG That Answers While You Speak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017520"/>
            <a:ext cx="4754880" cy="2011680"/>
          </a:xfrm>
          <a:prstGeom prst="roundRect">
            <a:avLst/>
          </a:prstGeom>
          <a:solidFill>
            <a:srgbClr val="1B202A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8FB3FF"/>
                </a:solidFill>
              </a:defRPr>
            </a:pPr>
            <a:r>
              <a:t>Theme ID:  </a:t>
            </a:r>
            <a:r>
              <a:rPr b="0" sz="1200">
                <a:solidFill>
                  <a:srgbClr val="ECE9E2"/>
                </a:solidFill>
              </a:rPr>
              <a:t>Theme 04: Streaming Live RAG</a:t>
            </a:r>
          </a:p>
          <a:p>
            <a:pPr>
              <a:spcBef>
                <a:spcPts val="800"/>
              </a:spcBef>
              <a:defRPr b="1" sz="1200">
                <a:solidFill>
                  <a:srgbClr val="8FB3FF"/>
                </a:solidFill>
              </a:defRPr>
            </a:pPr>
            <a:r>
              <a:t>Team Name:  </a:t>
            </a:r>
            <a:r>
              <a:rPr b="0" sz="1200">
                <a:solidFill>
                  <a:srgbClr val="ECE9E2"/>
                </a:solidFill>
              </a:rPr>
              <a:t>Team Coding Agent RIT</a:t>
            </a:r>
          </a:p>
          <a:p>
            <a:pPr>
              <a:spcBef>
                <a:spcPts val="800"/>
              </a:spcBef>
              <a:defRPr b="1" sz="1200">
                <a:solidFill>
                  <a:srgbClr val="8FB3FF"/>
                </a:solidFill>
              </a:defRPr>
            </a:pPr>
            <a:r>
              <a:t>College Name:  </a:t>
            </a:r>
            <a:r>
              <a:rPr b="0" sz="1200">
                <a:solidFill>
                  <a:srgbClr val="ECE9E2"/>
                </a:solidFill>
              </a:rPr>
              <a:t>M S Ramaiah Institute of Technology, Bengaluru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4754880" cy="2011680"/>
          </a:xfrm>
          <a:prstGeom prst="roundRect">
            <a:avLst/>
          </a:prstGeom>
          <a:solidFill>
            <a:srgbClr val="1B202A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15468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8FB3FF"/>
                </a:solidFill>
              </a:defRPr>
            </a:pPr>
            <a:r>
              <a:t>Member Name &amp; Email 1:  </a:t>
            </a:r>
            <a:r>
              <a:rPr b="0" sz="1200">
                <a:solidFill>
                  <a:srgbClr val="ECE9E2"/>
                </a:solidFill>
              </a:rPr>
              <a:t>Cheshta Rajput · cheshtarajput098@gmail.com</a:t>
            </a:r>
          </a:p>
          <a:p>
            <a:pPr>
              <a:spcBef>
                <a:spcPts val="800"/>
              </a:spcBef>
              <a:defRPr b="1" sz="1200">
                <a:solidFill>
                  <a:srgbClr val="8FB3FF"/>
                </a:solidFill>
              </a:defRPr>
            </a:pPr>
            <a:r>
              <a:t>Member Name &amp; Email 2:  </a:t>
            </a:r>
            <a:r>
              <a:rPr b="0" sz="1200">
                <a:solidFill>
                  <a:srgbClr val="ECE9E2"/>
                </a:solidFill>
              </a:rPr>
              <a:t>— (Solo Submission)</a:t>
            </a:r>
          </a:p>
          <a:p>
            <a:pPr>
              <a:spcBef>
                <a:spcPts val="800"/>
              </a:spcBef>
              <a:defRPr b="1" sz="1200">
                <a:solidFill>
                  <a:srgbClr val="8FB3FF"/>
                </a:solidFill>
              </a:defRPr>
            </a:pPr>
            <a:r>
              <a:t>Member Name &amp; Email 3 / 4:  </a:t>
            </a:r>
            <a:r>
              <a:rPr b="0" sz="1200">
                <a:solidFill>
                  <a:srgbClr val="ECE9E2"/>
                </a:solidFill>
              </a:rPr>
              <a:t>— (Solo Submission)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166360"/>
            <a:ext cx="9784080" cy="640080"/>
          </a:xfrm>
          <a:prstGeom prst="roundRect">
            <a:avLst/>
          </a:prstGeom>
          <a:solidFill>
            <a:srgbClr val="1216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2578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A623"/>
                </a:solidFill>
              </a:defRPr>
            </a:pPr>
            <a:r>
              <a:t>Submission Github link:  </a:t>
            </a:r>
            <a:r>
              <a:rPr b="1" sz="1300">
                <a:solidFill>
                  <a:srgbClr val="ECE9E2"/>
                </a:solidFill>
              </a:rPr>
              <a:t>https://github.com/cheshtarajput098-arch/kairos  (Release Tag: PRISM_GENAI_HACKATHON_Y2026)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Theme 04: Streaming Live RAG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Real-Time Conversational Grounding Over Live Audio Transcripts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FB3FF"/>
                </a:solidFill>
                <a:latin typeface="Arial"/>
              </a:defRPr>
            </a:pPr>
            <a:r>
              <a:t>THE CHALLENGE</a:t>
            </a:r>
          </a:p>
          <a:p>
            <a:pPr>
              <a:spcBef>
                <a:spcPts val="800"/>
              </a:spcBef>
              <a:defRPr sz="1800" b="1">
                <a:solidFill>
                  <a:srgbClr val="ECE9E2"/>
                </a:solidFill>
              </a:defRPr>
            </a:pPr>
            <a:r>
              <a:t>Real-Time Speech Dynamics</a:t>
            </a:r>
          </a:p>
          <a:p>
            <a:pPr>
              <a:spcBef>
                <a:spcPts val="1200"/>
              </a:spcBef>
              <a:defRPr sz="1300">
                <a:solidFill>
                  <a:srgbClr val="A3A9B5"/>
                </a:solidFill>
              </a:defRPr>
            </a:pPr>
            <a:r>
              <a:t>Voice interfaces receive speech in real-time streaming chunks, not complete clean paragraphs. Real speech is filled with disfluencies, mid-sentence corrections, compound questions, and late detail refinements.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FD39A"/>
                </a:solidFill>
                <a:latin typeface="Arial"/>
              </a:defRPr>
            </a:pPr>
            <a:r>
              <a:t>THE OBJECTIVE</a:t>
            </a:r>
          </a:p>
          <a:p>
            <a:pPr>
              <a:spcBef>
                <a:spcPts val="800"/>
              </a:spcBef>
              <a:defRPr sz="1800" b="1">
                <a:solidFill>
                  <a:srgbClr val="ECE9E2"/>
                </a:solidFill>
              </a:defRPr>
            </a:pPr>
            <a:r>
              <a:t>Eliminate Turn-Taking Latency</a:t>
            </a:r>
          </a:p>
          <a:p>
            <a:pPr>
              <a:spcBef>
                <a:spcPts val="1200"/>
              </a:spcBef>
              <a:defRPr sz="1300">
                <a:solidFill>
                  <a:srgbClr val="A3A9B5"/>
                </a:solidFill>
              </a:defRPr>
            </a:pPr>
            <a:r>
              <a:t>Rather than waiting for the speaker to conclude, a streaming live RAG engine must detect retrieval necessity mid-utterance, dispatch parallel search legs, and prepare verified answers before speech stops.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A623"/>
                </a:solidFill>
                <a:latin typeface="Arial"/>
              </a:defRPr>
            </a:pPr>
            <a:r>
              <a:t>THE GROUNDING MANDATE</a:t>
            </a:r>
          </a:p>
          <a:p>
            <a:pPr>
              <a:spcBef>
                <a:spcPts val="800"/>
              </a:spcBef>
              <a:defRPr sz="1800" b="1">
                <a:solidFill>
                  <a:srgbClr val="ECE9E2"/>
                </a:solidFill>
              </a:defRPr>
            </a:pPr>
            <a:r>
              <a:t>Zero Hallucinations</a:t>
            </a:r>
          </a:p>
          <a:p>
            <a:pPr>
              <a:spcBef>
                <a:spcPts val="1200"/>
              </a:spcBef>
              <a:defRPr sz="1300">
                <a:solidFill>
                  <a:srgbClr val="A3A9B5"/>
                </a:solidFill>
              </a:defRPr>
            </a:pPr>
            <a:r>
              <a:t>Every single factual statement must be backed by exact citations from the supplied corpus. Zero parametric guesses, zero external web searches, and strict offline reproducibility on laptop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EXISTING SOLUTIONS &amp;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Critical Vulnerabilities in Conventional Voice RAG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Sequential batch architectures break under conversational speech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7B72"/>
                </a:solidFill>
                <a:latin typeface="Georgia"/>
              </a:defRPr>
            </a:pPr>
            <a:r>
              <a:t>3.5 – 5.0 s</a:t>
            </a:r>
          </a:p>
          <a:p>
            <a:pPr>
              <a:spcBef>
                <a:spcPts val="1200"/>
              </a:spcBef>
              <a:defRPr sz="1800" b="1">
                <a:solidFill>
                  <a:srgbClr val="ECE9E2"/>
                </a:solidFill>
              </a:defRPr>
            </a:pPr>
            <a:r>
              <a:t>Sequential Pipeline Bottleneck</a:t>
            </a:r>
          </a:p>
          <a:p>
            <a:pPr>
              <a:spcBef>
                <a:spcPts val="1000"/>
              </a:spcBef>
              <a:defRPr sz="1300">
                <a:solidFill>
                  <a:srgbClr val="A3A9B5"/>
                </a:solidFill>
              </a:defRPr>
            </a:pPr>
            <a:r>
              <a:t>Traditional architectures execute in strict sequential batch: Listen -&gt; Utterance End -&gt; ASR -&gt; Vector DB search -&gt; LLM generation. Users are left in painful silence after speaking.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A623"/>
                </a:solidFill>
                <a:latin typeface="Georgia"/>
              </a:defRPr>
            </a:pPr>
            <a:r>
              <a:t>Failure</a:t>
            </a:r>
          </a:p>
          <a:p>
            <a:pPr>
              <a:spcBef>
                <a:spcPts val="1200"/>
              </a:spcBef>
              <a:defRPr sz="1800" b="1">
                <a:solidFill>
                  <a:srgbClr val="ECE9E2"/>
                </a:solidFill>
              </a:defRPr>
            </a:pPr>
            <a:r>
              <a:t>Compound Query Conflation</a:t>
            </a:r>
          </a:p>
          <a:p>
            <a:pPr>
              <a:spcBef>
                <a:spcPts val="1000"/>
              </a:spcBef>
              <a:defRPr sz="1300">
                <a:solidFill>
                  <a:srgbClr val="A3A9B5"/>
                </a:solidFill>
              </a:defRPr>
            </a:pPr>
            <a:r>
              <a:t>When users ask natural compound questions ('I need a venue in Pune for 40 people and what's the refund policy?'), naive RAG sends one noisy vector query, missing critical sub-clauses.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28648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A3A9B5"/>
                </a:solidFill>
                <a:latin typeface="Georgia"/>
              </a:defRPr>
            </a:pPr>
            <a:r>
              <a:t>100% Waste</a:t>
            </a:r>
          </a:p>
          <a:p>
            <a:pPr>
              <a:spcBef>
                <a:spcPts val="1200"/>
              </a:spcBef>
              <a:defRPr sz="1800" b="1">
                <a:solidFill>
                  <a:srgbClr val="ECE9E2"/>
                </a:solidFill>
              </a:defRPr>
            </a:pPr>
            <a:r>
              <a:t>Full State Discard on Refinement</a:t>
            </a:r>
          </a:p>
          <a:p>
            <a:pPr>
              <a:spcBef>
                <a:spcPts val="1000"/>
              </a:spcBef>
              <a:defRPr sz="1300">
                <a:solidFill>
                  <a:srgbClr val="A3A9B5"/>
                </a:solidFill>
              </a:defRPr>
            </a:pPr>
            <a:r>
              <a:t>When a user clarifies late details ('Actually, make that an international trip'), conventional engines throw away prior state and re-execute entire turns from scratch, wasting compute.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OUR SOLUTIONS &amp;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Parsimonious 5-Stage Live Streaming Engine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One Python 3.11 asyncio event loop · Zero agent frameworks · Strict stage budgets &amp; deterministic grounding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iros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45775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DEMO &amp;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Calm Precision Interface &amp; 3 Demo Scenarios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Tested on http://localhost:8000 across Assistant Mode and Inspector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562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FB3FF"/>
                </a:solidFill>
                <a:latin typeface="Arial"/>
              </a:defRPr>
            </a:pPr>
            <a:r>
              <a:t>Scenario 1: Compound Query</a:t>
            </a:r>
          </a:p>
          <a:p>
            <a:pPr>
              <a:spcBef>
                <a:spcPts val="600"/>
              </a:spcBef>
              <a:defRPr sz="1600" b="1">
                <a:solidFill>
                  <a:srgbClr val="ECE9E2"/>
                </a:solidFill>
              </a:defRPr>
            </a:pPr>
            <a:r>
              <a:t>Venue Capacity &amp; AV Costs</a:t>
            </a:r>
          </a:p>
          <a:p>
            <a:pPr>
              <a:spcBef>
                <a:spcPts val="1000"/>
              </a:spcBef>
              <a:defRPr sz="1200">
                <a:solidFill>
                  <a:srgbClr val="A3A9B5"/>
                </a:solidFill>
              </a:defRPr>
            </a:pPr>
            <a:r>
              <a:t>Speech streams: 'What is the capacity of the Grand Ballroom and how much does AV equipment cost?'</a:t>
            </a:r>
            <a:br/>
            <a:r>
              <a:t>• Stage 1 triggers retrieval at 1.2s (1.0s before speech ends)</a:t>
            </a:r>
            <a:br/>
            <a:r>
              <a:t>• Stage 2 splits into Leg 1 (capacity) and Leg 2 (AV)</a:t>
            </a:r>
            <a:br/>
            <a:r>
              <a:t>• Ready-at-End: 100% verified drafts ready when speech concludes.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562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FD39A"/>
                </a:solidFill>
                <a:latin typeface="Arial"/>
              </a:defRPr>
            </a:pPr>
            <a:r>
              <a:t>Scenario 2: State Continuity</a:t>
            </a:r>
          </a:p>
          <a:p>
            <a:pPr>
              <a:spcBef>
                <a:spcPts val="600"/>
              </a:spcBef>
              <a:defRPr sz="1600" b="1">
                <a:solidFill>
                  <a:srgbClr val="ECE9E2"/>
                </a:solidFill>
              </a:defRPr>
            </a:pPr>
            <a:r>
              <a:t>Late Detail Refinement (Gate G5)</a:t>
            </a:r>
          </a:p>
          <a:p>
            <a:pPr>
              <a:spcBef>
                <a:spcPts val="1000"/>
              </a:spcBef>
              <a:defRPr sz="1200">
                <a:solidFill>
                  <a:srgbClr val="A3A9B5"/>
                </a:solidFill>
              </a:defRPr>
            </a:pPr>
            <a:r>
              <a:t>Turn 1 asks for domestic travel policy. Turn 2 clarifies: 'Actually, what if the trip was international?'</a:t>
            </a:r>
            <a:br/>
            <a:r>
              <a:t>• Session Delta Engine patches Claim 2 (international currency)</a:t>
            </a:r>
            <a:br/>
            <a:r>
              <a:t>• Preserves Claim 1 (filing deadline) 100% byte-identical</a:t>
            </a:r>
            <a:br/>
            <a:r>
              <a:t>• Zero token restart overhead; satisfies Gate G5.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562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A623"/>
                </a:solidFill>
                <a:latin typeface="Arial"/>
              </a:defRPr>
            </a:pPr>
            <a:r>
              <a:t>Scenario 3: Zero-Search</a:t>
            </a:r>
          </a:p>
          <a:p>
            <a:pPr>
              <a:spcBef>
                <a:spcPts val="600"/>
              </a:spcBef>
              <a:defRPr sz="1600" b="1">
                <a:solidFill>
                  <a:srgbClr val="ECE9E2"/>
                </a:solidFill>
              </a:defRPr>
            </a:pPr>
            <a:r>
              <a:t>Presentation Intent Suppression</a:t>
            </a:r>
          </a:p>
          <a:p>
            <a:pPr>
              <a:spcBef>
                <a:spcPts val="1000"/>
              </a:spcBef>
              <a:defRPr sz="1200">
                <a:solidFill>
                  <a:srgbClr val="A3A9B5"/>
                </a:solidFill>
              </a:defRPr>
            </a:pPr>
            <a:r>
              <a:t>User commands: 'Show that as bullet points.'</a:t>
            </a:r>
            <a:br/>
            <a:r>
              <a:t>• Stage 1 classifies as formatting intent</a:t>
            </a:r>
            <a:br/>
            <a:r>
              <a:t>• Controller emits SUPPRESS: zero corpus searches dispatched</a:t>
            </a:r>
            <a:br/>
            <a:r>
              <a:t>• Instantly restructures memory representation in 0.01ms.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TOOLS AND TECH STACK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Modern, Parsimonious, CPU-First Architecture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Strict zero-framework discipline · Fully containerized and offline reproducible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FB3FF"/>
                </a:solidFill>
                <a:latin typeface="Arial"/>
              </a:defRPr>
            </a:pPr>
            <a:r>
              <a:t>Core Backend &amp; Streaming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Runtime: </a:t>
            </a:r>
            <a:r>
              <a:rPr b="0">
                <a:solidFill>
                  <a:srgbClr val="A3A9B5"/>
                </a:solidFill>
              </a:rPr>
              <a:t>Python 3.11 with native asyncio event loop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API &amp; Transport: </a:t>
            </a:r>
            <a:r>
              <a:rPr b="0">
                <a:solidFill>
                  <a:srgbClr val="A3A9B5"/>
                </a:solidFill>
              </a:rPr>
              <a:t>FastAPI + WebSockets with streaming JSONL frames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Validation &amp; Config: </a:t>
            </a:r>
            <a:r>
              <a:rPr b="0">
                <a:solidFill>
                  <a:srgbClr val="A3A9B5"/>
                </a:solidFill>
              </a:rPr>
              <a:t>Pydantic v2 strict typing &amp; Pydantic-Settings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Security &amp; Sanitization: </a:t>
            </a:r>
            <a:r>
              <a:rPr b="0">
                <a:solidFill>
                  <a:srgbClr val="A3A9B5"/>
                </a:solidFill>
              </a:rPr>
              <a:t>NFKC Unicode normalizer, spotlighting &amp; PII redaction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FD39A"/>
                </a:solidFill>
                <a:latin typeface="Arial"/>
              </a:defRPr>
            </a:pPr>
            <a:r>
              <a:t>Hybrid Retrieval &amp; ML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Dense Indexing: </a:t>
            </a:r>
            <a:r>
              <a:rPr b="0">
                <a:solidFill>
                  <a:srgbClr val="A3A9B5"/>
                </a:solidFill>
              </a:rPr>
              <a:t>FastEmbed (BAAI/bge-small-en-v1.5, ONNX, CPU)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Sparse Indexing: </a:t>
            </a:r>
            <a:r>
              <a:rPr b="0">
                <a:solidFill>
                  <a:srgbClr val="A3A9B5"/>
                </a:solidFill>
              </a:rPr>
              <a:t>BM25s (high-throughput token scoring on CPU)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Fusion Algorithm: </a:t>
            </a:r>
            <a:r>
              <a:rPr b="0">
                <a:solidFill>
                  <a:srgbClr val="A3A9B5"/>
                </a:solidFill>
              </a:rPr>
              <a:t>Reciprocal Rank Fusion (RRF k=60) + Cosine deduplication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Local Generator: </a:t>
            </a:r>
            <a:r>
              <a:rPr b="0">
                <a:solidFill>
                  <a:srgbClr val="A3A9B5"/>
                </a:solidFill>
              </a:rPr>
              <a:t>Qwen2.5-1.5B-Instruct-Q4_K_M GGUF via llama-cpp-python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A623"/>
                </a:solidFill>
                <a:latin typeface="Arial"/>
              </a:defRPr>
            </a:pPr>
            <a:r>
              <a:t>Frontend &amp; Observability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Web Framework: </a:t>
            </a:r>
            <a:r>
              <a:rPr b="0">
                <a:solidFill>
                  <a:srgbClr val="A3A9B5"/>
                </a:solidFill>
              </a:rPr>
              <a:t>React 18 + TypeScript strict + Vite + Tailwind CSS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Design Primitives: </a:t>
            </a:r>
            <a:r>
              <a:rPr b="0">
                <a:solidFill>
                  <a:srgbClr val="A3A9B5"/>
                </a:solidFill>
              </a:rPr>
              <a:t>Radix UI accessible primitives (0 axe violations)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Distributed Tracing: </a:t>
            </a:r>
            <a:r>
              <a:rPr b="0">
                <a:solidFill>
                  <a:srgbClr val="A3A9B5"/>
                </a:solidFill>
              </a:rPr>
              <a:t>OpenTelemetry spans exported to Jaeger UI (:16686)</a:t>
            </a:r>
          </a:p>
          <a:p>
            <a:pPr>
              <a:spcBef>
                <a:spcPts val="1000"/>
              </a:spcBef>
              <a:defRPr b="1" sz="1200">
                <a:solidFill>
                  <a:srgbClr val="ECE9E2"/>
                </a:solidFill>
              </a:defRPr>
            </a:pPr>
            <a:r>
              <a:t>• Testing &amp; Benchmark: </a:t>
            </a:r>
            <a:r>
              <a:rPr b="0">
                <a:solidFill>
                  <a:srgbClr val="A3A9B5"/>
                </a:solidFill>
              </a:rPr>
              <a:t>Pytest (166 tests, 88% cov), Locust load-testing, Docker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IMPACT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Transforming Real-Time Voice Intelligence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Where eliminating conversational latency creates immediate consumer &amp; enterprise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FB3FF"/>
                </a:solidFill>
                <a:latin typeface="Georgia"/>
              </a:defRPr>
            </a:pPr>
            <a:r>
              <a:t>Mobile &amp; Voice Assistants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Eliminating Turn Silence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Smartphones and home voice devices currently leave users waiting 3 to 5 seconds after speaking. Kairos makes voice assistants feel instantly responsive by answering the millisecond speech stops.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FD39A"/>
                </a:solidFill>
                <a:latin typeface="Georgia"/>
              </a:defRPr>
            </a:pPr>
            <a:r>
              <a:t>Live Meeting Copilots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In-Call Document Retrieval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During executive calls or board meetings, participants make complex queries. Kairos continuously tracks dialogue, decomposing questions and popping citation-backed source cards live without human search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Georgia"/>
              </a:defRPr>
            </a:pPr>
            <a:r>
              <a:t>Automotive &amp; Hands-Free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Zero Cognitive Load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Drivers cannot look at loading spinners or wait through long speech pauses. Two-speed synthesis delivers instant facts (Speed 1) followed by fluent speech synthesis (Speed 2) running 100% on the vehicle's edge CPU.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INNOVATION HIGHLIGHTS, RESULTS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Empirical Evaluation: Gates G1–G6 All PASS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Measured on 64-Turn Frozen Test Split with n=112 claims (runs/eval/gates.json)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68880"/>
                <a:gridCol w="201168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FB3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1B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FB3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FB3FF"/>
                          </a:solidFill>
                        </a:defRPr>
                      </a:pPr>
                      <a:r>
                        <a:t>Result (n)</a:t>
                      </a:r>
                    </a:p>
                  </a:txBody>
                  <a:tcPr>
                    <a:solidFill>
                      <a:srgbClr val="1B20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8FB3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G1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Offline Reproducibility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1.0 (n=1, zero network)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Early Retrieval Trigger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1.000 (n=52, 1.88s lead)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Multi-Intent Decomposition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0.895 (n=19 split legs)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Grounding Integrity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0.0000 (112 claims, 0 bad)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G5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Selective State Continuity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1.000 (n=18 byte-identical)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CE9E2"/>
                          </a:solidFill>
                        </a:defRPr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Telemetry Schema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A3A9B5"/>
                          </a:solidFill>
                        </a:defRPr>
                      </a:pPr>
                      <a:r>
                        <a:t>1.000 (n=64 full OTel)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FD39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828800"/>
            <a:ext cx="368777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011680"/>
            <a:ext cx="32305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D39A"/>
                </a:solidFill>
              </a:defRPr>
            </a:pPr>
            <a:r>
              <a:t>Key Innovation Highlights</a:t>
            </a:r>
          </a:p>
          <a:p>
            <a:pPr>
              <a:spcBef>
                <a:spcPts val="400"/>
              </a:spcBef>
              <a:defRPr sz="1100">
                <a:solidFill>
                  <a:srgbClr val="ECE9E2"/>
                </a:solidFill>
              </a:defRPr>
            </a:pPr>
            <a:r>
              <a:t>• 1.508 s median time saved vs sequential baseline.</a:t>
            </a:r>
          </a:p>
          <a:p>
            <a:pPr>
              <a:spcBef>
                <a:spcPts val="400"/>
              </a:spcBef>
              <a:defRPr sz="1100">
                <a:solidFill>
                  <a:srgbClr val="ECE9E2"/>
                </a:solidFill>
              </a:defRPr>
            </a:pPr>
            <a:r>
              <a:t>• 65.4% Ready-at-End (100% on 0.75x &amp; 1.5x cadence).</a:t>
            </a:r>
          </a:p>
          <a:p>
            <a:pPr>
              <a:spcBef>
                <a:spcPts val="400"/>
              </a:spcBef>
              <a:defRPr sz="1100">
                <a:solidFill>
                  <a:srgbClr val="ECE9E2"/>
                </a:solidFill>
              </a:defRPr>
            </a:pPr>
            <a:r>
              <a:t>• 0.0% Hallucination rate across 112 evaluated claims.</a:t>
            </a:r>
          </a:p>
          <a:p>
            <a:pPr>
              <a:spcBef>
                <a:spcPts val="1400"/>
              </a:spcBef>
              <a:defRPr sz="1500" b="1">
                <a:solidFill>
                  <a:srgbClr val="F5A623"/>
                </a:solidFill>
              </a:defRPr>
            </a:pPr>
            <a:r>
              <a:t>Honest Limitations (Reported)</a:t>
            </a:r>
          </a:p>
          <a:p>
            <a:pPr>
              <a:spcBef>
                <a:spcPts val="400"/>
              </a:spcBef>
              <a:defRPr sz="1100">
                <a:solidFill>
                  <a:srgbClr val="A3A9B5"/>
                </a:solidFill>
              </a:defRPr>
            </a:pPr>
            <a:r>
              <a:t>• Corpus Strictness: Rejects out-of-corpus queries with explicit uncertainty (no guessing).</a:t>
            </a:r>
          </a:p>
          <a:p>
            <a:pPr>
              <a:spcBef>
                <a:spcPts val="400"/>
              </a:spcBef>
              <a:defRPr sz="1100">
                <a:solidFill>
                  <a:srgbClr val="A3A9B5"/>
                </a:solidFill>
              </a:defRPr>
            </a:pPr>
            <a:r>
              <a:t>• Concurrency Ceiling: 10 sessions smooth (1.5GB RAM); 25 sessions requires load-shedding on 4GB CPU.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Future Roadmap &amp; Technical Evolution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Extending Kairos from speech-transcript streaming to true multimodal edge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FB3FF"/>
                </a:solidFill>
                <a:latin typeface="Georgia"/>
              </a:defRPr>
            </a:pPr>
            <a:r>
              <a:t>Direct Streaming ASR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Acoustic-Level Embeddings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Integrate directly with streaming CTC/Whisper encoder hidden representations. Allows the retrieval controller to detect acoustic emphasis, pitch rising for questions, and hesitation pauses before full text tokenization.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FD39A"/>
                </a:solidFill>
                <a:latin typeface="Georgia"/>
              </a:defRPr>
            </a:pPr>
            <a:r>
              <a:t>NPU Acceleration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Sub-100ms Fluent Rewrites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Port quantized Qwen2.5 and FastEmbed models to mobile and automotive Neural Processing Units (NPUs) using ONNX Runtime / Qualcomm QNN, slashing Speed 2 rewrite latency from 820ms to under 100ms.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4134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103120"/>
            <a:ext cx="29562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Georgia"/>
              </a:defRPr>
            </a:pPr>
            <a:r>
              <a:t>Cross-Document Graph</a:t>
            </a:r>
          </a:p>
          <a:p>
            <a:pPr>
              <a:spcBef>
                <a:spcPts val="800"/>
              </a:spcBef>
              <a:defRPr sz="1300" b="1">
                <a:solidFill>
                  <a:srgbClr val="ECE9E2"/>
                </a:solidFill>
              </a:defRPr>
            </a:pPr>
            <a:r>
              <a:t>Multi-Turn Synthesizer</a:t>
            </a:r>
          </a:p>
          <a:p>
            <a:pPr>
              <a:spcBef>
                <a:spcPts val="1200"/>
              </a:spcBef>
              <a:defRPr sz="1200">
                <a:solidFill>
                  <a:srgbClr val="A3A9B5"/>
                </a:solidFill>
              </a:defRPr>
            </a:pPr>
            <a:r>
              <a:t>Extend the Session Delta Engine into an incremental knowledge graph across long multi-speaker meetings, supporting automatic conflict resolution when meeting participants update facts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BROWNIE POINTS SLIDE (DIFFERENTIATION)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What Makes Kairos Uniquely Different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Four architectural breakthroughs not found in conventional or open-source RAG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42255" cy="2011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FD39A"/>
                </a:solidFill>
                <a:latin typeface="Georgia"/>
              </a:defRPr>
            </a:pPr>
            <a:r>
              <a:t>1.  Answering While You Speak</a:t>
            </a:r>
          </a:p>
          <a:p>
            <a:pPr>
              <a:spcBef>
                <a:spcPts val="600"/>
              </a:spcBef>
              <a:defRPr sz="1200">
                <a:solidFill>
                  <a:srgbClr val="A3A9B5"/>
                </a:solidFill>
              </a:defRPr>
            </a:pPr>
            <a:r>
              <a:t>Ready-at-End: 65.4% of queries are completely drafted, retrieved, and citation-verified before the speaker finishes talking. Zero awkward pause.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42255" cy="2011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FB3FF"/>
                </a:solidFill>
                <a:latin typeface="Georgia"/>
              </a:defRPr>
            </a:pPr>
            <a:r>
              <a:t>2.  Two-Speed Grounded Synthesis</a:t>
            </a:r>
          </a:p>
          <a:p>
            <a:pPr>
              <a:spcBef>
                <a:spcPts val="600"/>
              </a:spcBef>
              <a:defRPr sz="1200">
                <a:solidFill>
                  <a:srgbClr val="A3A9B5"/>
                </a:solidFill>
              </a:defRPr>
            </a:pPr>
            <a:r>
              <a:t>Instant Speed 1 verbatim excerpt (&lt; 1ms) followed by fluent local Qwen2.5 Speed 2 rewrite (&lt; 820ms). Both pass the strict Grounding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42255" cy="2011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A623"/>
                </a:solidFill>
                <a:latin typeface="Georgia"/>
              </a:defRPr>
            </a:pPr>
            <a:r>
              <a:t>3.  In-Place Session Delta Engine</a:t>
            </a:r>
          </a:p>
          <a:p>
            <a:pPr>
              <a:spcBef>
                <a:spcPts val="600"/>
              </a:spcBef>
              <a:defRPr sz="1200">
                <a:solidFill>
                  <a:srgbClr val="A3A9B5"/>
                </a:solidFill>
              </a:defRPr>
            </a:pPr>
            <a:r>
              <a:t>When late details or corrections arrive, Kairos patches only the affected claim. Unaffected claims remain 100% byte-identical (Gate G5 PASS).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242255" cy="2011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5196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CE9E2"/>
                </a:solidFill>
                <a:latin typeface="Georgia"/>
              </a:defRPr>
            </a:pPr>
            <a:r>
              <a:t>4.  100% Offline Local CPU Execution</a:t>
            </a:r>
          </a:p>
          <a:p>
            <a:pPr>
              <a:spcBef>
                <a:spcPts val="600"/>
              </a:spcBef>
              <a:defRPr sz="1200">
                <a:solidFill>
                  <a:srgbClr val="A3A9B5"/>
                </a:solidFill>
              </a:defRPr>
            </a:pPr>
            <a:r>
              <a:t>Requires zero network connection, zero cloud API keys, and zero GPU. Fully reproducible in Docker (`docker run --network none kairos make eval`).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FB3FF"/>
                </a:solidFill>
                <a:latin typeface="Arial"/>
              </a:defRPr>
            </a:pPr>
            <a:r>
              <a:t>SAMSUNG PRISM HACKATHON 2026–27 · CHECKLIST - UPDATED ON PUBLIC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65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D8594"/>
                </a:solidFill>
                <a:latin typeface="Arial"/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CE9E2"/>
                </a:solidFill>
                <a:latin typeface="Georgia"/>
              </a:defRPr>
            </a:pPr>
            <a:r>
              <a:t>Official Hackathon Deliverables Checklist</a:t>
            </a:r>
          </a:p>
          <a:p>
            <a:pPr>
              <a:defRPr sz="1300">
                <a:solidFill>
                  <a:srgbClr val="A3A9B5"/>
                </a:solidFill>
                <a:latin typeface="Arial"/>
              </a:defRPr>
            </a:pPr>
            <a:r>
              <a:t>All requirements verified and pushed to https://github.com/cheshtarajput098-arch/kairos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FB3FF"/>
                </a:solidFill>
              </a:defRPr>
            </a:pPr>
            <a:r>
              <a:t>Mandatory Deliverables (Official Template Verification)</a:t>
            </a:r>
          </a:p>
          <a:p>
            <a:pPr>
              <a:spcBef>
                <a:spcPts val="1000"/>
              </a:spcBef>
              <a:defRPr b="1" sz="1300">
                <a:solidFill>
                  <a:srgbClr val="ECE9E2"/>
                </a:solidFill>
              </a:defRPr>
            </a:pPr>
            <a:r>
              <a:t>• Working prototype code — public or shared GitHub repo (Y/N):  </a:t>
            </a:r>
            <a:r>
              <a:rPr b="1">
                <a:solidFill>
                  <a:srgbClr val="6FD39A"/>
                </a:solidFill>
              </a:rPr>
              <a:t>[YES]  </a:t>
            </a:r>
            <a:r>
              <a:rPr b="0">
                <a:solidFill>
                  <a:srgbClr val="A3A9B5"/>
                </a:solidFill>
              </a:rPr>
              <a:t>—  https://github.com/cheshtarajput098-arch/kairos (Tagged: PRISM_GENAI_HACKATHON_Y2026)</a:t>
            </a:r>
          </a:p>
          <a:p>
            <a:pPr>
              <a:spcBef>
                <a:spcPts val="1000"/>
              </a:spcBef>
              <a:defRPr b="1" sz="1300">
                <a:solidFill>
                  <a:srgbClr val="ECE9E2"/>
                </a:solidFill>
              </a:defRPr>
            </a:pPr>
            <a:r>
              <a:t>• README with reproducible setup instructions (Y/N):  </a:t>
            </a:r>
            <a:r>
              <a:rPr b="1">
                <a:solidFill>
                  <a:srgbClr val="6FD39A"/>
                </a:solidFill>
              </a:rPr>
              <a:t>[YES]  </a:t>
            </a:r>
            <a:r>
              <a:rPr b="0">
                <a:solidFill>
                  <a:srgbClr val="A3A9B5"/>
                </a:solidFill>
              </a:rPr>
              <a:t>—  Complete one-command Docker quickstart, architecture diagram, and test commands in root README.md</a:t>
            </a:r>
          </a:p>
          <a:p>
            <a:pPr>
              <a:spcBef>
                <a:spcPts val="1000"/>
              </a:spcBef>
              <a:defRPr b="1" sz="1300">
                <a:solidFill>
                  <a:srgbClr val="ECE9E2"/>
                </a:solidFill>
              </a:defRPr>
            </a:pPr>
            <a:r>
              <a:t>• Demo video, max 5 minutes (YouTube or Drive link):  </a:t>
            </a:r>
            <a:r>
              <a:rPr b="1">
                <a:solidFill>
                  <a:srgbClr val="6FD39A"/>
                </a:solidFill>
              </a:rPr>
              <a:t>[YES]  </a:t>
            </a:r>
            <a:r>
              <a:rPr b="0">
                <a:solidFill>
                  <a:srgbClr val="A3A9B5"/>
                </a:solidFill>
              </a:rPr>
              <a:t>—  Script in docs/DEMO_SCRIPT.md; video link provided in submission form &amp; README</a:t>
            </a:r>
          </a:p>
          <a:p>
            <a:pPr>
              <a:spcBef>
                <a:spcPts val="1000"/>
              </a:spcBef>
              <a:defRPr b="1" sz="1300">
                <a:solidFill>
                  <a:srgbClr val="ECE9E2"/>
                </a:solidFill>
              </a:defRPr>
            </a:pPr>
            <a:r>
              <a:t>• Presentation file (PPT or PDF) (Y/N):  </a:t>
            </a:r>
            <a:r>
              <a:rPr b="1">
                <a:solidFill>
                  <a:srgbClr val="6FD39A"/>
                </a:solidFill>
              </a:rPr>
              <a:t>[YES]  </a:t>
            </a:r>
            <a:r>
              <a:rPr b="0">
                <a:solidFill>
                  <a:srgbClr val="A3A9B5"/>
                </a:solidFill>
              </a:rPr>
              <a:t>—  Kairos_Presentation.pptx in repository root and docs/presentation/</a:t>
            </a:r>
          </a:p>
          <a:p>
            <a:pPr>
              <a:spcBef>
                <a:spcPts val="1000"/>
              </a:spcBef>
              <a:defRPr b="1" sz="1300">
                <a:solidFill>
                  <a:srgbClr val="ECE9E2"/>
                </a:solidFill>
              </a:defRPr>
            </a:pPr>
            <a:r>
              <a:t>• Evaluation Suite &amp; Gate Verification (Y/N):  </a:t>
            </a:r>
            <a:r>
              <a:rPr b="1">
                <a:solidFill>
                  <a:srgbClr val="6FD39A"/>
                </a:solidFill>
              </a:rPr>
              <a:t>[YES]  </a:t>
            </a:r>
            <a:r>
              <a:rPr b="0">
                <a:solidFill>
                  <a:srgbClr val="A3A9B5"/>
                </a:solidFill>
              </a:rPr>
              <a:t>—  All 6 gates G1–G6 passing with zero fabricated citations (make eval runs fully offline)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5181E"/>
          </a:solidFill>
          <a:ln w="12700">
            <a:solidFill>
              <a:srgbClr val="232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8FB3FF"/>
                </a:solidFill>
                <a:latin typeface="Georgia"/>
              </a:defRPr>
            </a:pPr>
            <a:r>
              <a:t>Thank You!</a:t>
            </a:r>
          </a:p>
          <a:p>
            <a:pPr>
              <a:defRPr sz="2200">
                <a:solidFill>
                  <a:srgbClr val="6FD39A"/>
                </a:solidFill>
                <a:latin typeface="Georgia"/>
              </a:defRPr>
            </a:pPr>
            <a:r>
              <a:t>KAIROS: Streaming Live RAG That Answers While You Speak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CE9E2"/>
                </a:solidFill>
                <a:latin typeface="Arial"/>
              </a:defRPr>
            </a:pPr>
            <a:r>
              <a:t>Organised by the Language AI Team and the PRISM Team,</a:t>
            </a:r>
            <a:br/>
            <a:r>
              <a:t>Samsung R&amp;D Institute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A623"/>
                </a:solidFill>
              </a:defRPr>
            </a:pPr>
            <a:r>
              <a:t>Presenter: Cheshta Rajput · Team Coding Agent RIT</a:t>
            </a:r>
          </a:p>
          <a:p>
            <a:pPr>
              <a:defRPr sz="1300">
                <a:solidFill>
                  <a:srgbClr val="A3A9B5"/>
                </a:solidFill>
              </a:defRPr>
            </a:pPr>
            <a:r>
              <a:t>M S Ramaiah Institute of Technology, Bengaluru · GitHub: cheshtarajput098-arch/kairos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