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Good morning judges. We are Team Coding Agent RIT. Today we present Kairos — an event-driven live streaming RAG engine that eliminates the awkward conversational silence of voice assistants by answering while you speak.</a:t>
            </a: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Theme 04 asks for streaming live RAG. Good morning judges. We are Team Coding Agent RIT. Today we present Kairos — an event-driven live streaming RAG engine that eliminates the awkward conversational silence of voice assistants by answering while you speak.</a:t>
            </a: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When you speak to standard voice assistants, they wait until you finish talking, take several seconds to search, and then respond. If you ask two questions at once or correct yourself, they stumble. Voice interaction demands real-time intelligence.</a:t>
            </a: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Our architecture follows strict architectural parsimony: one asyncio event loop, five stages, zero framework bloat. Every stage has a justified microsecond budget. Stage 1 monitors linguistic stability. It knows when enough information has arrived to begin searching, while suppressing searches when users merely ask to change format.</a:t>
            </a: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Here you see our Session Delta Engine in action: when a user clarifies that their trip was international, Kairos refines only the currency claim while preserving the filing deadline strictly untouched. Our Calm Precision design system delivers two modes: a calm consumer voice assistant with quote highlights, and an inspector mode that exposes the live Gantt timeline for judges.</a:t>
            </a: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Speed 2 rewrites achieve a perfect 5.0 out of 5.0 blind fluency score — an improvement of 1.08 points over raw quotes — while running in just 820ms on CPU.</a:t>
            </a: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Compared to the sequential batch baseline on a shared virtual clock, Kairos saves a median 1.508 seconds per turn. Users experience zero waiting time. Under stress testing, 10 concurrent streaming sessions run at zero error rate using only 1.5 GB of RAM — well within the 4 GB limit of a standard laptop.</a:t>
            </a: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All six official hackathon acceptance gates pass with flying colors. Most importantly, Gate G4 achieved exactly 0 fabricated citations across all 112 evaluated claims. Limitations: ready-at-end is 65.4% at normal speech rate, and throughput degrades past 10 concurrent sessions.</a:t>
            </a: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Roadmap: first close the ready-at-end gap at natural speech rate, then scale concurrency, then take Kairos on-device and multilingual.</a:t>
            </a: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These are the metrics that define Kairos: 65.4% of answers ready at the exact millisecond speech stops, hiding 100% of retrieval latency with a median lead time of 1.8 seconds. Security was built into the edges from day one. Across 32 red-team attack vectors, our attack success rate is 0.0%, with full PII redaction and negligible 0.01ms overhead.</a:t>
            </a: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Kairos proves that streaming live RAG can answer while you speak, eliminate hallucinations deterministically, and run 100% offline on a laptop CPU. Thank you, and we welcome your questions.</a:t>
            </a: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Kairos proves that streaming live RAG can answer while you speak, eliminate hallucinations deterministically, and run 100% offline on a laptop CPU. Thank you, and we welcome your questions.</a:t>
            </a: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310128"/>
            <a:ext cx="6035040" cy="173736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63637E"/>
              </a:buClr>
              <a:buSzPts val="1600"/>
              <a:buFont typeface="Calibri"/>
              <a:buChar char="•"/>
            </a:pPr>
            <a:r>
              <a:rPr lang="en-US" sz="1200" b="0" i="0" u="none" strike="noStrike" cap="none">
                <a:solidFill>
                  <a:srgbClr val="63637E"/>
                </a:solidFill>
                <a:latin typeface="Calibri"/>
                <a:ea typeface="Calibri"/>
                <a:cs typeface="Calibri"/>
                <a:sym typeface="Calibri"/>
              </a:rPr>
              <a:t>Theme ID - 04 · Streaming Live RAG</a:t>
            </a:r>
            <a:endParaRPr/>
          </a:p>
          <a:p>
            <a:pPr marL="177800" marR="0" lvl="0" indent="-177800" algn="l" rtl="0">
              <a:spcBef>
                <a:spcPts val="500"/>
              </a:spcBef>
              <a:spcAft>
                <a:spcPts val="0"/>
              </a:spcAft>
              <a:buClr>
                <a:srgbClr val="63637E"/>
              </a:buClr>
              <a:buSzPts val="1600"/>
              <a:buFont typeface="Calibri"/>
              <a:buChar char="•"/>
            </a:pPr>
            <a:r>
              <a:rPr lang="en-US" sz="1200" b="0" i="0" u="none" strike="noStrike" cap="none">
                <a:solidFill>
                  <a:srgbClr val="63637E"/>
                </a:solidFill>
                <a:latin typeface="Calibri"/>
                <a:ea typeface="Calibri"/>
                <a:cs typeface="Calibri"/>
                <a:sym typeface="Calibri"/>
              </a:rPr>
              <a:t>Team Name - Coding Agent RIT</a:t>
            </a:r>
            <a:endParaRPr/>
          </a:p>
          <a:p>
            <a:pPr marL="177800" marR="0" lvl="0" indent="-177800" algn="l" rtl="0">
              <a:spcBef>
                <a:spcPts val="500"/>
              </a:spcBef>
              <a:spcAft>
                <a:spcPts val="0"/>
              </a:spcAft>
              <a:buClr>
                <a:srgbClr val="63637E"/>
              </a:buClr>
              <a:buSzPts val="1600"/>
              <a:buFont typeface="Calibri"/>
              <a:buChar char="•"/>
            </a:pPr>
            <a:r>
              <a:rPr lang="en-US" sz="1200" b="0" i="0" u="none" strike="noStrike" cap="none">
                <a:solidFill>
                  <a:srgbClr val="63637E"/>
                </a:solidFill>
                <a:latin typeface="Calibri"/>
                <a:ea typeface="Calibri"/>
                <a:cs typeface="Calibri"/>
                <a:sym typeface="Calibri"/>
              </a:rPr>
              <a:t>College Name - M S Ramaiah Institute of Technology, Bengaluru</a:t>
            </a:r>
            <a:endParaRPr/>
          </a:p>
          <a:p>
            <a:pPr marL="177800" marR="0" lvl="0" indent="-177800" algn="l" rtl="0">
              <a:spcBef>
                <a:spcPts val="500"/>
              </a:spcBef>
              <a:spcAft>
                <a:spcPts val="0"/>
              </a:spcAft>
              <a:buClr>
                <a:srgbClr val="63637E"/>
              </a:buClr>
              <a:buSzPts val="1600"/>
              <a:buFont typeface="Calibri"/>
              <a:buChar char="•"/>
            </a:pPr>
            <a:r>
              <a:rPr lang="en-US" sz="1200" b="0" i="0" u="none" strike="noStrike" cap="none">
                <a:solidFill>
                  <a:srgbClr val="63637E"/>
                </a:solidFill>
                <a:latin typeface="Calibri"/>
                <a:ea typeface="Calibri"/>
                <a:cs typeface="Calibri"/>
                <a:sym typeface="Calibri"/>
              </a:rPr>
              <a:t>Member Name &amp; Email 1- Cheshta Rajput (Presenter)</a:t>
            </a:r>
            <a:endParaRPr/>
          </a:p>
          <a:p>
            <a:pPr marL="177800" marR="0" lvl="0" indent="-177800" algn="l" rtl="0">
              <a:spcBef>
                <a:spcPts val="500"/>
              </a:spcBef>
              <a:spcAft>
                <a:spcPts val="0"/>
              </a:spcAft>
              <a:buClr>
                <a:srgbClr val="63637E"/>
              </a:buClr>
              <a:buSzPts val="1600"/>
              <a:buFont typeface="Calibri"/>
              <a:buChar char="•"/>
            </a:pPr>
            <a:r>
              <a:rPr lang="en-US" sz="1200" b="0" i="0" u="none" strike="noStrike" cap="none">
                <a:solidFill>
                  <a:srgbClr val="63637E"/>
                </a:solidFill>
                <a:latin typeface="Calibri"/>
                <a:ea typeface="Calibri"/>
                <a:cs typeface="Calibri"/>
                <a:sym typeface="Calibri"/>
              </a:rPr>
              <a:t>Member Name &amp; Email 2-</a:t>
            </a:r>
            <a:endParaRPr/>
          </a:p>
          <a:p>
            <a:pPr marL="177800" marR="0" lvl="0" indent="-177800" algn="l" rtl="0">
              <a:spcBef>
                <a:spcPts val="500"/>
              </a:spcBef>
              <a:spcAft>
                <a:spcPts val="0"/>
              </a:spcAft>
              <a:buClr>
                <a:srgbClr val="63637E"/>
              </a:buClr>
              <a:buSzPts val="1600"/>
              <a:buFont typeface="Calibri"/>
              <a:buChar char="•"/>
            </a:pPr>
            <a:r>
              <a:rPr lang="en-US" sz="1200" b="0" i="0" u="none" strike="noStrike" cap="none">
                <a:solidFill>
                  <a:srgbClr val="63637E"/>
                </a:solidFill>
                <a:latin typeface="Calibri"/>
                <a:ea typeface="Calibri"/>
                <a:cs typeface="Calibri"/>
                <a:sym typeface="Calibri"/>
              </a:rPr>
              <a:t>Member Name &amp; Email 3- </a:t>
            </a:r>
            <a:endParaRPr/>
          </a:p>
          <a:p>
            <a:pPr marL="177800" marR="0" lvl="0" indent="-177800" algn="l" rtl="0">
              <a:spcBef>
                <a:spcPts val="500"/>
              </a:spcBef>
              <a:spcAft>
                <a:spcPts val="0"/>
              </a:spcAft>
              <a:buClr>
                <a:srgbClr val="63637E"/>
              </a:buClr>
              <a:buSzPts val="1600"/>
              <a:buFont typeface="Calibri"/>
              <a:buChar char="•"/>
            </a:pPr>
            <a:r>
              <a:rPr lang="en-US" sz="1200" b="0" i="0" u="none" strike="noStrike" cap="none">
                <a:solidFill>
                  <a:srgbClr val="63637E"/>
                </a:solidFill>
                <a:latin typeface="Calibri"/>
                <a:ea typeface="Calibri"/>
                <a:cs typeface="Calibri"/>
                <a:sym typeface="Calibri"/>
              </a:rPr>
              <a:t>Member Name &amp; Email 4-</a:t>
            </a:r>
            <a:endParaRPr/>
          </a:p>
          <a:p>
            <a:pPr marL="177800" marR="0" lvl="0" indent="-177800" algn="l" rtl="0">
              <a:spcBef>
                <a:spcPts val="500"/>
              </a:spcBef>
              <a:spcAft>
                <a:spcPts val="0"/>
              </a:spcAft>
              <a:buClr>
                <a:srgbClr val="63637E"/>
              </a:buClr>
              <a:buSzPts val="1600"/>
              <a:buFont typeface="Calibri"/>
              <a:buChar char="•"/>
            </a:pPr>
            <a:r>
              <a:rPr lang="en-US" sz="1200" b="0" i="0" u="none" strike="noStrike" cap="none">
                <a:solidFill>
                  <a:srgbClr val="63637E"/>
                </a:solidFill>
                <a:latin typeface="Calibri"/>
                <a:ea typeface="Calibri"/>
                <a:cs typeface="Calibri"/>
                <a:sym typeface="Calibri"/>
              </a:rPr>
              <a:t>Submission Github link - github.com/cheshtarajput098-arch/kairos</a:t>
            </a:r>
            <a:endParaRPr/>
          </a:p>
          <a:p>
            <a:pPr marL="177800" marR="0" lvl="0" indent="-76200" algn="l" rtl="0">
              <a:spcBef>
                <a:spcPts val="500"/>
              </a:spcBef>
              <a:spcAft>
                <a:spcPts val="0"/>
              </a:spcAft>
              <a:buClr>
                <a:schemeClr val="dk1"/>
              </a:buClr>
              <a:buSzPts val="1600"/>
              <a:buFont typeface="Calibri"/>
              <a:buNone/>
            </a:pPr>
            <a:endParaRPr sz="1600" b="0" i="0" u="none" strike="noStrike" cap="none">
              <a:solidFill>
                <a:srgbClr val="63637E"/>
              </a:solidFill>
              <a:latin typeface="Calibri"/>
              <a:ea typeface="Calibri"/>
              <a:cs typeface="Calibri"/>
              <a:sym typeface="Calibri"/>
            </a:endParaRPr>
          </a:p>
        </p:txBody>
      </p:sp>
      <p:pic>
        <p:nvPicPr>
          <p:cNvPr id="96" name="Google Shape;96;p1" descr="hero_network.png"/>
          <p:cNvPicPr preferRelativeResize="0"/>
          <p:nvPr/>
        </p:nvPicPr>
        <p:blipFill rotWithShape="1">
          <a:blip r:embed="rId3">
            <a:alphaModFix/>
          </a:blip>
          <a:srcRect/>
          <a:stretch/>
        </p:blipFill>
        <p:spPr>
          <a:xfrm>
            <a:off x="7059168" y="1051560"/>
            <a:ext cx="4572000" cy="4572000"/>
          </a:xfrm>
          <a:prstGeom prst="rect">
            <a:avLst/>
          </a:prstGeom>
          <a:noFill/>
          <a:ln>
            <a:noFill/>
          </a:ln>
        </p:spPr>
      </p:pic>
      <p:sp>
        <p:nvSpPr>
          <p:cNvPr id="97" name="Rounded Rectangle 96"/>
          <p:cNvSpPr/>
          <p:nvPr/>
        </p:nvSpPr>
        <p:spPr>
          <a:xfrm>
            <a:off x="777240" y="5257800"/>
            <a:ext cx="6035040" cy="960120"/>
          </a:xfrm>
          <a:prstGeom prst="roundRect">
            <a:avLst>
              <a:gd name="adj" fmla="val 15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Box 97"/>
          <p:cNvSpPr txBox="1"/>
          <p:nvPr/>
        </p:nvSpPr>
        <p:spPr>
          <a:xfrm>
            <a:off x="1005840" y="5367528"/>
            <a:ext cx="5669280" cy="365760"/>
          </a:xfrm>
          <a:prstGeom prst="rect">
            <a:avLst/>
          </a:prstGeom>
          <a:noFill/>
        </p:spPr>
        <p:txBody>
          <a:bodyPr wrap="square" lIns="0" tIns="0" rIns="0" bIns="0" anchor="t">
            <a:spAutoFit/>
          </a:bodyPr>
          <a:lstStyle/>
          <a:p>
            <a:pPr algn="l"/>
            <a:r>
              <a:rPr sz="2000" b="1" i="0">
                <a:solidFill>
                  <a:srgbClr val="6D28D9"/>
                </a:solidFill>
                <a:latin typeface="Arial"/>
              </a:rPr>
              <a:t>KAIROS</a:t>
            </a:r>
            <a:r>
              <a:rPr sz="1400" b="1" i="0">
                <a:solidFill>
                  <a:srgbClr val="14142B"/>
                </a:solidFill>
                <a:latin typeface="Calibri"/>
              </a:rPr>
              <a:t>   Streaming Live RAG that answers while you speak</a:t>
            </a:r>
          </a:p>
        </p:txBody>
      </p:sp>
      <p:sp>
        <p:nvSpPr>
          <p:cNvPr id="99" name="TextBox 98"/>
          <p:cNvSpPr txBox="1"/>
          <p:nvPr/>
        </p:nvSpPr>
        <p:spPr>
          <a:xfrm>
            <a:off x="1005840" y="5760720"/>
            <a:ext cx="5669280" cy="365760"/>
          </a:xfrm>
          <a:prstGeom prst="rect">
            <a:avLst/>
          </a:prstGeom>
          <a:noFill/>
        </p:spPr>
        <p:txBody>
          <a:bodyPr wrap="square" lIns="0" tIns="0" rIns="0" bIns="0" anchor="t">
            <a:spAutoFit/>
          </a:bodyPr>
          <a:lstStyle/>
          <a:p>
            <a:pPr algn="l"/>
            <a:r>
              <a:rPr sz="1100" b="0" i="0">
                <a:solidFill>
                  <a:srgbClr val="63637E"/>
                </a:solidFill>
                <a:latin typeface="Calibri"/>
              </a:rPr>
              <a:t>Speculative retrieval · multi-intent decomposition · in-place state evolution · 100% offline on a laptop CPU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Theme</a:t>
            </a:r>
            <a:endParaRPr/>
          </a:p>
        </p:txBody>
      </p:sp>
      <p:sp>
        <p:nvSpPr>
          <p:cNvPr id="102" name="TextBox 101"/>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THEME 04</a:t>
            </a:r>
          </a:p>
        </p:txBody>
      </p:sp>
      <p:sp>
        <p:nvSpPr>
          <p:cNvPr id="103" name="TextBox 102"/>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02 / 12</a:t>
            </a:r>
          </a:p>
        </p:txBody>
      </p:sp>
      <p:sp>
        <p:nvSpPr>
          <p:cNvPr id="104" name="TextBox 103"/>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Voice assistants should answer while you are still speaking, not seconds after you stop</a:t>
            </a:r>
          </a:p>
        </p:txBody>
      </p:sp>
      <p:sp>
        <p:nvSpPr>
          <p:cNvPr id="105" name="Rounded Rectangle 104"/>
          <p:cNvSpPr/>
          <p:nvPr/>
        </p:nvSpPr>
        <p:spPr>
          <a:xfrm>
            <a:off x="822960" y="1783080"/>
            <a:ext cx="4206240" cy="4434840"/>
          </a:xfrm>
          <a:prstGeom prst="roundRect">
            <a:avLst>
              <a:gd name="adj" fmla="val 6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p:cNvSpPr txBox="1"/>
          <p:nvPr/>
        </p:nvSpPr>
        <p:spPr>
          <a:xfrm>
            <a:off x="1143000" y="2103120"/>
            <a:ext cx="3657600" cy="274320"/>
          </a:xfrm>
          <a:prstGeom prst="rect">
            <a:avLst/>
          </a:prstGeom>
          <a:noFill/>
        </p:spPr>
        <p:txBody>
          <a:bodyPr wrap="square" lIns="0" tIns="0" rIns="0" bIns="0" anchor="t">
            <a:spAutoFit/>
          </a:bodyPr>
          <a:lstStyle/>
          <a:p>
            <a:pPr algn="l"/>
            <a:r>
              <a:rPr sz="1200" b="1" i="0">
                <a:solidFill>
                  <a:srgbClr val="DDD0FB"/>
                </a:solidFill>
                <a:latin typeface="Calibri"/>
              </a:rPr>
              <a:t>THEME 04</a:t>
            </a:r>
          </a:p>
        </p:txBody>
      </p:sp>
      <p:sp>
        <p:nvSpPr>
          <p:cNvPr id="107" name="TextBox 106"/>
          <p:cNvSpPr txBox="1"/>
          <p:nvPr/>
        </p:nvSpPr>
        <p:spPr>
          <a:xfrm>
            <a:off x="1143000" y="2423160"/>
            <a:ext cx="3657600" cy="1097280"/>
          </a:xfrm>
          <a:prstGeom prst="rect">
            <a:avLst/>
          </a:prstGeom>
          <a:noFill/>
        </p:spPr>
        <p:txBody>
          <a:bodyPr wrap="square" lIns="0" tIns="0" rIns="0" bIns="0" anchor="t">
            <a:spAutoFit/>
          </a:bodyPr>
          <a:lstStyle/>
          <a:p>
            <a:pPr algn="l">
              <a:lnSpc>
                <a:spcPct val="95000"/>
              </a:lnSpc>
            </a:pPr>
            <a:r>
              <a:rPr sz="3400" b="1" i="0">
                <a:solidFill>
                  <a:srgbClr val="FFFFFF"/>
                </a:solidFill>
                <a:latin typeface="Arial"/>
              </a:rPr>
              <a:t>Streaming Live RAG</a:t>
            </a:r>
          </a:p>
        </p:txBody>
      </p:sp>
      <p:sp>
        <p:nvSpPr>
          <p:cNvPr id="108" name="TextBox 107"/>
          <p:cNvSpPr txBox="1"/>
          <p:nvPr/>
        </p:nvSpPr>
        <p:spPr>
          <a:xfrm>
            <a:off x="1143000" y="3611880"/>
            <a:ext cx="3611880" cy="1371600"/>
          </a:xfrm>
          <a:prstGeom prst="rect">
            <a:avLst/>
          </a:prstGeom>
          <a:noFill/>
        </p:spPr>
        <p:txBody>
          <a:bodyPr wrap="square" lIns="0" tIns="0" rIns="0" bIns="0" anchor="t">
            <a:spAutoFit/>
          </a:bodyPr>
          <a:lstStyle/>
          <a:p>
            <a:pPr algn="l">
              <a:lnSpc>
                <a:spcPct val="110000"/>
              </a:lnSpc>
            </a:pPr>
            <a:r>
              <a:rPr sz="1300" b="0" i="0">
                <a:solidFill>
                  <a:srgbClr val="FFFFFF"/>
                </a:solidFill>
                <a:latin typeface="Calibri"/>
              </a:rPr>
              <a:t>Build a retrieval-augmented voice assistant that works on a live speech stream: retrieve and ground answers during the utterance, handle compound questions, and adapt when the speaker changes their mind.</a:t>
            </a:r>
          </a:p>
        </p:txBody>
      </p:sp>
      <p:sp>
        <p:nvSpPr>
          <p:cNvPr id="109" name="TextBox 108"/>
          <p:cNvSpPr txBox="1"/>
          <p:nvPr/>
        </p:nvSpPr>
        <p:spPr>
          <a:xfrm>
            <a:off x="1143000" y="5257800"/>
            <a:ext cx="3611880" cy="731520"/>
          </a:xfrm>
          <a:prstGeom prst="rect">
            <a:avLst/>
          </a:prstGeom>
          <a:noFill/>
        </p:spPr>
        <p:txBody>
          <a:bodyPr wrap="square" lIns="0" tIns="0" rIns="0" bIns="0" anchor="t">
            <a:spAutoFit/>
          </a:bodyPr>
          <a:lstStyle/>
          <a:p>
            <a:pPr algn="l">
              <a:lnSpc>
                <a:spcPct val="105000"/>
              </a:lnSpc>
            </a:pPr>
            <a:r>
              <a:rPr sz="1300" b="1" i="0">
                <a:solidFill>
                  <a:srgbClr val="FFFFFF"/>
                </a:solidFill>
                <a:latin typeface="Calibri"/>
              </a:rPr>
              <a:t>Our entry: </a:t>
            </a:r>
            <a:r>
              <a:rPr sz="1300" b="0" i="0">
                <a:solidFill>
                  <a:srgbClr val="FFFFFF"/>
                </a:solidFill>
                <a:latin typeface="Calibri"/>
              </a:rPr>
              <a:t>KAIROS, an event-driven streaming RAG engine that runs fully offline on CPU.</a:t>
            </a:r>
          </a:p>
        </p:txBody>
      </p:sp>
      <p:sp>
        <p:nvSpPr>
          <p:cNvPr id="110" name="Oval 109"/>
          <p:cNvSpPr/>
          <p:nvPr/>
        </p:nvSpPr>
        <p:spPr>
          <a:xfrm>
            <a:off x="5440680" y="1828800"/>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1</a:t>
            </a:r>
          </a:p>
        </p:txBody>
      </p:sp>
      <p:sp>
        <p:nvSpPr>
          <p:cNvPr id="111" name="TextBox 110"/>
          <p:cNvSpPr txBox="1"/>
          <p:nvPr/>
        </p:nvSpPr>
        <p:spPr>
          <a:xfrm>
            <a:off x="6080760" y="1783080"/>
            <a:ext cx="5303520" cy="320040"/>
          </a:xfrm>
          <a:prstGeom prst="rect">
            <a:avLst/>
          </a:prstGeom>
          <a:noFill/>
        </p:spPr>
        <p:txBody>
          <a:bodyPr wrap="square" lIns="0" tIns="0" rIns="0" bIns="0" anchor="t">
            <a:spAutoFit/>
          </a:bodyPr>
          <a:lstStyle/>
          <a:p>
            <a:pPr algn="l"/>
            <a:r>
              <a:rPr sz="1600" b="1" i="0">
                <a:solidFill>
                  <a:srgbClr val="14142B"/>
                </a:solidFill>
                <a:latin typeface="Calibri"/>
              </a:rPr>
              <a:t>Answer while you speak</a:t>
            </a:r>
          </a:p>
        </p:txBody>
      </p:sp>
      <p:sp>
        <p:nvSpPr>
          <p:cNvPr id="112" name="TextBox 111"/>
          <p:cNvSpPr txBox="1"/>
          <p:nvPr/>
        </p:nvSpPr>
        <p:spPr>
          <a:xfrm>
            <a:off x="6080760" y="2130552"/>
            <a:ext cx="5303520" cy="640080"/>
          </a:xfrm>
          <a:prstGeom prst="rect">
            <a:avLst/>
          </a:prstGeom>
          <a:noFill/>
        </p:spPr>
        <p:txBody>
          <a:bodyPr wrap="square" lIns="0" tIns="0" rIns="0" bIns="0" anchor="t">
            <a:spAutoFit/>
          </a:bodyPr>
          <a:lstStyle/>
          <a:p>
            <a:pPr algn="l">
              <a:lnSpc>
                <a:spcPct val="105000"/>
              </a:lnSpc>
            </a:pPr>
            <a:r>
              <a:rPr sz="1300" b="0" i="0">
                <a:solidFill>
                  <a:srgbClr val="63637E"/>
                </a:solidFill>
                <a:latin typeface="Calibri"/>
              </a:rPr>
              <a:t>Speculatively retrieve and draft verified answers from speech prefixes, before the speaker stops talking.</a:t>
            </a:r>
          </a:p>
        </p:txBody>
      </p:sp>
      <p:sp>
        <p:nvSpPr>
          <p:cNvPr id="113" name="Oval 112"/>
          <p:cNvSpPr/>
          <p:nvPr/>
        </p:nvSpPr>
        <p:spPr>
          <a:xfrm>
            <a:off x="5440680" y="2962656"/>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2</a:t>
            </a:r>
          </a:p>
        </p:txBody>
      </p:sp>
      <p:sp>
        <p:nvSpPr>
          <p:cNvPr id="114" name="TextBox 113"/>
          <p:cNvSpPr txBox="1"/>
          <p:nvPr/>
        </p:nvSpPr>
        <p:spPr>
          <a:xfrm>
            <a:off x="6080760" y="2916936"/>
            <a:ext cx="5303520" cy="320040"/>
          </a:xfrm>
          <a:prstGeom prst="rect">
            <a:avLst/>
          </a:prstGeom>
          <a:noFill/>
        </p:spPr>
        <p:txBody>
          <a:bodyPr wrap="square" lIns="0" tIns="0" rIns="0" bIns="0" anchor="t">
            <a:spAutoFit/>
          </a:bodyPr>
          <a:lstStyle/>
          <a:p>
            <a:pPr algn="l"/>
            <a:r>
              <a:rPr sz="1600" b="1" i="0">
                <a:solidFill>
                  <a:srgbClr val="14142B"/>
                </a:solidFill>
                <a:latin typeface="Calibri"/>
              </a:rPr>
              <a:t>Understand compound questions</a:t>
            </a:r>
          </a:p>
        </p:txBody>
      </p:sp>
      <p:sp>
        <p:nvSpPr>
          <p:cNvPr id="115" name="TextBox 114"/>
          <p:cNvSpPr txBox="1"/>
          <p:nvPr/>
        </p:nvSpPr>
        <p:spPr>
          <a:xfrm>
            <a:off x="6080760" y="3264408"/>
            <a:ext cx="5303520" cy="640080"/>
          </a:xfrm>
          <a:prstGeom prst="rect">
            <a:avLst/>
          </a:prstGeom>
          <a:noFill/>
        </p:spPr>
        <p:txBody>
          <a:bodyPr wrap="square" lIns="0" tIns="0" rIns="0" bIns="0" anchor="t">
            <a:spAutoFit/>
          </a:bodyPr>
          <a:lstStyle/>
          <a:p>
            <a:pPr algn="l">
              <a:lnSpc>
                <a:spcPct val="105000"/>
              </a:lnSpc>
            </a:pPr>
            <a:r>
              <a:rPr sz="1300" b="0" i="0">
                <a:solidFill>
                  <a:srgbClr val="63637E"/>
                </a:solidFill>
                <a:latin typeface="Calibri"/>
              </a:rPr>
              <a:t>Split one utterance into parallel intents instead of one noisy vector search.</a:t>
            </a:r>
          </a:p>
        </p:txBody>
      </p:sp>
      <p:sp>
        <p:nvSpPr>
          <p:cNvPr id="116" name="Oval 115"/>
          <p:cNvSpPr/>
          <p:nvPr/>
        </p:nvSpPr>
        <p:spPr>
          <a:xfrm>
            <a:off x="5440680" y="4096511"/>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a:t>
            </a:r>
          </a:p>
        </p:txBody>
      </p:sp>
      <p:sp>
        <p:nvSpPr>
          <p:cNvPr id="117" name="TextBox 116"/>
          <p:cNvSpPr txBox="1"/>
          <p:nvPr/>
        </p:nvSpPr>
        <p:spPr>
          <a:xfrm>
            <a:off x="6080760" y="4050791"/>
            <a:ext cx="5303520" cy="320040"/>
          </a:xfrm>
          <a:prstGeom prst="rect">
            <a:avLst/>
          </a:prstGeom>
          <a:noFill/>
        </p:spPr>
        <p:txBody>
          <a:bodyPr wrap="square" lIns="0" tIns="0" rIns="0" bIns="0" anchor="t">
            <a:spAutoFit/>
          </a:bodyPr>
          <a:lstStyle/>
          <a:p>
            <a:pPr algn="l"/>
            <a:r>
              <a:rPr sz="1600" b="1" i="0">
                <a:solidFill>
                  <a:srgbClr val="14142B"/>
                </a:solidFill>
                <a:latin typeface="Calibri"/>
              </a:rPr>
              <a:t>Evolve, don't restart</a:t>
            </a:r>
          </a:p>
        </p:txBody>
      </p:sp>
      <p:sp>
        <p:nvSpPr>
          <p:cNvPr id="118" name="TextBox 117"/>
          <p:cNvSpPr txBox="1"/>
          <p:nvPr/>
        </p:nvSpPr>
        <p:spPr>
          <a:xfrm>
            <a:off x="6080760" y="4398264"/>
            <a:ext cx="5303520" cy="640080"/>
          </a:xfrm>
          <a:prstGeom prst="rect">
            <a:avLst/>
          </a:prstGeom>
          <a:noFill/>
        </p:spPr>
        <p:txBody>
          <a:bodyPr wrap="square" lIns="0" tIns="0" rIns="0" bIns="0" anchor="t">
            <a:spAutoFit/>
          </a:bodyPr>
          <a:lstStyle/>
          <a:p>
            <a:pPr algn="l">
              <a:lnSpc>
                <a:spcPct val="105000"/>
              </a:lnSpc>
            </a:pPr>
            <a:r>
              <a:rPr sz="1300" b="0" i="0">
                <a:solidFill>
                  <a:srgbClr val="63637E"/>
                </a:solidFill>
                <a:latin typeface="Calibri"/>
              </a:rPr>
              <a:t>Patch only the claim a late correction affects; keep every other claim byte-identical.</a:t>
            </a:r>
          </a:p>
        </p:txBody>
      </p:sp>
      <p:sp>
        <p:nvSpPr>
          <p:cNvPr id="119" name="Oval 118"/>
          <p:cNvSpPr/>
          <p:nvPr/>
        </p:nvSpPr>
        <p:spPr>
          <a:xfrm>
            <a:off x="5440680" y="5230368"/>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4</a:t>
            </a:r>
          </a:p>
        </p:txBody>
      </p:sp>
      <p:sp>
        <p:nvSpPr>
          <p:cNvPr id="120" name="TextBox 119"/>
          <p:cNvSpPr txBox="1"/>
          <p:nvPr/>
        </p:nvSpPr>
        <p:spPr>
          <a:xfrm>
            <a:off x="6080760" y="5184648"/>
            <a:ext cx="5303520" cy="320040"/>
          </a:xfrm>
          <a:prstGeom prst="rect">
            <a:avLst/>
          </a:prstGeom>
          <a:noFill/>
        </p:spPr>
        <p:txBody>
          <a:bodyPr wrap="square" lIns="0" tIns="0" rIns="0" bIns="0" anchor="t">
            <a:spAutoFit/>
          </a:bodyPr>
          <a:lstStyle/>
          <a:p>
            <a:pPr algn="l"/>
            <a:r>
              <a:rPr sz="1600" b="1" i="0">
                <a:solidFill>
                  <a:srgbClr val="14142B"/>
                </a:solidFill>
                <a:latin typeface="Calibri"/>
              </a:rPr>
              <a:t>Stay grounded and private</a:t>
            </a:r>
          </a:p>
        </p:txBody>
      </p:sp>
      <p:sp>
        <p:nvSpPr>
          <p:cNvPr id="121" name="TextBox 120"/>
          <p:cNvSpPr txBox="1"/>
          <p:nvPr/>
        </p:nvSpPr>
        <p:spPr>
          <a:xfrm>
            <a:off x="6080760" y="5532120"/>
            <a:ext cx="5303520" cy="640080"/>
          </a:xfrm>
          <a:prstGeom prst="rect">
            <a:avLst/>
          </a:prstGeom>
          <a:noFill/>
        </p:spPr>
        <p:txBody>
          <a:bodyPr wrap="square" lIns="0" tIns="0" rIns="0" bIns="0" anchor="t">
            <a:spAutoFit/>
          </a:bodyPr>
          <a:lstStyle/>
          <a:p>
            <a:pPr algn="l">
              <a:lnSpc>
                <a:spcPct val="105000"/>
              </a:lnSpc>
            </a:pPr>
            <a:r>
              <a:rPr sz="1300" b="0" i="0">
                <a:solidFill>
                  <a:srgbClr val="63637E"/>
                </a:solidFill>
                <a:latin typeface="Calibri"/>
              </a:rPr>
              <a:t>Every claim maps to a verbatim source span; the whole pipeline runs locally with zero network.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Existing Solutions &amp; Gaps</a:t>
            </a:r>
            <a:endParaRPr/>
          </a:p>
        </p:txBody>
      </p:sp>
      <p:sp>
        <p:nvSpPr>
          <p:cNvPr id="108" name="TextBox 107"/>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PROBLEM STATEMENT</a:t>
            </a:r>
          </a:p>
        </p:txBody>
      </p:sp>
      <p:sp>
        <p:nvSpPr>
          <p:cNvPr id="109" name="TextBox 108"/>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03 / 12</a:t>
            </a:r>
          </a:p>
        </p:txBody>
      </p:sp>
      <p:sp>
        <p:nvSpPr>
          <p:cNvPr id="110" name="TextBox 109"/>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Conventional voice RAG is sequential: nothing starts until the speaker has finished</a:t>
            </a:r>
          </a:p>
        </p:txBody>
      </p:sp>
      <p:sp>
        <p:nvSpPr>
          <p:cNvPr id="111" name="TextBox 110"/>
          <p:cNvSpPr txBox="1"/>
          <p:nvPr/>
        </p:nvSpPr>
        <p:spPr>
          <a:xfrm>
            <a:off x="822960" y="1737360"/>
            <a:ext cx="5486400" cy="274320"/>
          </a:xfrm>
          <a:prstGeom prst="rect">
            <a:avLst/>
          </a:prstGeom>
          <a:noFill/>
        </p:spPr>
        <p:txBody>
          <a:bodyPr wrap="square" lIns="0" tIns="0" rIns="0" bIns="0" anchor="t">
            <a:spAutoFit/>
          </a:bodyPr>
          <a:lstStyle/>
          <a:p>
            <a:pPr algn="l"/>
            <a:r>
              <a:rPr sz="1100" b="1" i="0">
                <a:solidFill>
                  <a:srgbClr val="63637E"/>
                </a:solidFill>
                <a:latin typeface="Calibri"/>
              </a:rPr>
              <a:t>HOW EXISTING VOICE ASSISTANTS WORK</a:t>
            </a:r>
          </a:p>
        </p:txBody>
      </p:sp>
      <p:sp>
        <p:nvSpPr>
          <p:cNvPr id="112" name="Rounded Rectangle 111"/>
          <p:cNvSpPr/>
          <p:nvPr/>
        </p:nvSpPr>
        <p:spPr>
          <a:xfrm>
            <a:off x="822960" y="2103120"/>
            <a:ext cx="1874519" cy="502920"/>
          </a:xfrm>
          <a:prstGeom prst="roundRect">
            <a:avLst>
              <a:gd name="adj" fmla="val 50000"/>
            </a:avLst>
          </a:prstGeom>
          <a:solidFill>
            <a:srgbClr val="F6F3F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4142B"/>
                </a:solidFill>
                <a:latin typeface="Calibri"/>
              </a:rPr>
              <a:t>Listen until silence</a:t>
            </a:r>
          </a:p>
        </p:txBody>
      </p:sp>
      <p:sp>
        <p:nvSpPr>
          <p:cNvPr id="113" name="Right Arrow 112"/>
          <p:cNvSpPr/>
          <p:nvPr/>
        </p:nvSpPr>
        <p:spPr>
          <a:xfrm>
            <a:off x="2761488" y="2212848"/>
            <a:ext cx="274320" cy="274320"/>
          </a:xfrm>
          <a:prstGeom prst="rightArrow">
            <a:avLst/>
          </a:prstGeom>
          <a:solidFill>
            <a:srgbClr val="D9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p:cNvSpPr/>
          <p:nvPr/>
        </p:nvSpPr>
        <p:spPr>
          <a:xfrm>
            <a:off x="3108960" y="2103120"/>
            <a:ext cx="1874519" cy="502920"/>
          </a:xfrm>
          <a:prstGeom prst="roundRect">
            <a:avLst>
              <a:gd name="adj" fmla="val 50000"/>
            </a:avLst>
          </a:prstGeom>
          <a:solidFill>
            <a:srgbClr val="F6F3F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4142B"/>
                </a:solidFill>
                <a:latin typeface="Calibri"/>
              </a:rPr>
              <a:t>ASR transcript</a:t>
            </a:r>
          </a:p>
        </p:txBody>
      </p:sp>
      <p:sp>
        <p:nvSpPr>
          <p:cNvPr id="115" name="Right Arrow 114"/>
          <p:cNvSpPr/>
          <p:nvPr/>
        </p:nvSpPr>
        <p:spPr>
          <a:xfrm>
            <a:off x="5047488" y="2212848"/>
            <a:ext cx="274320" cy="274320"/>
          </a:xfrm>
          <a:prstGeom prst="rightArrow">
            <a:avLst/>
          </a:prstGeom>
          <a:solidFill>
            <a:srgbClr val="D9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ounded Rectangle 115"/>
          <p:cNvSpPr/>
          <p:nvPr/>
        </p:nvSpPr>
        <p:spPr>
          <a:xfrm>
            <a:off x="5394960" y="2103120"/>
            <a:ext cx="1874519" cy="502920"/>
          </a:xfrm>
          <a:prstGeom prst="roundRect">
            <a:avLst>
              <a:gd name="adj" fmla="val 50000"/>
            </a:avLst>
          </a:prstGeom>
          <a:solidFill>
            <a:srgbClr val="F6F3F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4142B"/>
                </a:solidFill>
                <a:latin typeface="Calibri"/>
              </a:rPr>
              <a:t>Retrieve</a:t>
            </a:r>
          </a:p>
        </p:txBody>
      </p:sp>
      <p:sp>
        <p:nvSpPr>
          <p:cNvPr id="117" name="Right Arrow 116"/>
          <p:cNvSpPr/>
          <p:nvPr/>
        </p:nvSpPr>
        <p:spPr>
          <a:xfrm>
            <a:off x="7333488" y="2212848"/>
            <a:ext cx="274320" cy="274320"/>
          </a:xfrm>
          <a:prstGeom prst="rightArrow">
            <a:avLst/>
          </a:prstGeom>
          <a:solidFill>
            <a:srgbClr val="D9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ounded Rectangle 117"/>
          <p:cNvSpPr/>
          <p:nvPr/>
        </p:nvSpPr>
        <p:spPr>
          <a:xfrm>
            <a:off x="7680960" y="2103120"/>
            <a:ext cx="1874519" cy="502920"/>
          </a:xfrm>
          <a:prstGeom prst="roundRect">
            <a:avLst>
              <a:gd name="adj" fmla="val 50000"/>
            </a:avLst>
          </a:prstGeom>
          <a:solidFill>
            <a:srgbClr val="F6F3F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14142B"/>
                </a:solidFill>
                <a:latin typeface="Calibri"/>
              </a:rPr>
              <a:t>LLM generates</a:t>
            </a:r>
          </a:p>
        </p:txBody>
      </p:sp>
      <p:sp>
        <p:nvSpPr>
          <p:cNvPr id="119" name="Right Arrow 118"/>
          <p:cNvSpPr/>
          <p:nvPr/>
        </p:nvSpPr>
        <p:spPr>
          <a:xfrm>
            <a:off x="9619488" y="2212848"/>
            <a:ext cx="274320" cy="274320"/>
          </a:xfrm>
          <a:prstGeom prst="rightArrow">
            <a:avLst/>
          </a:prstGeom>
          <a:solidFill>
            <a:srgbClr val="D9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ounded Rectangle 119"/>
          <p:cNvSpPr/>
          <p:nvPr/>
        </p:nvSpPr>
        <p:spPr>
          <a:xfrm>
            <a:off x="10040112" y="2103120"/>
            <a:ext cx="1325880" cy="502920"/>
          </a:xfrm>
          <a:prstGeom prst="roundRect">
            <a:avLst>
              <a:gd name="adj" fmla="val 50000"/>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3.7 s p50</a:t>
            </a:r>
          </a:p>
        </p:txBody>
      </p:sp>
      <p:sp>
        <p:nvSpPr>
          <p:cNvPr id="121" name="Rounded Rectangle 120"/>
          <p:cNvSpPr/>
          <p:nvPr/>
        </p:nvSpPr>
        <p:spPr>
          <a:xfrm>
            <a:off x="822960" y="3017520"/>
            <a:ext cx="3319272" cy="237744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TextBox 121"/>
          <p:cNvSpPr txBox="1"/>
          <p:nvPr/>
        </p:nvSpPr>
        <p:spPr>
          <a:xfrm>
            <a:off x="1097280" y="3246120"/>
            <a:ext cx="2770632" cy="548640"/>
          </a:xfrm>
          <a:prstGeom prst="rect">
            <a:avLst/>
          </a:prstGeom>
          <a:noFill/>
        </p:spPr>
        <p:txBody>
          <a:bodyPr wrap="square" lIns="0" tIns="0" rIns="0" bIns="0" anchor="t">
            <a:spAutoFit/>
          </a:bodyPr>
          <a:lstStyle/>
          <a:p>
            <a:pPr algn="l"/>
            <a:r>
              <a:rPr sz="3200" b="1" i="0">
                <a:solidFill>
                  <a:srgbClr val="B45F06"/>
                </a:solidFill>
                <a:latin typeface="Arial"/>
              </a:rPr>
              <a:t>3.5 – 5.0 s</a:t>
            </a:r>
          </a:p>
        </p:txBody>
      </p:sp>
      <p:sp>
        <p:nvSpPr>
          <p:cNvPr id="123" name="TextBox 122"/>
          <p:cNvSpPr txBox="1"/>
          <p:nvPr/>
        </p:nvSpPr>
        <p:spPr>
          <a:xfrm>
            <a:off x="1097280" y="3754119"/>
            <a:ext cx="2770632" cy="320040"/>
          </a:xfrm>
          <a:prstGeom prst="rect">
            <a:avLst/>
          </a:prstGeom>
          <a:noFill/>
        </p:spPr>
        <p:txBody>
          <a:bodyPr wrap="square" lIns="0" tIns="0" rIns="0" bIns="0" anchor="t">
            <a:spAutoFit/>
          </a:bodyPr>
          <a:lstStyle/>
          <a:p>
            <a:pPr algn="l"/>
            <a:r>
              <a:rPr sz="1500" b="1" i="0">
                <a:solidFill>
                  <a:srgbClr val="14142B"/>
                </a:solidFill>
                <a:latin typeface="Calibri"/>
              </a:rPr>
              <a:t>Awkward silence</a:t>
            </a:r>
          </a:p>
        </p:txBody>
      </p:sp>
      <p:sp>
        <p:nvSpPr>
          <p:cNvPr id="124" name="TextBox 123"/>
          <p:cNvSpPr txBox="1"/>
          <p:nvPr/>
        </p:nvSpPr>
        <p:spPr>
          <a:xfrm>
            <a:off x="1097280" y="4138167"/>
            <a:ext cx="2770632" cy="1188720"/>
          </a:xfrm>
          <a:prstGeom prst="rect">
            <a:avLst/>
          </a:prstGeom>
          <a:noFill/>
        </p:spPr>
        <p:txBody>
          <a:bodyPr wrap="square" lIns="0" tIns="0" rIns="0" bIns="0" anchor="t">
            <a:spAutoFit/>
          </a:bodyPr>
          <a:lstStyle/>
          <a:p>
            <a:pPr algn="l">
              <a:lnSpc>
                <a:spcPct val="105000"/>
              </a:lnSpc>
            </a:pPr>
            <a:r>
              <a:rPr sz="1300" b="0" i="0">
                <a:solidFill>
                  <a:srgbClr val="63637E"/>
                </a:solidFill>
                <a:latin typeface="Calibri"/>
              </a:rPr>
              <a:t>Sequential batch processing (listen → ASR → retrieve → LLM) leaves users waiting in complete silence after they speak.</a:t>
            </a:r>
          </a:p>
        </p:txBody>
      </p:sp>
      <p:sp>
        <p:nvSpPr>
          <p:cNvPr id="125" name="Rounded Rectangle 124"/>
          <p:cNvSpPr/>
          <p:nvPr/>
        </p:nvSpPr>
        <p:spPr>
          <a:xfrm>
            <a:off x="4434840" y="3017520"/>
            <a:ext cx="3319272" cy="237744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Box 125"/>
          <p:cNvSpPr txBox="1"/>
          <p:nvPr/>
        </p:nvSpPr>
        <p:spPr>
          <a:xfrm>
            <a:off x="4709159" y="3246120"/>
            <a:ext cx="2770632" cy="548640"/>
          </a:xfrm>
          <a:prstGeom prst="rect">
            <a:avLst/>
          </a:prstGeom>
          <a:noFill/>
        </p:spPr>
        <p:txBody>
          <a:bodyPr wrap="square" lIns="0" tIns="0" rIns="0" bIns="0" anchor="t">
            <a:spAutoFit/>
          </a:bodyPr>
          <a:lstStyle/>
          <a:p>
            <a:pPr algn="l"/>
            <a:r>
              <a:rPr sz="3200" b="1" i="0">
                <a:solidFill>
                  <a:srgbClr val="6D28D9"/>
                </a:solidFill>
                <a:latin typeface="Arial"/>
              </a:rPr>
              <a:t>Fails</a:t>
            </a:r>
          </a:p>
        </p:txBody>
      </p:sp>
      <p:sp>
        <p:nvSpPr>
          <p:cNvPr id="127" name="TextBox 126"/>
          <p:cNvSpPr txBox="1"/>
          <p:nvPr/>
        </p:nvSpPr>
        <p:spPr>
          <a:xfrm>
            <a:off x="4709159" y="3754119"/>
            <a:ext cx="2770632" cy="320040"/>
          </a:xfrm>
          <a:prstGeom prst="rect">
            <a:avLst/>
          </a:prstGeom>
          <a:noFill/>
        </p:spPr>
        <p:txBody>
          <a:bodyPr wrap="square" lIns="0" tIns="0" rIns="0" bIns="0" anchor="t">
            <a:spAutoFit/>
          </a:bodyPr>
          <a:lstStyle/>
          <a:p>
            <a:pPr algn="l"/>
            <a:r>
              <a:rPr sz="1500" b="1" i="0">
                <a:solidFill>
                  <a:srgbClr val="14142B"/>
                </a:solidFill>
                <a:latin typeface="Calibri"/>
              </a:rPr>
              <a:t>On compound questions</a:t>
            </a:r>
          </a:p>
        </p:txBody>
      </p:sp>
      <p:sp>
        <p:nvSpPr>
          <p:cNvPr id="128" name="TextBox 127"/>
          <p:cNvSpPr txBox="1"/>
          <p:nvPr/>
        </p:nvSpPr>
        <p:spPr>
          <a:xfrm>
            <a:off x="4709159" y="4138167"/>
            <a:ext cx="2770632" cy="1188720"/>
          </a:xfrm>
          <a:prstGeom prst="rect">
            <a:avLst/>
          </a:prstGeom>
          <a:noFill/>
        </p:spPr>
        <p:txBody>
          <a:bodyPr wrap="square" lIns="0" tIns="0" rIns="0" bIns="0" anchor="t">
            <a:spAutoFit/>
          </a:bodyPr>
          <a:lstStyle/>
          <a:p>
            <a:pPr algn="l">
              <a:lnSpc>
                <a:spcPct val="105000"/>
              </a:lnSpc>
            </a:pPr>
            <a:r>
              <a:rPr sz="1300" b="0" i="0">
                <a:solidFill>
                  <a:srgbClr val="63637E"/>
                </a:solidFill>
                <a:latin typeface="Calibri"/>
              </a:rPr>
              <a:t>“I need a venue in Pune for 40 people, and what's the refund policy?” is sent as one noisy vector search.</a:t>
            </a:r>
          </a:p>
        </p:txBody>
      </p:sp>
      <p:sp>
        <p:nvSpPr>
          <p:cNvPr id="129" name="Rounded Rectangle 128"/>
          <p:cNvSpPr/>
          <p:nvPr/>
        </p:nvSpPr>
        <p:spPr>
          <a:xfrm>
            <a:off x="8046719" y="3017520"/>
            <a:ext cx="3319272" cy="237744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Box 129"/>
          <p:cNvSpPr txBox="1"/>
          <p:nvPr/>
        </p:nvSpPr>
        <p:spPr>
          <a:xfrm>
            <a:off x="8321040" y="3246120"/>
            <a:ext cx="2770632" cy="548640"/>
          </a:xfrm>
          <a:prstGeom prst="rect">
            <a:avLst/>
          </a:prstGeom>
          <a:noFill/>
        </p:spPr>
        <p:txBody>
          <a:bodyPr wrap="square" lIns="0" tIns="0" rIns="0" bIns="0" anchor="t">
            <a:spAutoFit/>
          </a:bodyPr>
          <a:lstStyle/>
          <a:p>
            <a:pPr algn="l"/>
            <a:r>
              <a:rPr sz="3200" b="1" i="0">
                <a:solidFill>
                  <a:srgbClr val="2F5BD3"/>
                </a:solidFill>
                <a:latin typeface="Arial"/>
              </a:rPr>
              <a:t>100% waste</a:t>
            </a:r>
          </a:p>
        </p:txBody>
      </p:sp>
      <p:sp>
        <p:nvSpPr>
          <p:cNvPr id="131" name="TextBox 130"/>
          <p:cNvSpPr txBox="1"/>
          <p:nvPr/>
        </p:nvSpPr>
        <p:spPr>
          <a:xfrm>
            <a:off x="8321040" y="3754119"/>
            <a:ext cx="2770632" cy="320040"/>
          </a:xfrm>
          <a:prstGeom prst="rect">
            <a:avLst/>
          </a:prstGeom>
          <a:noFill/>
        </p:spPr>
        <p:txBody>
          <a:bodyPr wrap="square" lIns="0" tIns="0" rIns="0" bIns="0" anchor="t">
            <a:spAutoFit/>
          </a:bodyPr>
          <a:lstStyle/>
          <a:p>
            <a:pPr algn="l"/>
            <a:r>
              <a:rPr sz="1500" b="1" i="0">
                <a:solidFill>
                  <a:srgbClr val="14142B"/>
                </a:solidFill>
                <a:latin typeface="Calibri"/>
              </a:rPr>
              <a:t>On detail revisions</a:t>
            </a:r>
          </a:p>
        </p:txBody>
      </p:sp>
      <p:sp>
        <p:nvSpPr>
          <p:cNvPr id="132" name="TextBox 131"/>
          <p:cNvSpPr txBox="1"/>
          <p:nvPr/>
        </p:nvSpPr>
        <p:spPr>
          <a:xfrm>
            <a:off x="8321040" y="4138167"/>
            <a:ext cx="2770632" cy="1188720"/>
          </a:xfrm>
          <a:prstGeom prst="rect">
            <a:avLst/>
          </a:prstGeom>
          <a:noFill/>
        </p:spPr>
        <p:txBody>
          <a:bodyPr wrap="square" lIns="0" tIns="0" rIns="0" bIns="0" anchor="t">
            <a:spAutoFit/>
          </a:bodyPr>
          <a:lstStyle/>
          <a:p>
            <a:pPr algn="l">
              <a:lnSpc>
                <a:spcPct val="105000"/>
              </a:lnSpc>
            </a:pPr>
            <a:r>
              <a:rPr sz="1300" b="0" i="0">
                <a:solidFill>
                  <a:srgbClr val="63637E"/>
                </a:solidFill>
                <a:latin typeface="Calibri"/>
              </a:rPr>
              <a:t>Late self-repairs (“Actually, make that 60 people”) force naive engines to discard state and re-run the whole turn.</a:t>
            </a:r>
          </a:p>
        </p:txBody>
      </p:sp>
      <p:sp>
        <p:nvSpPr>
          <p:cNvPr id="133" name="Rounded Rectangle 132"/>
          <p:cNvSpPr/>
          <p:nvPr/>
        </p:nvSpPr>
        <p:spPr>
          <a:xfrm>
            <a:off x="822960" y="5623560"/>
            <a:ext cx="10543032" cy="594360"/>
          </a:xfrm>
          <a:prstGeom prst="roundRect">
            <a:avLst>
              <a:gd name="adj" fmla="val 2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TextBox 133"/>
          <p:cNvSpPr txBox="1"/>
          <p:nvPr/>
        </p:nvSpPr>
        <p:spPr>
          <a:xfrm>
            <a:off x="1097280" y="5623560"/>
            <a:ext cx="10058400" cy="594360"/>
          </a:xfrm>
          <a:prstGeom prst="rect">
            <a:avLst/>
          </a:prstGeom>
          <a:noFill/>
        </p:spPr>
        <p:txBody>
          <a:bodyPr wrap="square" lIns="0" tIns="0" rIns="0" bIns="0" anchor="ctr">
            <a:spAutoFit/>
          </a:bodyPr>
          <a:lstStyle/>
          <a:p>
            <a:pPr algn="l"/>
            <a:r>
              <a:rPr sz="1400" b="1" i="0">
                <a:solidFill>
                  <a:srgbClr val="FFFFFF"/>
                </a:solidFill>
                <a:latin typeface="Calibri"/>
              </a:rPr>
              <a:t>KAIROS: </a:t>
            </a:r>
            <a:r>
              <a:rPr sz="1400" b="0" i="0">
                <a:solidFill>
                  <a:srgbClr val="FFFFFF"/>
                </a:solidFill>
                <a:latin typeface="Calibri"/>
              </a:rPr>
              <a:t>moves retrieval and answer drafting into the utterance window, so the answer is verified the moment speech stops.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Our Solutions &amp; Architecture Diagram</a:t>
            </a:r>
            <a:endParaRPr/>
          </a:p>
        </p:txBody>
      </p:sp>
      <p:sp>
        <p:nvSpPr>
          <p:cNvPr id="114" name="TextBox 113"/>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SYSTEM ARCHITECTURE</a:t>
            </a:r>
          </a:p>
        </p:txBody>
      </p:sp>
      <p:sp>
        <p:nvSpPr>
          <p:cNvPr id="115" name="TextBox 114"/>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04 / 12</a:t>
            </a:r>
          </a:p>
        </p:txBody>
      </p:sp>
      <p:sp>
        <p:nvSpPr>
          <p:cNvPr id="116" name="TextBox 115"/>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A parsimonious 5-stage pipeline on one asyncio event loop, with no LangChain or LlamaIndex</a:t>
            </a:r>
          </a:p>
        </p:txBody>
      </p:sp>
      <p:sp>
        <p:nvSpPr>
          <p:cNvPr id="119" name="Oval 118"/>
          <p:cNvSpPr/>
          <p:nvPr/>
        </p:nvSpPr>
        <p:spPr>
          <a:xfrm>
            <a:off x="8001000" y="181051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120" name="TextBox 119"/>
          <p:cNvSpPr txBox="1"/>
          <p:nvPr/>
        </p:nvSpPr>
        <p:spPr>
          <a:xfrm>
            <a:off x="8522208" y="1783080"/>
            <a:ext cx="2880360" cy="274320"/>
          </a:xfrm>
          <a:prstGeom prst="rect">
            <a:avLst/>
          </a:prstGeom>
          <a:noFill/>
        </p:spPr>
        <p:txBody>
          <a:bodyPr wrap="square" lIns="0" tIns="0" rIns="0" bIns="0" anchor="t">
            <a:spAutoFit/>
          </a:bodyPr>
          <a:lstStyle/>
          <a:p>
            <a:pPr algn="l"/>
            <a:r>
              <a:rPr sz="1400" b="1" i="0">
                <a:solidFill>
                  <a:srgbClr val="14142B"/>
                </a:solidFill>
                <a:latin typeface="Calibri"/>
              </a:rPr>
              <a:t>Streaming controller</a:t>
            </a:r>
          </a:p>
        </p:txBody>
      </p:sp>
      <p:sp>
        <p:nvSpPr>
          <p:cNvPr id="121" name="TextBox 120"/>
          <p:cNvSpPr txBox="1"/>
          <p:nvPr/>
        </p:nvSpPr>
        <p:spPr>
          <a:xfrm>
            <a:off x="8522208" y="2066543"/>
            <a:ext cx="2880360" cy="548640"/>
          </a:xfrm>
          <a:prstGeom prst="rect">
            <a:avLst/>
          </a:prstGeom>
          <a:noFill/>
        </p:spPr>
        <p:txBody>
          <a:bodyPr wrap="square" lIns="0" tIns="0" rIns="0" bIns="0" anchor="t">
            <a:spAutoFit/>
          </a:bodyPr>
          <a:lstStyle/>
          <a:p>
            <a:pPr algn="l">
              <a:lnSpc>
                <a:spcPct val="100000"/>
              </a:lnSpc>
            </a:pPr>
            <a:r>
              <a:rPr sz="1150" b="0" i="0">
                <a:solidFill>
                  <a:srgbClr val="63637E"/>
                </a:solidFill>
                <a:latin typeface="Calibri"/>
              </a:rPr>
              <a:t>WAIT / RETRIEVE / SUPPRESS per speech chunk in under 1 ms</a:t>
            </a:r>
          </a:p>
        </p:txBody>
      </p:sp>
      <p:sp>
        <p:nvSpPr>
          <p:cNvPr id="122" name="Oval 121"/>
          <p:cNvSpPr/>
          <p:nvPr/>
        </p:nvSpPr>
        <p:spPr>
          <a:xfrm>
            <a:off x="8001000" y="271576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23" name="TextBox 122"/>
          <p:cNvSpPr txBox="1"/>
          <p:nvPr/>
        </p:nvSpPr>
        <p:spPr>
          <a:xfrm>
            <a:off x="8522208" y="2688336"/>
            <a:ext cx="2880360" cy="274320"/>
          </a:xfrm>
          <a:prstGeom prst="rect">
            <a:avLst/>
          </a:prstGeom>
          <a:noFill/>
        </p:spPr>
        <p:txBody>
          <a:bodyPr wrap="square" lIns="0" tIns="0" rIns="0" bIns="0" anchor="t">
            <a:spAutoFit/>
          </a:bodyPr>
          <a:lstStyle/>
          <a:p>
            <a:pPr algn="l"/>
            <a:r>
              <a:rPr sz="1400" b="1" i="0">
                <a:solidFill>
                  <a:srgbClr val="14142B"/>
                </a:solidFill>
                <a:latin typeface="Calibri"/>
              </a:rPr>
              <a:t>Multi-intent decomposer</a:t>
            </a:r>
          </a:p>
        </p:txBody>
      </p:sp>
      <p:sp>
        <p:nvSpPr>
          <p:cNvPr id="124" name="TextBox 123"/>
          <p:cNvSpPr txBox="1"/>
          <p:nvPr/>
        </p:nvSpPr>
        <p:spPr>
          <a:xfrm>
            <a:off x="8522208" y="2971800"/>
            <a:ext cx="2880360" cy="548640"/>
          </a:xfrm>
          <a:prstGeom prst="rect">
            <a:avLst/>
          </a:prstGeom>
          <a:noFill/>
        </p:spPr>
        <p:txBody>
          <a:bodyPr wrap="square" lIns="0" tIns="0" rIns="0" bIns="0" anchor="t">
            <a:spAutoFit/>
          </a:bodyPr>
          <a:lstStyle/>
          <a:p>
            <a:pPr algn="l">
              <a:lnSpc>
                <a:spcPct val="100000"/>
              </a:lnSpc>
            </a:pPr>
            <a:r>
              <a:rPr sz="1150" b="0" i="0">
                <a:solidFill>
                  <a:srgbClr val="63637E"/>
                </a:solidFill>
                <a:latin typeface="Calibri"/>
              </a:rPr>
              <a:t>Strips disfluencies, splits into ≤ 4 parallel legs</a:t>
            </a:r>
          </a:p>
        </p:txBody>
      </p:sp>
      <p:sp>
        <p:nvSpPr>
          <p:cNvPr id="125" name="Oval 124"/>
          <p:cNvSpPr/>
          <p:nvPr/>
        </p:nvSpPr>
        <p:spPr>
          <a:xfrm>
            <a:off x="8001000" y="3621023"/>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26" name="TextBox 125"/>
          <p:cNvSpPr txBox="1"/>
          <p:nvPr/>
        </p:nvSpPr>
        <p:spPr>
          <a:xfrm>
            <a:off x="8522208" y="3593591"/>
            <a:ext cx="2880360" cy="274320"/>
          </a:xfrm>
          <a:prstGeom prst="rect">
            <a:avLst/>
          </a:prstGeom>
          <a:noFill/>
        </p:spPr>
        <p:txBody>
          <a:bodyPr wrap="square" lIns="0" tIns="0" rIns="0" bIns="0" anchor="t">
            <a:spAutoFit/>
          </a:bodyPr>
          <a:lstStyle/>
          <a:p>
            <a:pPr algn="l"/>
            <a:r>
              <a:rPr sz="1400" b="1" i="0">
                <a:solidFill>
                  <a:srgbClr val="14142B"/>
                </a:solidFill>
                <a:latin typeface="Calibri"/>
              </a:rPr>
              <a:t>Hybrid retrieval</a:t>
            </a:r>
          </a:p>
        </p:txBody>
      </p:sp>
      <p:sp>
        <p:nvSpPr>
          <p:cNvPr id="127" name="TextBox 126"/>
          <p:cNvSpPr txBox="1"/>
          <p:nvPr/>
        </p:nvSpPr>
        <p:spPr>
          <a:xfrm>
            <a:off x="8522208" y="3877055"/>
            <a:ext cx="2880360" cy="548640"/>
          </a:xfrm>
          <a:prstGeom prst="rect">
            <a:avLst/>
          </a:prstGeom>
          <a:noFill/>
        </p:spPr>
        <p:txBody>
          <a:bodyPr wrap="square" lIns="0" tIns="0" rIns="0" bIns="0" anchor="t">
            <a:spAutoFit/>
          </a:bodyPr>
          <a:lstStyle/>
          <a:p>
            <a:pPr algn="l">
              <a:lnSpc>
                <a:spcPct val="100000"/>
              </a:lnSpc>
            </a:pPr>
            <a:r>
              <a:rPr sz="1150" b="0" i="0">
                <a:solidFill>
                  <a:srgbClr val="63637E"/>
                </a:solidFill>
                <a:latin typeface="Calibri"/>
              </a:rPr>
              <a:t>BGE-small dense + BM25 sparse, 400 ms deadline</a:t>
            </a:r>
          </a:p>
        </p:txBody>
      </p:sp>
      <p:sp>
        <p:nvSpPr>
          <p:cNvPr id="128" name="Oval 127"/>
          <p:cNvSpPr/>
          <p:nvPr/>
        </p:nvSpPr>
        <p:spPr>
          <a:xfrm>
            <a:off x="8001000" y="452628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29" name="TextBox 128"/>
          <p:cNvSpPr txBox="1"/>
          <p:nvPr/>
        </p:nvSpPr>
        <p:spPr>
          <a:xfrm>
            <a:off x="8522208" y="4498848"/>
            <a:ext cx="2880360" cy="274320"/>
          </a:xfrm>
          <a:prstGeom prst="rect">
            <a:avLst/>
          </a:prstGeom>
          <a:noFill/>
        </p:spPr>
        <p:txBody>
          <a:bodyPr wrap="square" lIns="0" tIns="0" rIns="0" bIns="0" anchor="t">
            <a:spAutoFit/>
          </a:bodyPr>
          <a:lstStyle/>
          <a:p>
            <a:pPr algn="l"/>
            <a:r>
              <a:rPr sz="1400" b="1" i="0">
                <a:solidFill>
                  <a:srgbClr val="14142B"/>
                </a:solidFill>
                <a:latin typeface="Calibri"/>
              </a:rPr>
              <a:t>Rank fusion</a:t>
            </a:r>
          </a:p>
        </p:txBody>
      </p:sp>
      <p:sp>
        <p:nvSpPr>
          <p:cNvPr id="130" name="TextBox 129"/>
          <p:cNvSpPr txBox="1"/>
          <p:nvPr/>
        </p:nvSpPr>
        <p:spPr>
          <a:xfrm>
            <a:off x="8522208" y="4782312"/>
            <a:ext cx="2880360" cy="548640"/>
          </a:xfrm>
          <a:prstGeom prst="rect">
            <a:avLst/>
          </a:prstGeom>
          <a:noFill/>
        </p:spPr>
        <p:txBody>
          <a:bodyPr wrap="square" lIns="0" tIns="0" rIns="0" bIns="0" anchor="t">
            <a:spAutoFit/>
          </a:bodyPr>
          <a:lstStyle/>
          <a:p>
            <a:pPr algn="l">
              <a:lnSpc>
                <a:spcPct val="100000"/>
              </a:lnSpc>
            </a:pPr>
            <a:r>
              <a:rPr sz="1150" b="0" i="0">
                <a:solidFill>
                  <a:srgbClr val="63637E"/>
                </a:solidFill>
                <a:latin typeface="Calibri"/>
              </a:rPr>
              <a:t>Reciprocal Rank Fusion (k = 60) + dedup</a:t>
            </a:r>
          </a:p>
        </p:txBody>
      </p:sp>
      <p:sp>
        <p:nvSpPr>
          <p:cNvPr id="131" name="Oval 130"/>
          <p:cNvSpPr/>
          <p:nvPr/>
        </p:nvSpPr>
        <p:spPr>
          <a:xfrm>
            <a:off x="8001000" y="5431536"/>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5</a:t>
            </a:r>
          </a:p>
        </p:txBody>
      </p:sp>
      <p:sp>
        <p:nvSpPr>
          <p:cNvPr id="132" name="TextBox 131"/>
          <p:cNvSpPr txBox="1"/>
          <p:nvPr/>
        </p:nvSpPr>
        <p:spPr>
          <a:xfrm>
            <a:off x="8522208" y="5404104"/>
            <a:ext cx="2880360" cy="274320"/>
          </a:xfrm>
          <a:prstGeom prst="rect">
            <a:avLst/>
          </a:prstGeom>
          <a:noFill/>
        </p:spPr>
        <p:txBody>
          <a:bodyPr wrap="square" lIns="0" tIns="0" rIns="0" bIns="0" anchor="t">
            <a:spAutoFit/>
          </a:bodyPr>
          <a:lstStyle/>
          <a:p>
            <a:pPr algn="l"/>
            <a:r>
              <a:rPr sz="1400" b="1" i="0">
                <a:solidFill>
                  <a:srgbClr val="14142B"/>
                </a:solidFill>
                <a:latin typeface="Calibri"/>
              </a:rPr>
              <a:t>Two-speed synthesis</a:t>
            </a:r>
          </a:p>
        </p:txBody>
      </p:sp>
      <p:sp>
        <p:nvSpPr>
          <p:cNvPr id="133" name="TextBox 132"/>
          <p:cNvSpPr txBox="1"/>
          <p:nvPr/>
        </p:nvSpPr>
        <p:spPr>
          <a:xfrm>
            <a:off x="8522208" y="5687568"/>
            <a:ext cx="2880360" cy="548640"/>
          </a:xfrm>
          <a:prstGeom prst="rect">
            <a:avLst/>
          </a:prstGeom>
          <a:noFill/>
        </p:spPr>
        <p:txBody>
          <a:bodyPr wrap="square" lIns="0" tIns="0" rIns="0" bIns="0" anchor="t">
            <a:spAutoFit/>
          </a:bodyPr>
          <a:lstStyle/>
          <a:p>
            <a:pPr algn="l">
              <a:lnSpc>
                <a:spcPct val="100000"/>
              </a:lnSpc>
            </a:pPr>
            <a:r>
              <a:rPr sz="1150" b="0" i="0">
                <a:solidFill>
                  <a:srgbClr val="63637E"/>
                </a:solidFill>
                <a:latin typeface="Calibri"/>
              </a:rPr>
              <a:t>&lt; 1 ms extractive, then &lt; 820 ms grounded rewrite behind gate G4</a:t>
            </a:r>
          </a:p>
        </p:txBody>
      </p:sp>
      <p:pic>
        <p:nvPicPr>
          <p:cNvPr id="3" name="Picture 2">
            <a:extLst>
              <a:ext uri="{FF2B5EF4-FFF2-40B4-BE49-F238E27FC236}">
                <a16:creationId xmlns:a16="http://schemas.microsoft.com/office/drawing/2014/main" id="{789C4DD6-A06B-EF4E-B22D-711E5B88097F}"/>
              </a:ext>
            </a:extLst>
          </p:cNvPr>
          <p:cNvPicPr>
            <a:picLocks noChangeAspect="1"/>
          </p:cNvPicPr>
          <p:nvPr/>
        </p:nvPicPr>
        <p:blipFill>
          <a:blip r:embed="rId3"/>
          <a:srcRect l="2609" t="4227" r="1049" b="6414"/>
          <a:stretch>
            <a:fillRect/>
          </a:stretch>
        </p:blipFill>
        <p:spPr>
          <a:xfrm>
            <a:off x="731520" y="1711893"/>
            <a:ext cx="6827208" cy="410369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Demo &amp; Product Walkthrough</a:t>
            </a:r>
            <a:endParaRPr/>
          </a:p>
        </p:txBody>
      </p:sp>
      <p:sp>
        <p:nvSpPr>
          <p:cNvPr id="120" name="TextBox 119"/>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DEMO SCENARIO 2 · BUSINESS TRAVEL EXPENSE POLICY (DOC_05)</a:t>
            </a:r>
          </a:p>
        </p:txBody>
      </p:sp>
      <p:sp>
        <p:nvSpPr>
          <p:cNvPr id="121" name="TextBox 120"/>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05 / 12</a:t>
            </a:r>
          </a:p>
        </p:txBody>
      </p:sp>
      <p:sp>
        <p:nvSpPr>
          <p:cNvPr id="122" name="TextBox 121"/>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One conversation, three turns: decompose, evolve in place, restructure without searching</a:t>
            </a:r>
          </a:p>
        </p:txBody>
      </p:sp>
      <p:sp>
        <p:nvSpPr>
          <p:cNvPr id="123" name="Rounded Rectangle 122"/>
          <p:cNvSpPr/>
          <p:nvPr/>
        </p:nvSpPr>
        <p:spPr>
          <a:xfrm>
            <a:off x="822960" y="1783080"/>
            <a:ext cx="3246120" cy="292608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TextBox 123"/>
          <p:cNvSpPr txBox="1"/>
          <p:nvPr/>
        </p:nvSpPr>
        <p:spPr>
          <a:xfrm>
            <a:off x="1097280" y="1965960"/>
            <a:ext cx="1371600" cy="274320"/>
          </a:xfrm>
          <a:prstGeom prst="rect">
            <a:avLst/>
          </a:prstGeom>
          <a:noFill/>
        </p:spPr>
        <p:txBody>
          <a:bodyPr wrap="square" lIns="0" tIns="0" rIns="0" bIns="0" anchor="t">
            <a:spAutoFit/>
          </a:bodyPr>
          <a:lstStyle/>
          <a:p>
            <a:pPr algn="l"/>
            <a:r>
              <a:rPr sz="1100" b="1" i="0">
                <a:solidFill>
                  <a:srgbClr val="6D28D9"/>
                </a:solidFill>
                <a:latin typeface="Calibri"/>
              </a:rPr>
              <a:t>TURN 1</a:t>
            </a:r>
          </a:p>
        </p:txBody>
      </p:sp>
      <p:sp>
        <p:nvSpPr>
          <p:cNvPr id="125" name="Rounded Rectangle 124"/>
          <p:cNvSpPr/>
          <p:nvPr/>
        </p:nvSpPr>
        <p:spPr>
          <a:xfrm>
            <a:off x="2560320" y="1938528"/>
            <a:ext cx="1234440" cy="292608"/>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RETRIEVE ×2</a:t>
            </a:r>
          </a:p>
        </p:txBody>
      </p:sp>
      <p:sp>
        <p:nvSpPr>
          <p:cNvPr id="126" name="TextBox 125"/>
          <p:cNvSpPr txBox="1"/>
          <p:nvPr/>
        </p:nvSpPr>
        <p:spPr>
          <a:xfrm>
            <a:off x="1097280" y="2304288"/>
            <a:ext cx="2697479" cy="320040"/>
          </a:xfrm>
          <a:prstGeom prst="rect">
            <a:avLst/>
          </a:prstGeom>
          <a:noFill/>
        </p:spPr>
        <p:txBody>
          <a:bodyPr wrap="square" lIns="0" tIns="0" rIns="0" bIns="0" anchor="t">
            <a:spAutoFit/>
          </a:bodyPr>
          <a:lstStyle/>
          <a:p>
            <a:pPr algn="l"/>
            <a:r>
              <a:rPr sz="1600" b="1" i="0">
                <a:solidFill>
                  <a:srgbClr val="14142B"/>
                </a:solidFill>
                <a:latin typeface="Calibri"/>
              </a:rPr>
              <a:t>Compound query</a:t>
            </a:r>
          </a:p>
        </p:txBody>
      </p:sp>
      <p:sp>
        <p:nvSpPr>
          <p:cNvPr id="127" name="TextBox 126"/>
          <p:cNvSpPr txBox="1"/>
          <p:nvPr/>
        </p:nvSpPr>
        <p:spPr>
          <a:xfrm>
            <a:off x="1097280" y="2697480"/>
            <a:ext cx="2697479" cy="868680"/>
          </a:xfrm>
          <a:prstGeom prst="rect">
            <a:avLst/>
          </a:prstGeom>
          <a:noFill/>
        </p:spPr>
        <p:txBody>
          <a:bodyPr wrap="square" lIns="0" tIns="0" rIns="0" bIns="0" anchor="t">
            <a:spAutoFit/>
          </a:bodyPr>
          <a:lstStyle/>
          <a:p>
            <a:pPr algn="l">
              <a:lnSpc>
                <a:spcPct val="105000"/>
              </a:lnSpc>
            </a:pPr>
            <a:r>
              <a:rPr sz="1250" b="0" i="1">
                <a:solidFill>
                  <a:srgbClr val="14142B"/>
                </a:solidFill>
                <a:latin typeface="Calibri"/>
              </a:rPr>
              <a:t>“What is the filing deadline for domestic travel expenses, and what currency rate applies?”</a:t>
            </a:r>
          </a:p>
        </p:txBody>
      </p:sp>
      <p:sp>
        <p:nvSpPr>
          <p:cNvPr id="128" name="TextBox 127"/>
          <p:cNvSpPr txBox="1"/>
          <p:nvPr/>
        </p:nvSpPr>
        <p:spPr>
          <a:xfrm>
            <a:off x="1097280" y="3611880"/>
            <a:ext cx="2697479" cy="100584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Decomposed into Leg A (deadline) and Leg B (currency); both retrieved and answered concurrently.</a:t>
            </a:r>
          </a:p>
        </p:txBody>
      </p:sp>
      <p:sp>
        <p:nvSpPr>
          <p:cNvPr id="129" name="Right Arrow 128"/>
          <p:cNvSpPr/>
          <p:nvPr/>
        </p:nvSpPr>
        <p:spPr>
          <a:xfrm>
            <a:off x="4142232" y="3108960"/>
            <a:ext cx="365760" cy="274320"/>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ounded Rectangle 129"/>
          <p:cNvSpPr/>
          <p:nvPr/>
        </p:nvSpPr>
        <p:spPr>
          <a:xfrm>
            <a:off x="4581144" y="1783080"/>
            <a:ext cx="3246120" cy="292608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TextBox 130"/>
          <p:cNvSpPr txBox="1"/>
          <p:nvPr/>
        </p:nvSpPr>
        <p:spPr>
          <a:xfrm>
            <a:off x="4855464" y="1965960"/>
            <a:ext cx="1371600" cy="274320"/>
          </a:xfrm>
          <a:prstGeom prst="rect">
            <a:avLst/>
          </a:prstGeom>
          <a:noFill/>
        </p:spPr>
        <p:txBody>
          <a:bodyPr wrap="square" lIns="0" tIns="0" rIns="0" bIns="0" anchor="t">
            <a:spAutoFit/>
          </a:bodyPr>
          <a:lstStyle/>
          <a:p>
            <a:pPr algn="l"/>
            <a:r>
              <a:rPr sz="1100" b="1" i="0">
                <a:solidFill>
                  <a:srgbClr val="0F8A78"/>
                </a:solidFill>
                <a:latin typeface="Calibri"/>
              </a:rPr>
              <a:t>TURN 2</a:t>
            </a:r>
          </a:p>
        </p:txBody>
      </p:sp>
      <p:sp>
        <p:nvSpPr>
          <p:cNvPr id="132" name="Rounded Rectangle 131"/>
          <p:cNvSpPr/>
          <p:nvPr/>
        </p:nvSpPr>
        <p:spPr>
          <a:xfrm>
            <a:off x="6318503" y="1938528"/>
            <a:ext cx="1234440" cy="292608"/>
          </a:xfrm>
          <a:prstGeom prst="roundRect">
            <a:avLst>
              <a:gd name="adj" fmla="val 50000"/>
            </a:avLst>
          </a:prstGeom>
          <a:solidFill>
            <a:srgbClr val="0F8A7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PATCH 1 claim</a:t>
            </a:r>
          </a:p>
        </p:txBody>
      </p:sp>
      <p:sp>
        <p:nvSpPr>
          <p:cNvPr id="133" name="TextBox 132"/>
          <p:cNvSpPr txBox="1"/>
          <p:nvPr/>
        </p:nvSpPr>
        <p:spPr>
          <a:xfrm>
            <a:off x="4855464" y="2304288"/>
            <a:ext cx="2697479" cy="320040"/>
          </a:xfrm>
          <a:prstGeom prst="rect">
            <a:avLst/>
          </a:prstGeom>
          <a:noFill/>
        </p:spPr>
        <p:txBody>
          <a:bodyPr wrap="square" lIns="0" tIns="0" rIns="0" bIns="0" anchor="t">
            <a:spAutoFit/>
          </a:bodyPr>
          <a:lstStyle/>
          <a:p>
            <a:pPr algn="l"/>
            <a:r>
              <a:rPr sz="1600" b="1" i="0">
                <a:solidFill>
                  <a:srgbClr val="14142B"/>
                </a:solidFill>
                <a:latin typeface="Calibri"/>
              </a:rPr>
              <a:t>Late refinement</a:t>
            </a:r>
          </a:p>
        </p:txBody>
      </p:sp>
      <p:sp>
        <p:nvSpPr>
          <p:cNvPr id="134" name="TextBox 133"/>
          <p:cNvSpPr txBox="1"/>
          <p:nvPr/>
        </p:nvSpPr>
        <p:spPr>
          <a:xfrm>
            <a:off x="4855464" y="2697480"/>
            <a:ext cx="2697479" cy="868680"/>
          </a:xfrm>
          <a:prstGeom prst="rect">
            <a:avLst/>
          </a:prstGeom>
          <a:noFill/>
        </p:spPr>
        <p:txBody>
          <a:bodyPr wrap="square" lIns="0" tIns="0" rIns="0" bIns="0" anchor="t">
            <a:spAutoFit/>
          </a:bodyPr>
          <a:lstStyle/>
          <a:p>
            <a:pPr algn="l">
              <a:lnSpc>
                <a:spcPct val="105000"/>
              </a:lnSpc>
            </a:pPr>
            <a:r>
              <a:rPr sz="1250" b="0" i="1">
                <a:solidFill>
                  <a:srgbClr val="14142B"/>
                </a:solidFill>
                <a:latin typeface="Calibri"/>
              </a:rPr>
              <a:t>“Actually, what if the trip was international?”</a:t>
            </a:r>
          </a:p>
        </p:txBody>
      </p:sp>
      <p:sp>
        <p:nvSpPr>
          <p:cNvPr id="135" name="TextBox 134"/>
          <p:cNvSpPr txBox="1"/>
          <p:nvPr/>
        </p:nvSpPr>
        <p:spPr>
          <a:xfrm>
            <a:off x="4855464" y="3611880"/>
            <a:ext cx="2697479" cy="100584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Patches only Claim 2 (currency). Claim 1 (deadline) stays byte-identical; gate G5 passes.</a:t>
            </a:r>
          </a:p>
        </p:txBody>
      </p:sp>
      <p:sp>
        <p:nvSpPr>
          <p:cNvPr id="136" name="Right Arrow 135"/>
          <p:cNvSpPr/>
          <p:nvPr/>
        </p:nvSpPr>
        <p:spPr>
          <a:xfrm>
            <a:off x="7900415" y="3108960"/>
            <a:ext cx="365760" cy="274320"/>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ounded Rectangle 136"/>
          <p:cNvSpPr/>
          <p:nvPr/>
        </p:nvSpPr>
        <p:spPr>
          <a:xfrm>
            <a:off x="8339327" y="1783080"/>
            <a:ext cx="3246120" cy="292608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TextBox 137"/>
          <p:cNvSpPr txBox="1"/>
          <p:nvPr/>
        </p:nvSpPr>
        <p:spPr>
          <a:xfrm>
            <a:off x="8613648" y="1965960"/>
            <a:ext cx="1371600" cy="274320"/>
          </a:xfrm>
          <a:prstGeom prst="rect">
            <a:avLst/>
          </a:prstGeom>
          <a:noFill/>
        </p:spPr>
        <p:txBody>
          <a:bodyPr wrap="square" lIns="0" tIns="0" rIns="0" bIns="0" anchor="t">
            <a:spAutoFit/>
          </a:bodyPr>
          <a:lstStyle/>
          <a:p>
            <a:pPr algn="l"/>
            <a:r>
              <a:rPr sz="1100" b="1" i="0">
                <a:solidFill>
                  <a:srgbClr val="2F5BD3"/>
                </a:solidFill>
                <a:latin typeface="Calibri"/>
              </a:rPr>
              <a:t>TURN 3</a:t>
            </a:r>
          </a:p>
        </p:txBody>
      </p:sp>
      <p:sp>
        <p:nvSpPr>
          <p:cNvPr id="139" name="Rounded Rectangle 138"/>
          <p:cNvSpPr/>
          <p:nvPr/>
        </p:nvSpPr>
        <p:spPr>
          <a:xfrm>
            <a:off x="10076687" y="1938528"/>
            <a:ext cx="1234440" cy="292608"/>
          </a:xfrm>
          <a:prstGeom prst="roundRect">
            <a:avLst>
              <a:gd name="adj" fmla="val 50000"/>
            </a:avLst>
          </a:prstGeom>
          <a:solidFill>
            <a:srgbClr val="2F5BD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0 searches</a:t>
            </a:r>
          </a:p>
        </p:txBody>
      </p:sp>
      <p:sp>
        <p:nvSpPr>
          <p:cNvPr id="140" name="TextBox 139"/>
          <p:cNvSpPr txBox="1"/>
          <p:nvPr/>
        </p:nvSpPr>
        <p:spPr>
          <a:xfrm>
            <a:off x="8613648" y="2304288"/>
            <a:ext cx="2697479" cy="320040"/>
          </a:xfrm>
          <a:prstGeom prst="rect">
            <a:avLst/>
          </a:prstGeom>
          <a:noFill/>
        </p:spPr>
        <p:txBody>
          <a:bodyPr wrap="square" lIns="0" tIns="0" rIns="0" bIns="0" anchor="t">
            <a:spAutoFit/>
          </a:bodyPr>
          <a:lstStyle/>
          <a:p>
            <a:pPr algn="l"/>
            <a:r>
              <a:rPr sz="1600" b="1" i="0">
                <a:solidFill>
                  <a:srgbClr val="14142B"/>
                </a:solidFill>
                <a:latin typeface="Calibri"/>
              </a:rPr>
              <a:t>Presentation restructure</a:t>
            </a:r>
          </a:p>
        </p:txBody>
      </p:sp>
      <p:sp>
        <p:nvSpPr>
          <p:cNvPr id="141" name="TextBox 140"/>
          <p:cNvSpPr txBox="1"/>
          <p:nvPr/>
        </p:nvSpPr>
        <p:spPr>
          <a:xfrm>
            <a:off x="8613648" y="2697480"/>
            <a:ext cx="2697479" cy="868680"/>
          </a:xfrm>
          <a:prstGeom prst="rect">
            <a:avLst/>
          </a:prstGeom>
          <a:noFill/>
        </p:spPr>
        <p:txBody>
          <a:bodyPr wrap="square" lIns="0" tIns="0" rIns="0" bIns="0" anchor="t">
            <a:spAutoFit/>
          </a:bodyPr>
          <a:lstStyle/>
          <a:p>
            <a:pPr algn="l">
              <a:lnSpc>
                <a:spcPct val="105000"/>
              </a:lnSpc>
            </a:pPr>
            <a:r>
              <a:rPr sz="1250" b="0" i="1">
                <a:solidFill>
                  <a:srgbClr val="14142B"/>
                </a:solidFill>
                <a:latin typeface="Calibri"/>
              </a:rPr>
              <a:t>“Show that as bullet points.”</a:t>
            </a:r>
          </a:p>
        </p:txBody>
      </p:sp>
      <p:sp>
        <p:nvSpPr>
          <p:cNvPr id="142" name="TextBox 141"/>
          <p:cNvSpPr txBox="1"/>
          <p:nvPr/>
        </p:nvSpPr>
        <p:spPr>
          <a:xfrm>
            <a:off x="8613648" y="3611880"/>
            <a:ext cx="2697479" cy="100584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Controller emits SUPPRESS: zero search calls, the answer is reformatted in memory.</a:t>
            </a:r>
          </a:p>
        </p:txBody>
      </p:sp>
      <p:sp>
        <p:nvSpPr>
          <p:cNvPr id="143" name="TextBox 142"/>
          <p:cNvSpPr txBox="1"/>
          <p:nvPr/>
        </p:nvSpPr>
        <p:spPr>
          <a:xfrm>
            <a:off x="822960" y="4937760"/>
            <a:ext cx="5486400" cy="274320"/>
          </a:xfrm>
          <a:prstGeom prst="rect">
            <a:avLst/>
          </a:prstGeom>
          <a:noFill/>
        </p:spPr>
        <p:txBody>
          <a:bodyPr wrap="square" lIns="0" tIns="0" rIns="0" bIns="0" anchor="t">
            <a:spAutoFit/>
          </a:bodyPr>
          <a:lstStyle/>
          <a:p>
            <a:pPr algn="l"/>
            <a:r>
              <a:rPr sz="1100" b="1" i="0">
                <a:solidFill>
                  <a:srgbClr val="63637E"/>
                </a:solidFill>
                <a:latin typeface="Calibri"/>
              </a:rPr>
              <a:t>PRODUCT WALKTHROUGH · CALM PRECISION UI</a:t>
            </a:r>
          </a:p>
        </p:txBody>
      </p:sp>
      <p:sp>
        <p:nvSpPr>
          <p:cNvPr id="144" name="Rounded Rectangle 143"/>
          <p:cNvSpPr/>
          <p:nvPr/>
        </p:nvSpPr>
        <p:spPr>
          <a:xfrm>
            <a:off x="822960" y="5257800"/>
            <a:ext cx="2464308" cy="9601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1005840" y="5349240"/>
            <a:ext cx="2098548" cy="274320"/>
          </a:xfrm>
          <a:prstGeom prst="rect">
            <a:avLst/>
          </a:prstGeom>
          <a:noFill/>
        </p:spPr>
        <p:txBody>
          <a:bodyPr wrap="square" lIns="0" tIns="0" rIns="0" bIns="0" anchor="t">
            <a:spAutoFit/>
          </a:bodyPr>
          <a:lstStyle/>
          <a:p>
            <a:pPr algn="l"/>
            <a:r>
              <a:rPr sz="1250" b="1" i="0">
                <a:solidFill>
                  <a:srgbClr val="704EA6"/>
                </a:solidFill>
                <a:latin typeface="Calibri"/>
              </a:rPr>
              <a:t>Board 6: Ask / Home</a:t>
            </a:r>
          </a:p>
        </p:txBody>
      </p:sp>
      <p:sp>
        <p:nvSpPr>
          <p:cNvPr id="146" name="TextBox 145"/>
          <p:cNvSpPr txBox="1"/>
          <p:nvPr/>
        </p:nvSpPr>
        <p:spPr>
          <a:xfrm>
            <a:off x="1005840" y="5641848"/>
            <a:ext cx="2098548" cy="548640"/>
          </a:xfrm>
          <a:prstGeom prst="rect">
            <a:avLst/>
          </a:prstGeom>
          <a:noFill/>
        </p:spPr>
        <p:txBody>
          <a:bodyPr wrap="square" lIns="0" tIns="0" rIns="0" bIns="0" anchor="t">
            <a:spAutoFit/>
          </a:bodyPr>
          <a:lstStyle/>
          <a:p>
            <a:pPr algn="l">
              <a:lnSpc>
                <a:spcPct val="100000"/>
              </a:lnSpc>
            </a:pPr>
            <a:r>
              <a:rPr sz="1050" b="0" i="0">
                <a:solidFill>
                  <a:srgbClr val="63637E"/>
                </a:solidFill>
                <a:latin typeface="Calibri"/>
              </a:rPr>
              <a:t>Mic orb + 3 guided scenario cards for one-click replay</a:t>
            </a:r>
          </a:p>
        </p:txBody>
      </p:sp>
      <p:sp>
        <p:nvSpPr>
          <p:cNvPr id="147" name="Rounded Rectangle 146"/>
          <p:cNvSpPr/>
          <p:nvPr/>
        </p:nvSpPr>
        <p:spPr>
          <a:xfrm>
            <a:off x="3515868" y="5257800"/>
            <a:ext cx="2464308" cy="9601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TextBox 147"/>
          <p:cNvSpPr txBox="1"/>
          <p:nvPr/>
        </p:nvSpPr>
        <p:spPr>
          <a:xfrm>
            <a:off x="3698748" y="5349240"/>
            <a:ext cx="2098548" cy="274320"/>
          </a:xfrm>
          <a:prstGeom prst="rect">
            <a:avLst/>
          </a:prstGeom>
          <a:noFill/>
        </p:spPr>
        <p:txBody>
          <a:bodyPr wrap="square" lIns="0" tIns="0" rIns="0" bIns="0" anchor="t">
            <a:spAutoFit/>
          </a:bodyPr>
          <a:lstStyle/>
          <a:p>
            <a:pPr algn="l"/>
            <a:r>
              <a:rPr sz="1250" b="1" i="0">
                <a:solidFill>
                  <a:srgbClr val="704EA6"/>
                </a:solidFill>
                <a:latin typeface="Calibri"/>
              </a:rPr>
              <a:t>Board 7: Live Conversation</a:t>
            </a:r>
          </a:p>
        </p:txBody>
      </p:sp>
      <p:sp>
        <p:nvSpPr>
          <p:cNvPr id="149" name="TextBox 148"/>
          <p:cNvSpPr txBox="1"/>
          <p:nvPr/>
        </p:nvSpPr>
        <p:spPr>
          <a:xfrm>
            <a:off x="3698748" y="5641848"/>
            <a:ext cx="2098548" cy="548640"/>
          </a:xfrm>
          <a:prstGeom prst="rect">
            <a:avLst/>
          </a:prstGeom>
          <a:noFill/>
        </p:spPr>
        <p:txBody>
          <a:bodyPr wrap="square" lIns="0" tIns="0" rIns="0" bIns="0" anchor="t">
            <a:spAutoFit/>
          </a:bodyPr>
          <a:lstStyle/>
          <a:p>
            <a:pPr algn="l">
              <a:lnSpc>
                <a:spcPct val="100000"/>
              </a:lnSpc>
            </a:pPr>
            <a:r>
              <a:rPr sz="1050" b="0" i="0">
                <a:solidFill>
                  <a:srgbClr val="63637E"/>
                </a:solidFill>
                <a:latin typeface="Calibri"/>
              </a:rPr>
              <a:t>Colour-threaded intents, verified-sentence counter, quote drawer</a:t>
            </a:r>
          </a:p>
        </p:txBody>
      </p:sp>
      <p:sp>
        <p:nvSpPr>
          <p:cNvPr id="150" name="Rounded Rectangle 149"/>
          <p:cNvSpPr/>
          <p:nvPr/>
        </p:nvSpPr>
        <p:spPr>
          <a:xfrm>
            <a:off x="6208775" y="5257800"/>
            <a:ext cx="2464308" cy="9601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TextBox 150"/>
          <p:cNvSpPr txBox="1"/>
          <p:nvPr/>
        </p:nvSpPr>
        <p:spPr>
          <a:xfrm>
            <a:off x="6391655" y="5349240"/>
            <a:ext cx="2098548" cy="274320"/>
          </a:xfrm>
          <a:prstGeom prst="rect">
            <a:avLst/>
          </a:prstGeom>
          <a:noFill/>
        </p:spPr>
        <p:txBody>
          <a:bodyPr wrap="square" lIns="0" tIns="0" rIns="0" bIns="0" anchor="t">
            <a:spAutoFit/>
          </a:bodyPr>
          <a:lstStyle/>
          <a:p>
            <a:pPr algn="l"/>
            <a:r>
              <a:rPr sz="1250" b="1" i="0">
                <a:solidFill>
                  <a:srgbClr val="704EA6"/>
                </a:solidFill>
                <a:latin typeface="Calibri"/>
              </a:rPr>
              <a:t>Board 8: Knowledge Explorer</a:t>
            </a:r>
          </a:p>
        </p:txBody>
      </p:sp>
      <p:sp>
        <p:nvSpPr>
          <p:cNvPr id="152" name="TextBox 151"/>
          <p:cNvSpPr txBox="1"/>
          <p:nvPr/>
        </p:nvSpPr>
        <p:spPr>
          <a:xfrm>
            <a:off x="6391655" y="5641848"/>
            <a:ext cx="2098548" cy="548640"/>
          </a:xfrm>
          <a:prstGeom prst="rect">
            <a:avLst/>
          </a:prstGeom>
          <a:noFill/>
        </p:spPr>
        <p:txBody>
          <a:bodyPr wrap="square" lIns="0" tIns="0" rIns="0" bIns="0" anchor="t">
            <a:spAutoFit/>
          </a:bodyPr>
          <a:lstStyle/>
          <a:p>
            <a:pPr algn="l">
              <a:lnSpc>
                <a:spcPct val="100000"/>
              </a:lnSpc>
            </a:pPr>
            <a:r>
              <a:rPr sz="1050" b="0" i="0">
                <a:solidFill>
                  <a:srgbClr val="63637E"/>
                </a:solidFill>
                <a:latin typeface="Calibri"/>
              </a:rPr>
              <a:t>Chunk inspector with BGE + BM25 scores, SHA-256 manifest</a:t>
            </a:r>
          </a:p>
        </p:txBody>
      </p:sp>
      <p:sp>
        <p:nvSpPr>
          <p:cNvPr id="153" name="Rounded Rectangle 152"/>
          <p:cNvSpPr/>
          <p:nvPr/>
        </p:nvSpPr>
        <p:spPr>
          <a:xfrm>
            <a:off x="8901684" y="5257800"/>
            <a:ext cx="2464308" cy="96012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9084563" y="5349240"/>
            <a:ext cx="2098548" cy="274320"/>
          </a:xfrm>
          <a:prstGeom prst="rect">
            <a:avLst/>
          </a:prstGeom>
          <a:noFill/>
        </p:spPr>
        <p:txBody>
          <a:bodyPr wrap="square" lIns="0" tIns="0" rIns="0" bIns="0" anchor="t">
            <a:spAutoFit/>
          </a:bodyPr>
          <a:lstStyle/>
          <a:p>
            <a:pPr algn="l"/>
            <a:r>
              <a:rPr sz="1250" b="1" i="0">
                <a:solidFill>
                  <a:srgbClr val="704EA6"/>
                </a:solidFill>
                <a:latin typeface="Calibri"/>
              </a:rPr>
              <a:t>Board 9: Telemetry &amp; Traces</a:t>
            </a:r>
          </a:p>
        </p:txBody>
      </p:sp>
      <p:sp>
        <p:nvSpPr>
          <p:cNvPr id="155" name="TextBox 154"/>
          <p:cNvSpPr txBox="1"/>
          <p:nvPr/>
        </p:nvSpPr>
        <p:spPr>
          <a:xfrm>
            <a:off x="9084563" y="5641848"/>
            <a:ext cx="2098548" cy="548640"/>
          </a:xfrm>
          <a:prstGeom prst="rect">
            <a:avLst/>
          </a:prstGeom>
          <a:noFill/>
        </p:spPr>
        <p:txBody>
          <a:bodyPr wrap="square" lIns="0" tIns="0" rIns="0" bIns="0" anchor="t">
            <a:spAutoFit/>
          </a:bodyPr>
          <a:lstStyle/>
          <a:p>
            <a:pPr algn="l">
              <a:lnSpc>
                <a:spcPct val="100000"/>
              </a:lnSpc>
            </a:pPr>
            <a:r>
              <a:rPr sz="1050" b="0" i="0">
                <a:solidFill>
                  <a:srgbClr val="63637E"/>
                </a:solidFill>
                <a:latin typeface="Calibri"/>
              </a:rPr>
              <a:t>Live Gantt of speech chunks, decisions and retrieval legs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Tools and tech stack used</a:t>
            </a:r>
            <a:endParaRPr b="1">
              <a:solidFill>
                <a:srgbClr val="704EA6"/>
              </a:solidFill>
            </a:endParaRPr>
          </a:p>
        </p:txBody>
      </p:sp>
      <p:sp>
        <p:nvSpPr>
          <p:cNvPr id="126" name="TextBox 125"/>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TECH STACK</a:t>
            </a:r>
          </a:p>
        </p:txBody>
      </p:sp>
      <p:sp>
        <p:nvSpPr>
          <p:cNvPr id="127" name="TextBox 126"/>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06 / 12</a:t>
            </a:r>
          </a:p>
        </p:txBody>
      </p:sp>
      <p:sp>
        <p:nvSpPr>
          <p:cNvPr id="128" name="TextBox 127"/>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Everything runs locally: open models, no cloud APIs, no agent frameworks</a:t>
            </a:r>
          </a:p>
        </p:txBody>
      </p:sp>
      <p:sp>
        <p:nvSpPr>
          <p:cNvPr id="129" name="Rounded Rectangle 128"/>
          <p:cNvSpPr/>
          <p:nvPr/>
        </p:nvSpPr>
        <p:spPr>
          <a:xfrm>
            <a:off x="822960" y="1783080"/>
            <a:ext cx="2430018" cy="20574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Oval 129"/>
          <p:cNvSpPr/>
          <p:nvPr/>
        </p:nvSpPr>
        <p:spPr>
          <a:xfrm>
            <a:off x="1051560" y="201168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131" name="TextBox 130"/>
          <p:cNvSpPr txBox="1"/>
          <p:nvPr/>
        </p:nvSpPr>
        <p:spPr>
          <a:xfrm>
            <a:off x="1051560" y="2560320"/>
            <a:ext cx="1972817" cy="320040"/>
          </a:xfrm>
          <a:prstGeom prst="rect">
            <a:avLst/>
          </a:prstGeom>
          <a:noFill/>
        </p:spPr>
        <p:txBody>
          <a:bodyPr wrap="square" lIns="0" tIns="0" rIns="0" bIns="0" anchor="t">
            <a:spAutoFit/>
          </a:bodyPr>
          <a:lstStyle/>
          <a:p>
            <a:pPr algn="l"/>
            <a:r>
              <a:rPr sz="1500" b="1" i="0">
                <a:solidFill>
                  <a:srgbClr val="14142B"/>
                </a:solidFill>
                <a:latin typeface="Calibri"/>
              </a:rPr>
              <a:t>Speech → text stream</a:t>
            </a:r>
          </a:p>
        </p:txBody>
      </p:sp>
      <p:sp>
        <p:nvSpPr>
          <p:cNvPr id="132" name="TextBox 131"/>
          <p:cNvSpPr txBox="1"/>
          <p:nvPr/>
        </p:nvSpPr>
        <p:spPr>
          <a:xfrm>
            <a:off x="1051560" y="2898648"/>
            <a:ext cx="1972817" cy="8686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Chunked streaming input with prefix-hash caching per chunk</a:t>
            </a:r>
          </a:p>
        </p:txBody>
      </p:sp>
      <p:sp>
        <p:nvSpPr>
          <p:cNvPr id="133" name="Rounded Rectangle 132"/>
          <p:cNvSpPr/>
          <p:nvPr/>
        </p:nvSpPr>
        <p:spPr>
          <a:xfrm>
            <a:off x="3527297" y="1783080"/>
            <a:ext cx="2430018" cy="20574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Oval 133"/>
          <p:cNvSpPr/>
          <p:nvPr/>
        </p:nvSpPr>
        <p:spPr>
          <a:xfrm>
            <a:off x="3755898" y="201168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35" name="TextBox 134"/>
          <p:cNvSpPr txBox="1"/>
          <p:nvPr/>
        </p:nvSpPr>
        <p:spPr>
          <a:xfrm>
            <a:off x="3755898" y="2560320"/>
            <a:ext cx="1972817" cy="320040"/>
          </a:xfrm>
          <a:prstGeom prst="rect">
            <a:avLst/>
          </a:prstGeom>
          <a:noFill/>
        </p:spPr>
        <p:txBody>
          <a:bodyPr wrap="square" lIns="0" tIns="0" rIns="0" bIns="0" anchor="t">
            <a:spAutoFit/>
          </a:bodyPr>
          <a:lstStyle/>
          <a:p>
            <a:pPr algn="l"/>
            <a:r>
              <a:rPr sz="1500" b="1" i="0">
                <a:solidFill>
                  <a:srgbClr val="14142B"/>
                </a:solidFill>
                <a:latin typeface="Calibri"/>
              </a:rPr>
              <a:t>Dense retrieval</a:t>
            </a:r>
          </a:p>
        </p:txBody>
      </p:sp>
      <p:sp>
        <p:nvSpPr>
          <p:cNvPr id="136" name="TextBox 135"/>
          <p:cNvSpPr txBox="1"/>
          <p:nvPr/>
        </p:nvSpPr>
        <p:spPr>
          <a:xfrm>
            <a:off x="3755898" y="2898648"/>
            <a:ext cx="1972817" cy="8686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FastEmbed · BGE-small embeddings</a:t>
            </a:r>
          </a:p>
        </p:txBody>
      </p:sp>
      <p:sp>
        <p:nvSpPr>
          <p:cNvPr id="137" name="Rounded Rectangle 136"/>
          <p:cNvSpPr/>
          <p:nvPr/>
        </p:nvSpPr>
        <p:spPr>
          <a:xfrm>
            <a:off x="6231636" y="1783080"/>
            <a:ext cx="2430018" cy="20574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Oval 137"/>
          <p:cNvSpPr/>
          <p:nvPr/>
        </p:nvSpPr>
        <p:spPr>
          <a:xfrm>
            <a:off x="6460236" y="201168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39" name="TextBox 138"/>
          <p:cNvSpPr txBox="1"/>
          <p:nvPr/>
        </p:nvSpPr>
        <p:spPr>
          <a:xfrm>
            <a:off x="6460236" y="2560320"/>
            <a:ext cx="1972817" cy="320040"/>
          </a:xfrm>
          <a:prstGeom prst="rect">
            <a:avLst/>
          </a:prstGeom>
          <a:noFill/>
        </p:spPr>
        <p:txBody>
          <a:bodyPr wrap="square" lIns="0" tIns="0" rIns="0" bIns="0" anchor="t">
            <a:spAutoFit/>
          </a:bodyPr>
          <a:lstStyle/>
          <a:p>
            <a:pPr algn="l"/>
            <a:r>
              <a:rPr sz="1500" b="1" i="0">
                <a:solidFill>
                  <a:srgbClr val="14142B"/>
                </a:solidFill>
                <a:latin typeface="Calibri"/>
              </a:rPr>
              <a:t>Sparse retrieval</a:t>
            </a:r>
          </a:p>
        </p:txBody>
      </p:sp>
      <p:sp>
        <p:nvSpPr>
          <p:cNvPr id="140" name="TextBox 139"/>
          <p:cNvSpPr txBox="1"/>
          <p:nvPr/>
        </p:nvSpPr>
        <p:spPr>
          <a:xfrm>
            <a:off x="6460236" y="2898648"/>
            <a:ext cx="1972817" cy="8686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BM25s index, fused via Reciprocal Rank Fusion (k = 60)</a:t>
            </a:r>
          </a:p>
        </p:txBody>
      </p:sp>
      <p:sp>
        <p:nvSpPr>
          <p:cNvPr id="141" name="Rounded Rectangle 140"/>
          <p:cNvSpPr/>
          <p:nvPr/>
        </p:nvSpPr>
        <p:spPr>
          <a:xfrm>
            <a:off x="8935974" y="1783080"/>
            <a:ext cx="2430018" cy="20574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9164574" y="2011680"/>
            <a:ext cx="384048" cy="384048"/>
          </a:xfrm>
          <a:prstGeom prst="ellipse">
            <a:avLst/>
          </a:prstGeom>
          <a:solidFill>
            <a:srgbClr val="0F8A7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43" name="TextBox 142"/>
          <p:cNvSpPr txBox="1"/>
          <p:nvPr/>
        </p:nvSpPr>
        <p:spPr>
          <a:xfrm>
            <a:off x="9164574" y="2560320"/>
            <a:ext cx="1972817" cy="320040"/>
          </a:xfrm>
          <a:prstGeom prst="rect">
            <a:avLst/>
          </a:prstGeom>
          <a:noFill/>
        </p:spPr>
        <p:txBody>
          <a:bodyPr wrap="square" lIns="0" tIns="0" rIns="0" bIns="0" anchor="t">
            <a:spAutoFit/>
          </a:bodyPr>
          <a:lstStyle/>
          <a:p>
            <a:pPr algn="l"/>
            <a:r>
              <a:rPr sz="1500" b="1" i="0">
                <a:solidFill>
                  <a:srgbClr val="14142B"/>
                </a:solidFill>
                <a:latin typeface="Calibri"/>
              </a:rPr>
              <a:t>Local LLM</a:t>
            </a:r>
          </a:p>
        </p:txBody>
      </p:sp>
      <p:sp>
        <p:nvSpPr>
          <p:cNvPr id="144" name="TextBox 143"/>
          <p:cNvSpPr txBox="1"/>
          <p:nvPr/>
        </p:nvSpPr>
        <p:spPr>
          <a:xfrm>
            <a:off x="9164574" y="2898648"/>
            <a:ext cx="1972817" cy="8686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Qwen2.5-1.5B-Instruct Q4_K_M GGUF (Apache 2.0) via llama-cpp-python</a:t>
            </a:r>
          </a:p>
        </p:txBody>
      </p:sp>
      <p:sp>
        <p:nvSpPr>
          <p:cNvPr id="145" name="Rounded Rectangle 144"/>
          <p:cNvSpPr/>
          <p:nvPr/>
        </p:nvSpPr>
        <p:spPr>
          <a:xfrm>
            <a:off x="822960" y="4114800"/>
            <a:ext cx="2430018" cy="20574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1051560" y="4343400"/>
            <a:ext cx="384048" cy="384048"/>
          </a:xfrm>
          <a:prstGeom prst="ellipse">
            <a:avLst/>
          </a:prstGeom>
          <a:solidFill>
            <a:srgbClr val="0F8A7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5</a:t>
            </a:r>
          </a:p>
        </p:txBody>
      </p:sp>
      <p:sp>
        <p:nvSpPr>
          <p:cNvPr id="147" name="TextBox 146"/>
          <p:cNvSpPr txBox="1"/>
          <p:nvPr/>
        </p:nvSpPr>
        <p:spPr>
          <a:xfrm>
            <a:off x="1051560" y="4892040"/>
            <a:ext cx="1972817" cy="320040"/>
          </a:xfrm>
          <a:prstGeom prst="rect">
            <a:avLst/>
          </a:prstGeom>
          <a:noFill/>
        </p:spPr>
        <p:txBody>
          <a:bodyPr wrap="square" lIns="0" tIns="0" rIns="0" bIns="0" anchor="t">
            <a:spAutoFit/>
          </a:bodyPr>
          <a:lstStyle/>
          <a:p>
            <a:pPr algn="l"/>
            <a:r>
              <a:rPr sz="1500" b="1" i="0">
                <a:solidFill>
                  <a:srgbClr val="14142B"/>
                </a:solidFill>
                <a:latin typeface="Calibri"/>
              </a:rPr>
              <a:t>Orchestration</a:t>
            </a:r>
          </a:p>
        </p:txBody>
      </p:sp>
      <p:sp>
        <p:nvSpPr>
          <p:cNvPr id="148" name="TextBox 147"/>
          <p:cNvSpPr txBox="1"/>
          <p:nvPr/>
        </p:nvSpPr>
        <p:spPr>
          <a:xfrm>
            <a:off x="1051560" y="5230368"/>
            <a:ext cx="1972817" cy="8686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Python asyncio, single event loop; no LangChain, no LlamaIndex</a:t>
            </a:r>
          </a:p>
        </p:txBody>
      </p:sp>
      <p:sp>
        <p:nvSpPr>
          <p:cNvPr id="149" name="Rounded Rectangle 148"/>
          <p:cNvSpPr/>
          <p:nvPr/>
        </p:nvSpPr>
        <p:spPr>
          <a:xfrm>
            <a:off x="3527297" y="4114800"/>
            <a:ext cx="2430018" cy="20574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3755898" y="4343400"/>
            <a:ext cx="384048" cy="384048"/>
          </a:xfrm>
          <a:prstGeom prst="ellipse">
            <a:avLst/>
          </a:prstGeom>
          <a:solidFill>
            <a:srgbClr val="0F8A7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6</a:t>
            </a:r>
          </a:p>
        </p:txBody>
      </p:sp>
      <p:sp>
        <p:nvSpPr>
          <p:cNvPr id="151" name="TextBox 150"/>
          <p:cNvSpPr txBox="1"/>
          <p:nvPr/>
        </p:nvSpPr>
        <p:spPr>
          <a:xfrm>
            <a:off x="3755898" y="4892040"/>
            <a:ext cx="1972817" cy="320040"/>
          </a:xfrm>
          <a:prstGeom prst="rect">
            <a:avLst/>
          </a:prstGeom>
          <a:noFill/>
        </p:spPr>
        <p:txBody>
          <a:bodyPr wrap="square" lIns="0" tIns="0" rIns="0" bIns="0" anchor="t">
            <a:spAutoFit/>
          </a:bodyPr>
          <a:lstStyle/>
          <a:p>
            <a:pPr algn="l"/>
            <a:r>
              <a:rPr sz="1500" b="1" i="0">
                <a:solidFill>
                  <a:srgbClr val="14142B"/>
                </a:solidFill>
                <a:latin typeface="Calibri"/>
              </a:rPr>
              <a:t>Observability</a:t>
            </a:r>
          </a:p>
        </p:txBody>
      </p:sp>
      <p:sp>
        <p:nvSpPr>
          <p:cNvPr id="152" name="TextBox 151"/>
          <p:cNvSpPr txBox="1"/>
          <p:nvPr/>
        </p:nvSpPr>
        <p:spPr>
          <a:xfrm>
            <a:off x="3755898" y="5230368"/>
            <a:ext cx="1972817" cy="8686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OpenTelemetry spans with microsecond per-stage timings</a:t>
            </a:r>
          </a:p>
        </p:txBody>
      </p:sp>
      <p:sp>
        <p:nvSpPr>
          <p:cNvPr id="153" name="Rounded Rectangle 152"/>
          <p:cNvSpPr/>
          <p:nvPr/>
        </p:nvSpPr>
        <p:spPr>
          <a:xfrm>
            <a:off x="6231636" y="4114800"/>
            <a:ext cx="2430018" cy="20574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6460236" y="4343400"/>
            <a:ext cx="384048" cy="384048"/>
          </a:xfrm>
          <a:prstGeom prst="ellipse">
            <a:avLst/>
          </a:prstGeom>
          <a:solidFill>
            <a:srgbClr val="2F5BD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7</a:t>
            </a:r>
          </a:p>
        </p:txBody>
      </p:sp>
      <p:sp>
        <p:nvSpPr>
          <p:cNvPr id="155" name="TextBox 154"/>
          <p:cNvSpPr txBox="1"/>
          <p:nvPr/>
        </p:nvSpPr>
        <p:spPr>
          <a:xfrm>
            <a:off x="6460236" y="4892040"/>
            <a:ext cx="1972817" cy="320040"/>
          </a:xfrm>
          <a:prstGeom prst="rect">
            <a:avLst/>
          </a:prstGeom>
          <a:noFill/>
        </p:spPr>
        <p:txBody>
          <a:bodyPr wrap="square" lIns="0" tIns="0" rIns="0" bIns="0" anchor="t">
            <a:spAutoFit/>
          </a:bodyPr>
          <a:lstStyle/>
          <a:p>
            <a:pPr algn="l"/>
            <a:r>
              <a:rPr sz="1500" b="1" i="0">
                <a:solidFill>
                  <a:srgbClr val="14142B"/>
                </a:solidFill>
                <a:latin typeface="Calibri"/>
              </a:rPr>
              <a:t>Packaging &amp; eval</a:t>
            </a:r>
          </a:p>
        </p:txBody>
      </p:sp>
      <p:sp>
        <p:nvSpPr>
          <p:cNvPr id="156" name="TextBox 155"/>
          <p:cNvSpPr txBox="1"/>
          <p:nvPr/>
        </p:nvSpPr>
        <p:spPr>
          <a:xfrm>
            <a:off x="6460236" y="5230368"/>
            <a:ext cx="1972817" cy="8686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Docker Compose offline container; make eval runs gates G1–G6</a:t>
            </a:r>
          </a:p>
        </p:txBody>
      </p:sp>
      <p:sp>
        <p:nvSpPr>
          <p:cNvPr id="157" name="Rounded Rectangle 156"/>
          <p:cNvSpPr/>
          <p:nvPr/>
        </p:nvSpPr>
        <p:spPr>
          <a:xfrm>
            <a:off x="8935974" y="4114800"/>
            <a:ext cx="2430018" cy="205740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9164574" y="4343400"/>
            <a:ext cx="384048" cy="384048"/>
          </a:xfrm>
          <a:prstGeom prst="ellipse">
            <a:avLst/>
          </a:prstGeom>
          <a:solidFill>
            <a:srgbClr val="2F5BD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8</a:t>
            </a:r>
          </a:p>
        </p:txBody>
      </p:sp>
      <p:sp>
        <p:nvSpPr>
          <p:cNvPr id="159" name="TextBox 158"/>
          <p:cNvSpPr txBox="1"/>
          <p:nvPr/>
        </p:nvSpPr>
        <p:spPr>
          <a:xfrm>
            <a:off x="9164574" y="4892040"/>
            <a:ext cx="1972817" cy="320040"/>
          </a:xfrm>
          <a:prstGeom prst="rect">
            <a:avLst/>
          </a:prstGeom>
          <a:noFill/>
        </p:spPr>
        <p:txBody>
          <a:bodyPr wrap="square" lIns="0" tIns="0" rIns="0" bIns="0" anchor="t">
            <a:spAutoFit/>
          </a:bodyPr>
          <a:lstStyle/>
          <a:p>
            <a:pPr algn="l"/>
            <a:r>
              <a:rPr sz="1500" b="1" i="0">
                <a:solidFill>
                  <a:srgbClr val="14142B"/>
                </a:solidFill>
                <a:latin typeface="Calibri"/>
              </a:rPr>
              <a:t>Security &amp; UI</a:t>
            </a:r>
          </a:p>
        </p:txBody>
      </p:sp>
      <p:sp>
        <p:nvSpPr>
          <p:cNvPr id="160" name="TextBox 159"/>
          <p:cNvSpPr txBox="1"/>
          <p:nvPr/>
        </p:nvSpPr>
        <p:spPr>
          <a:xfrm>
            <a:off x="9164574" y="5230368"/>
            <a:ext cx="1972817" cy="8686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STRIDE, OWASP GenAI Top 10, spotlighting, PII redaction · WCAG 2.2 AA UI</a:t>
            </a:r>
          </a:p>
        </p:txBody>
      </p:sp>
      <p:sp>
        <p:nvSpPr>
          <p:cNvPr id="161" name="TextBox 160"/>
          <p:cNvSpPr txBox="1"/>
          <p:nvPr/>
        </p:nvSpPr>
        <p:spPr>
          <a:xfrm>
            <a:off x="822960" y="6236208"/>
            <a:ext cx="10515600" cy="274320"/>
          </a:xfrm>
          <a:prstGeom prst="rect">
            <a:avLst/>
          </a:prstGeom>
          <a:noFill/>
        </p:spPr>
        <p:txBody>
          <a:bodyPr wrap="square" lIns="0" tIns="0" rIns="0" bIns="0" anchor="t">
            <a:spAutoFit/>
          </a:bodyPr>
          <a:lstStyle/>
          <a:p>
            <a:pPr algn="l"/>
            <a:r>
              <a:rPr sz="1100" b="0" i="0">
                <a:solidFill>
                  <a:srgbClr val="63637E"/>
                </a:solidFill>
                <a:latin typeface="Calibri"/>
              </a:rPr>
              <a:t>Target hardware: laptop-class CPU, 2.0 vCPU and a 4 GB RAM budget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Impact &amp; Use case</a:t>
            </a:r>
            <a:endParaRPr b="1">
              <a:solidFill>
                <a:srgbClr val="704EA6"/>
              </a:solidFill>
            </a:endParaRPr>
          </a:p>
        </p:txBody>
      </p:sp>
      <p:sp>
        <p:nvSpPr>
          <p:cNvPr id="132" name="TextBox 131"/>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IMPACT</a:t>
            </a:r>
          </a:p>
        </p:txBody>
      </p:sp>
      <p:sp>
        <p:nvSpPr>
          <p:cNvPr id="133" name="TextBox 132"/>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07 / 12</a:t>
            </a:r>
          </a:p>
        </p:txBody>
      </p:sp>
      <p:sp>
        <p:nvSpPr>
          <p:cNvPr id="134" name="TextBox 133"/>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Natural, zero-pause conversation over private documents, on hardware people already own</a:t>
            </a:r>
          </a:p>
        </p:txBody>
      </p:sp>
      <p:sp>
        <p:nvSpPr>
          <p:cNvPr id="135" name="Rounded Rectangle 134"/>
          <p:cNvSpPr/>
          <p:nvPr/>
        </p:nvSpPr>
        <p:spPr>
          <a:xfrm>
            <a:off x="822960" y="1783080"/>
            <a:ext cx="4754880" cy="134416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TextBox 135"/>
          <p:cNvSpPr txBox="1"/>
          <p:nvPr/>
        </p:nvSpPr>
        <p:spPr>
          <a:xfrm>
            <a:off x="1051560" y="1965960"/>
            <a:ext cx="1828800" cy="548640"/>
          </a:xfrm>
          <a:prstGeom prst="rect">
            <a:avLst/>
          </a:prstGeom>
          <a:noFill/>
        </p:spPr>
        <p:txBody>
          <a:bodyPr wrap="square" lIns="0" tIns="0" rIns="0" bIns="0" anchor="t">
            <a:spAutoFit/>
          </a:bodyPr>
          <a:lstStyle/>
          <a:p>
            <a:pPr algn="l"/>
            <a:r>
              <a:rPr sz="3000" b="1" i="0">
                <a:solidFill>
                  <a:srgbClr val="6D28D9"/>
                </a:solidFill>
                <a:latin typeface="Arial"/>
              </a:rPr>
              <a:t>1.508 s</a:t>
            </a:r>
          </a:p>
        </p:txBody>
      </p:sp>
      <p:sp>
        <p:nvSpPr>
          <p:cNvPr id="137" name="TextBox 136"/>
          <p:cNvSpPr txBox="1"/>
          <p:nvPr/>
        </p:nvSpPr>
        <p:spPr>
          <a:xfrm>
            <a:off x="2971800" y="1984248"/>
            <a:ext cx="2468880" cy="320040"/>
          </a:xfrm>
          <a:prstGeom prst="rect">
            <a:avLst/>
          </a:prstGeom>
          <a:noFill/>
        </p:spPr>
        <p:txBody>
          <a:bodyPr wrap="square" lIns="0" tIns="0" rIns="0" bIns="0" anchor="t">
            <a:spAutoFit/>
          </a:bodyPr>
          <a:lstStyle/>
          <a:p>
            <a:pPr algn="l"/>
            <a:r>
              <a:rPr sz="1400" b="1" i="0">
                <a:solidFill>
                  <a:srgbClr val="14142B"/>
                </a:solidFill>
                <a:latin typeface="Calibri"/>
              </a:rPr>
              <a:t>saved per turn (median)</a:t>
            </a:r>
          </a:p>
        </p:txBody>
      </p:sp>
      <p:sp>
        <p:nvSpPr>
          <p:cNvPr id="138" name="TextBox 137"/>
          <p:cNvSpPr txBox="1"/>
          <p:nvPr/>
        </p:nvSpPr>
        <p:spPr>
          <a:xfrm>
            <a:off x="2971800" y="2304288"/>
            <a:ext cx="2468880" cy="731520"/>
          </a:xfrm>
          <a:prstGeom prst="rect">
            <a:avLst/>
          </a:prstGeom>
          <a:noFill/>
        </p:spPr>
        <p:txBody>
          <a:bodyPr wrap="square" lIns="0" tIns="0" rIns="0" bIns="0" anchor="t">
            <a:spAutoFit/>
          </a:bodyPr>
          <a:lstStyle/>
          <a:p>
            <a:pPr algn="l">
              <a:lnSpc>
                <a:spcPct val="100000"/>
              </a:lnSpc>
            </a:pPr>
            <a:r>
              <a:rPr sz="1150" b="0" i="0">
                <a:solidFill>
                  <a:srgbClr val="63637E"/>
                </a:solidFill>
                <a:latin typeface="Calibri"/>
              </a:rPr>
              <a:t>vs the sequential baseline; 100% of retrieval turns saved time</a:t>
            </a:r>
          </a:p>
        </p:txBody>
      </p:sp>
      <p:sp>
        <p:nvSpPr>
          <p:cNvPr id="139" name="Rounded Rectangle 138"/>
          <p:cNvSpPr/>
          <p:nvPr/>
        </p:nvSpPr>
        <p:spPr>
          <a:xfrm>
            <a:off x="822960" y="3328415"/>
            <a:ext cx="4754880" cy="134416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TextBox 139"/>
          <p:cNvSpPr txBox="1"/>
          <p:nvPr/>
        </p:nvSpPr>
        <p:spPr>
          <a:xfrm>
            <a:off x="1051560" y="3511296"/>
            <a:ext cx="1828800" cy="548640"/>
          </a:xfrm>
          <a:prstGeom prst="rect">
            <a:avLst/>
          </a:prstGeom>
          <a:noFill/>
        </p:spPr>
        <p:txBody>
          <a:bodyPr wrap="square" lIns="0" tIns="0" rIns="0" bIns="0" anchor="t">
            <a:spAutoFit/>
          </a:bodyPr>
          <a:lstStyle/>
          <a:p>
            <a:pPr algn="l"/>
            <a:r>
              <a:rPr sz="3000" b="1" i="0">
                <a:solidFill>
                  <a:srgbClr val="0F8A78"/>
                </a:solidFill>
                <a:latin typeface="Arial"/>
              </a:rPr>
              <a:t>0 / 112</a:t>
            </a:r>
          </a:p>
        </p:txBody>
      </p:sp>
      <p:sp>
        <p:nvSpPr>
          <p:cNvPr id="141" name="TextBox 140"/>
          <p:cNvSpPr txBox="1"/>
          <p:nvPr/>
        </p:nvSpPr>
        <p:spPr>
          <a:xfrm>
            <a:off x="2971800" y="3529584"/>
            <a:ext cx="2468880" cy="320040"/>
          </a:xfrm>
          <a:prstGeom prst="rect">
            <a:avLst/>
          </a:prstGeom>
          <a:noFill/>
        </p:spPr>
        <p:txBody>
          <a:bodyPr wrap="square" lIns="0" tIns="0" rIns="0" bIns="0" anchor="t">
            <a:spAutoFit/>
          </a:bodyPr>
          <a:lstStyle/>
          <a:p>
            <a:pPr algn="l"/>
            <a:r>
              <a:rPr sz="1400" b="1" i="0">
                <a:solidFill>
                  <a:srgbClr val="14142B"/>
                </a:solidFill>
                <a:latin typeface="Calibri"/>
              </a:rPr>
              <a:t>hallucinated claims</a:t>
            </a:r>
          </a:p>
        </p:txBody>
      </p:sp>
      <p:sp>
        <p:nvSpPr>
          <p:cNvPr id="142" name="TextBox 141"/>
          <p:cNvSpPr txBox="1"/>
          <p:nvPr/>
        </p:nvSpPr>
        <p:spPr>
          <a:xfrm>
            <a:off x="2971800" y="3849624"/>
            <a:ext cx="2468880" cy="731520"/>
          </a:xfrm>
          <a:prstGeom prst="rect">
            <a:avLst/>
          </a:prstGeom>
          <a:noFill/>
        </p:spPr>
        <p:txBody>
          <a:bodyPr wrap="square" lIns="0" tIns="0" rIns="0" bIns="0" anchor="t">
            <a:spAutoFit/>
          </a:bodyPr>
          <a:lstStyle/>
          <a:p>
            <a:pPr algn="l">
              <a:lnSpc>
                <a:spcPct val="100000"/>
              </a:lnSpc>
            </a:pPr>
            <a:r>
              <a:rPr sz="1150" b="0" i="0">
                <a:solidFill>
                  <a:srgbClr val="63637E"/>
                </a:solidFill>
                <a:latin typeface="Calibri"/>
              </a:rPr>
              <a:t>every claim maps byte-for-byte to a source span (gate G4)</a:t>
            </a:r>
          </a:p>
        </p:txBody>
      </p:sp>
      <p:sp>
        <p:nvSpPr>
          <p:cNvPr id="143" name="Rounded Rectangle 142"/>
          <p:cNvSpPr/>
          <p:nvPr/>
        </p:nvSpPr>
        <p:spPr>
          <a:xfrm>
            <a:off x="822960" y="4873752"/>
            <a:ext cx="4754880" cy="1344168"/>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TextBox 143"/>
          <p:cNvSpPr txBox="1"/>
          <p:nvPr/>
        </p:nvSpPr>
        <p:spPr>
          <a:xfrm>
            <a:off x="1051560" y="5056632"/>
            <a:ext cx="1828800" cy="548640"/>
          </a:xfrm>
          <a:prstGeom prst="rect">
            <a:avLst/>
          </a:prstGeom>
          <a:noFill/>
        </p:spPr>
        <p:txBody>
          <a:bodyPr wrap="square" lIns="0" tIns="0" rIns="0" bIns="0" anchor="t">
            <a:spAutoFit/>
          </a:bodyPr>
          <a:lstStyle/>
          <a:p>
            <a:pPr algn="l"/>
            <a:r>
              <a:rPr sz="3000" b="1" i="0">
                <a:solidFill>
                  <a:srgbClr val="2F5BD3"/>
                </a:solidFill>
                <a:latin typeface="Arial"/>
              </a:rPr>
              <a:t>584 MB</a:t>
            </a:r>
          </a:p>
        </p:txBody>
      </p:sp>
      <p:sp>
        <p:nvSpPr>
          <p:cNvPr id="145" name="TextBox 144"/>
          <p:cNvSpPr txBox="1"/>
          <p:nvPr/>
        </p:nvSpPr>
        <p:spPr>
          <a:xfrm>
            <a:off x="2971800" y="5074920"/>
            <a:ext cx="2468880" cy="320040"/>
          </a:xfrm>
          <a:prstGeom prst="rect">
            <a:avLst/>
          </a:prstGeom>
          <a:noFill/>
        </p:spPr>
        <p:txBody>
          <a:bodyPr wrap="square" lIns="0" tIns="0" rIns="0" bIns="0" anchor="t">
            <a:spAutoFit/>
          </a:bodyPr>
          <a:lstStyle/>
          <a:p>
            <a:pPr algn="l"/>
            <a:r>
              <a:rPr sz="1400" b="1" i="0">
                <a:solidFill>
                  <a:srgbClr val="14142B"/>
                </a:solidFill>
                <a:latin typeface="Calibri"/>
              </a:rPr>
              <a:t>RAM for one session</a:t>
            </a:r>
          </a:p>
        </p:txBody>
      </p:sp>
      <p:sp>
        <p:nvSpPr>
          <p:cNvPr id="146" name="TextBox 145"/>
          <p:cNvSpPr txBox="1"/>
          <p:nvPr/>
        </p:nvSpPr>
        <p:spPr>
          <a:xfrm>
            <a:off x="2971800" y="5394960"/>
            <a:ext cx="2468880" cy="731520"/>
          </a:xfrm>
          <a:prstGeom prst="rect">
            <a:avLst/>
          </a:prstGeom>
          <a:noFill/>
        </p:spPr>
        <p:txBody>
          <a:bodyPr wrap="square" lIns="0" tIns="0" rIns="0" bIns="0" anchor="t">
            <a:spAutoFit/>
          </a:bodyPr>
          <a:lstStyle/>
          <a:p>
            <a:pPr algn="l">
              <a:lnSpc>
                <a:spcPct val="100000"/>
              </a:lnSpc>
            </a:pPr>
            <a:r>
              <a:rPr sz="1150" b="0" i="0">
                <a:solidFill>
                  <a:srgbClr val="63637E"/>
                </a:solidFill>
                <a:latin typeface="Calibri"/>
              </a:rPr>
              <a:t>fully offline on CPU; 10 concurrent sessions fit in 1.5 GB</a:t>
            </a:r>
          </a:p>
        </p:txBody>
      </p:sp>
      <p:sp>
        <p:nvSpPr>
          <p:cNvPr id="147" name="TextBox 146"/>
          <p:cNvSpPr txBox="1"/>
          <p:nvPr/>
        </p:nvSpPr>
        <p:spPr>
          <a:xfrm>
            <a:off x="5943600" y="1783080"/>
            <a:ext cx="5486400" cy="274320"/>
          </a:xfrm>
          <a:prstGeom prst="rect">
            <a:avLst/>
          </a:prstGeom>
          <a:noFill/>
        </p:spPr>
        <p:txBody>
          <a:bodyPr wrap="square" lIns="0" tIns="0" rIns="0" bIns="0" anchor="t">
            <a:spAutoFit/>
          </a:bodyPr>
          <a:lstStyle/>
          <a:p>
            <a:pPr algn="l"/>
            <a:r>
              <a:rPr sz="1100" b="1" i="0">
                <a:solidFill>
                  <a:srgbClr val="63637E"/>
                </a:solidFill>
                <a:latin typeface="Calibri"/>
              </a:rPr>
              <a:t>WHERE IT FITS</a:t>
            </a:r>
          </a:p>
        </p:txBody>
      </p:sp>
      <p:sp>
        <p:nvSpPr>
          <p:cNvPr id="148" name="Oval 147"/>
          <p:cNvSpPr/>
          <p:nvPr/>
        </p:nvSpPr>
        <p:spPr>
          <a:xfrm>
            <a:off x="5943600" y="2176272"/>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149" name="TextBox 148"/>
          <p:cNvSpPr txBox="1"/>
          <p:nvPr/>
        </p:nvSpPr>
        <p:spPr>
          <a:xfrm>
            <a:off x="6492240" y="2148840"/>
            <a:ext cx="4873752" cy="301752"/>
          </a:xfrm>
          <a:prstGeom prst="rect">
            <a:avLst/>
          </a:prstGeom>
          <a:noFill/>
        </p:spPr>
        <p:txBody>
          <a:bodyPr wrap="square" lIns="0" tIns="0" rIns="0" bIns="0" anchor="t">
            <a:spAutoFit/>
          </a:bodyPr>
          <a:lstStyle/>
          <a:p>
            <a:pPr algn="l"/>
            <a:r>
              <a:rPr sz="1500" b="1" i="0">
                <a:solidFill>
                  <a:srgbClr val="14142B"/>
                </a:solidFill>
                <a:latin typeface="Calibri"/>
              </a:rPr>
              <a:t>Enterprise policy assistant</a:t>
            </a:r>
          </a:p>
        </p:txBody>
      </p:sp>
      <p:sp>
        <p:nvSpPr>
          <p:cNvPr id="150" name="TextBox 149"/>
          <p:cNvSpPr txBox="1"/>
          <p:nvPr/>
        </p:nvSpPr>
        <p:spPr>
          <a:xfrm>
            <a:off x="6492240" y="2478024"/>
            <a:ext cx="4873752" cy="6400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Employees ask about travel, expense and HR rules and get cited answers mid-sentence (demo scenario 2).</a:t>
            </a:r>
          </a:p>
        </p:txBody>
      </p:sp>
      <p:sp>
        <p:nvSpPr>
          <p:cNvPr id="151" name="Oval 150"/>
          <p:cNvSpPr/>
          <p:nvPr/>
        </p:nvSpPr>
        <p:spPr>
          <a:xfrm>
            <a:off x="5943600" y="3200400"/>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52" name="TextBox 151"/>
          <p:cNvSpPr txBox="1"/>
          <p:nvPr/>
        </p:nvSpPr>
        <p:spPr>
          <a:xfrm>
            <a:off x="6492240" y="3172968"/>
            <a:ext cx="4873752" cy="301752"/>
          </a:xfrm>
          <a:prstGeom prst="rect">
            <a:avLst/>
          </a:prstGeom>
          <a:noFill/>
        </p:spPr>
        <p:txBody>
          <a:bodyPr wrap="square" lIns="0" tIns="0" rIns="0" bIns="0" anchor="t">
            <a:spAutoFit/>
          </a:bodyPr>
          <a:lstStyle/>
          <a:p>
            <a:pPr algn="l"/>
            <a:r>
              <a:rPr sz="1500" b="1" i="0">
                <a:solidFill>
                  <a:srgbClr val="14142B"/>
                </a:solidFill>
                <a:latin typeface="Calibri"/>
              </a:rPr>
              <a:t>Booking and service concierge</a:t>
            </a:r>
          </a:p>
        </p:txBody>
      </p:sp>
      <p:sp>
        <p:nvSpPr>
          <p:cNvPr id="153" name="TextBox 152"/>
          <p:cNvSpPr txBox="1"/>
          <p:nvPr/>
        </p:nvSpPr>
        <p:spPr>
          <a:xfrm>
            <a:off x="6492240" y="3502152"/>
            <a:ext cx="4873752" cy="6400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Compound requests like venue + headcount + refund policy, with corrections handled in place.</a:t>
            </a:r>
          </a:p>
        </p:txBody>
      </p:sp>
      <p:sp>
        <p:nvSpPr>
          <p:cNvPr id="154" name="Oval 153"/>
          <p:cNvSpPr/>
          <p:nvPr/>
        </p:nvSpPr>
        <p:spPr>
          <a:xfrm>
            <a:off x="5943600" y="4224528"/>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55" name="TextBox 154"/>
          <p:cNvSpPr txBox="1"/>
          <p:nvPr/>
        </p:nvSpPr>
        <p:spPr>
          <a:xfrm>
            <a:off x="6492240" y="4197096"/>
            <a:ext cx="4873752" cy="301752"/>
          </a:xfrm>
          <a:prstGeom prst="rect">
            <a:avLst/>
          </a:prstGeom>
          <a:noFill/>
        </p:spPr>
        <p:txBody>
          <a:bodyPr wrap="square" lIns="0" tIns="0" rIns="0" bIns="0" anchor="t">
            <a:spAutoFit/>
          </a:bodyPr>
          <a:lstStyle/>
          <a:p>
            <a:pPr algn="l"/>
            <a:r>
              <a:rPr sz="1500" b="1" i="0">
                <a:solidFill>
                  <a:srgbClr val="14142B"/>
                </a:solidFill>
                <a:latin typeface="Calibri"/>
              </a:rPr>
              <a:t>Privacy-sensitive on-device voice</a:t>
            </a:r>
          </a:p>
        </p:txBody>
      </p:sp>
      <p:sp>
        <p:nvSpPr>
          <p:cNvPr id="156" name="TextBox 155"/>
          <p:cNvSpPr txBox="1"/>
          <p:nvPr/>
        </p:nvSpPr>
        <p:spPr>
          <a:xfrm>
            <a:off x="6492240" y="4526280"/>
            <a:ext cx="4873752" cy="6400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No network, PII masked at the stream boundary: suits phones, cars and regulated workplaces.</a:t>
            </a:r>
          </a:p>
        </p:txBody>
      </p:sp>
      <p:sp>
        <p:nvSpPr>
          <p:cNvPr id="157" name="Oval 156"/>
          <p:cNvSpPr/>
          <p:nvPr/>
        </p:nvSpPr>
        <p:spPr>
          <a:xfrm>
            <a:off x="5943600" y="5248656"/>
            <a:ext cx="384048" cy="384048"/>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158" name="TextBox 157"/>
          <p:cNvSpPr txBox="1"/>
          <p:nvPr/>
        </p:nvSpPr>
        <p:spPr>
          <a:xfrm>
            <a:off x="6492240" y="5221224"/>
            <a:ext cx="4873752" cy="301752"/>
          </a:xfrm>
          <a:prstGeom prst="rect">
            <a:avLst/>
          </a:prstGeom>
          <a:noFill/>
        </p:spPr>
        <p:txBody>
          <a:bodyPr wrap="square" lIns="0" tIns="0" rIns="0" bIns="0" anchor="t">
            <a:spAutoFit/>
          </a:bodyPr>
          <a:lstStyle/>
          <a:p>
            <a:pPr algn="l"/>
            <a:r>
              <a:rPr sz="1500" b="1" i="0">
                <a:solidFill>
                  <a:srgbClr val="14142B"/>
                </a:solidFill>
                <a:latin typeface="Calibri"/>
              </a:rPr>
              <a:t>Contact-centre agent assist</a:t>
            </a:r>
          </a:p>
        </p:txBody>
      </p:sp>
      <p:sp>
        <p:nvSpPr>
          <p:cNvPr id="159" name="TextBox 158"/>
          <p:cNvSpPr txBox="1"/>
          <p:nvPr/>
        </p:nvSpPr>
        <p:spPr>
          <a:xfrm>
            <a:off x="6492240" y="5550408"/>
            <a:ext cx="4873752" cy="64008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Grounded snippets surface while the caller is still talking, with sources shown for trust.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138" name="TextBox 137"/>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RESULTS · 64-TURN FROZEN TEST SPLIT</a:t>
            </a:r>
          </a:p>
        </p:txBody>
      </p:sp>
      <p:sp>
        <p:nvSpPr>
          <p:cNvPr id="139" name="TextBox 138"/>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08 / 12</a:t>
            </a:r>
          </a:p>
        </p:txBody>
      </p:sp>
      <p:sp>
        <p:nvSpPr>
          <p:cNvPr id="140" name="TextBox 139"/>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All six acceptance gates pass; here is what works, and what does not yet</a:t>
            </a:r>
          </a:p>
        </p:txBody>
      </p:sp>
      <p:graphicFrame>
        <p:nvGraphicFramePr>
          <p:cNvPr id="141" name="Table 140"/>
          <p:cNvGraphicFramePr>
            <a:graphicFrameLocks noGrp="1"/>
          </p:cNvGraphicFramePr>
          <p:nvPr/>
        </p:nvGraphicFramePr>
        <p:xfrm>
          <a:off x="822960" y="1783080"/>
          <a:ext cx="6309360" cy="320040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457200">
                <a:tc>
                  <a:txBody>
                    <a:bodyPr/>
                    <a:lstStyle/>
                    <a:p>
                      <a:r>
                        <a:rPr sz="1200" b="1">
                          <a:solidFill>
                            <a:srgbClr val="FFFFFF"/>
                          </a:solidFill>
                          <a:latin typeface="Calibri"/>
                        </a:rPr>
                        <a:t>Gate</a:t>
                      </a:r>
                    </a:p>
                  </a:txBody>
                  <a:tcPr marL="73152" marR="73152" anchor="ctr">
                    <a:solidFill>
                      <a:srgbClr val="6D28D9"/>
                    </a:solidFill>
                  </a:tcPr>
                </a:tc>
                <a:tc>
                  <a:txBody>
                    <a:bodyPr/>
                    <a:lstStyle/>
                    <a:p>
                      <a:r>
                        <a:rPr sz="1200" b="1">
                          <a:solidFill>
                            <a:srgbClr val="FFFFFF"/>
                          </a:solidFill>
                          <a:latin typeface="Calibri"/>
                        </a:rPr>
                        <a:t>Metric</a:t>
                      </a:r>
                    </a:p>
                  </a:txBody>
                  <a:tcPr marL="73152" marR="73152" anchor="ctr">
                    <a:solidFill>
                      <a:srgbClr val="6D28D9"/>
                    </a:solidFill>
                  </a:tcPr>
                </a:tc>
                <a:tc>
                  <a:txBody>
                    <a:bodyPr/>
                    <a:lstStyle/>
                    <a:p>
                      <a:r>
                        <a:rPr sz="1200" b="1">
                          <a:solidFill>
                            <a:srgbClr val="FFFFFF"/>
                          </a:solidFill>
                          <a:latin typeface="Calibri"/>
                        </a:rPr>
                        <a:t>Threshold</a:t>
                      </a:r>
                    </a:p>
                  </a:txBody>
                  <a:tcPr marL="73152" marR="73152" anchor="ctr">
                    <a:solidFill>
                      <a:srgbClr val="6D28D9"/>
                    </a:solidFill>
                  </a:tcPr>
                </a:tc>
                <a:tc>
                  <a:txBody>
                    <a:bodyPr/>
                    <a:lstStyle/>
                    <a:p>
                      <a:r>
                        <a:rPr sz="1200" b="1">
                          <a:solidFill>
                            <a:srgbClr val="FFFFFF"/>
                          </a:solidFill>
                          <a:latin typeface="Calibri"/>
                        </a:rPr>
                        <a:t>Measured (n)</a:t>
                      </a:r>
                    </a:p>
                  </a:txBody>
                  <a:tcPr marL="73152" marR="73152" anchor="ctr">
                    <a:solidFill>
                      <a:srgbClr val="6D28D9"/>
                    </a:solidFill>
                  </a:tcPr>
                </a:tc>
                <a:tc>
                  <a:txBody>
                    <a:bodyPr/>
                    <a:lstStyle/>
                    <a:p>
                      <a:r>
                        <a:rPr sz="1200" b="1">
                          <a:solidFill>
                            <a:srgbClr val="FFFFFF"/>
                          </a:solidFill>
                          <a:latin typeface="Calibri"/>
                        </a:rPr>
                        <a:t>Status</a:t>
                      </a:r>
                    </a:p>
                  </a:txBody>
                  <a:tcPr marL="73152" marR="73152" anchor="ctr">
                    <a:solidFill>
                      <a:srgbClr val="6D28D9"/>
                    </a:solidFill>
                  </a:tcPr>
                </a:tc>
                <a:extLst>
                  <a:ext uri="{0D108BD9-81ED-4DB2-BD59-A6C34878D82A}">
                    <a16:rowId xmlns:a16="http://schemas.microsoft.com/office/drawing/2014/main" val="10000"/>
                  </a:ext>
                </a:extLst>
              </a:tr>
              <a:tr h="457200">
                <a:tc>
                  <a:txBody>
                    <a:bodyPr/>
                    <a:lstStyle/>
                    <a:p>
                      <a:r>
                        <a:rPr sz="1200" b="1">
                          <a:solidFill>
                            <a:srgbClr val="14142B"/>
                          </a:solidFill>
                          <a:latin typeface="Calibri"/>
                        </a:rPr>
                        <a:t>G1</a:t>
                      </a:r>
                    </a:p>
                  </a:txBody>
                  <a:tcPr marL="73152" marR="73152" anchor="ctr">
                    <a:solidFill>
                      <a:srgbClr val="FFFFFF"/>
                    </a:solidFill>
                  </a:tcPr>
                </a:tc>
                <a:tc>
                  <a:txBody>
                    <a:bodyPr/>
                    <a:lstStyle/>
                    <a:p>
                      <a:r>
                        <a:rPr sz="1200" b="0">
                          <a:solidFill>
                            <a:srgbClr val="14142B"/>
                          </a:solidFill>
                          <a:latin typeface="Calibri"/>
                        </a:rPr>
                        <a:t>Offline reproducibility</a:t>
                      </a:r>
                    </a:p>
                  </a:txBody>
                  <a:tcPr marL="73152" marR="73152" anchor="ctr">
                    <a:solidFill>
                      <a:srgbClr val="FFFFFF"/>
                    </a:solidFill>
                  </a:tcPr>
                </a:tc>
                <a:tc>
                  <a:txBody>
                    <a:bodyPr/>
                    <a:lstStyle/>
                    <a:p>
                      <a:r>
                        <a:rPr sz="1200" b="0">
                          <a:solidFill>
                            <a:srgbClr val="14142B"/>
                          </a:solidFill>
                          <a:latin typeface="Calibri"/>
                        </a:rPr>
                        <a:t>1.0</a:t>
                      </a:r>
                    </a:p>
                  </a:txBody>
                  <a:tcPr marL="73152" marR="73152" anchor="ctr">
                    <a:solidFill>
                      <a:srgbClr val="FFFFFF"/>
                    </a:solidFill>
                  </a:tcPr>
                </a:tc>
                <a:tc>
                  <a:txBody>
                    <a:bodyPr/>
                    <a:lstStyle/>
                    <a:p>
                      <a:r>
                        <a:rPr sz="1200" b="0">
                          <a:solidFill>
                            <a:srgbClr val="14142B"/>
                          </a:solidFill>
                          <a:latin typeface="Calibri"/>
                        </a:rPr>
                        <a:t>1.0 (zero network)</a:t>
                      </a:r>
                    </a:p>
                  </a:txBody>
                  <a:tcPr marL="73152" marR="73152" anchor="ctr">
                    <a:solidFill>
                      <a:srgbClr val="FFFFFF"/>
                    </a:solidFill>
                  </a:tcPr>
                </a:tc>
                <a:tc>
                  <a:txBody>
                    <a:bodyPr/>
                    <a:lstStyle/>
                    <a:p>
                      <a:r>
                        <a:rPr sz="1200" b="1">
                          <a:solidFill>
                            <a:srgbClr val="0F8A78"/>
                          </a:solidFill>
                          <a:latin typeface="Calibri"/>
                        </a:rPr>
                        <a:t>PASS</a:t>
                      </a:r>
                    </a:p>
                  </a:txBody>
                  <a:tcPr marL="73152" marR="73152" anchor="ctr">
                    <a:solidFill>
                      <a:srgbClr val="FFFFFF"/>
                    </a:solidFill>
                  </a:tcPr>
                </a:tc>
                <a:extLst>
                  <a:ext uri="{0D108BD9-81ED-4DB2-BD59-A6C34878D82A}">
                    <a16:rowId xmlns:a16="http://schemas.microsoft.com/office/drawing/2014/main" val="10001"/>
                  </a:ext>
                </a:extLst>
              </a:tr>
              <a:tr h="457200">
                <a:tc>
                  <a:txBody>
                    <a:bodyPr/>
                    <a:lstStyle/>
                    <a:p>
                      <a:r>
                        <a:rPr sz="1200" b="1">
                          <a:solidFill>
                            <a:srgbClr val="14142B"/>
                          </a:solidFill>
                          <a:latin typeface="Calibri"/>
                        </a:rPr>
                        <a:t>G2</a:t>
                      </a:r>
                    </a:p>
                  </a:txBody>
                  <a:tcPr marL="73152" marR="73152" anchor="ctr">
                    <a:solidFill>
                      <a:srgbClr val="F6F3FD"/>
                    </a:solidFill>
                  </a:tcPr>
                </a:tc>
                <a:tc>
                  <a:txBody>
                    <a:bodyPr/>
                    <a:lstStyle/>
                    <a:p>
                      <a:r>
                        <a:rPr sz="1200" b="0">
                          <a:solidFill>
                            <a:srgbClr val="14142B"/>
                          </a:solidFill>
                          <a:latin typeface="Calibri"/>
                        </a:rPr>
                        <a:t>Early retrieval triggering</a:t>
                      </a:r>
                    </a:p>
                  </a:txBody>
                  <a:tcPr marL="73152" marR="73152" anchor="ctr">
                    <a:solidFill>
                      <a:srgbClr val="F6F3FD"/>
                    </a:solidFill>
                  </a:tcPr>
                </a:tc>
                <a:tc>
                  <a:txBody>
                    <a:bodyPr/>
                    <a:lstStyle/>
                    <a:p>
                      <a:r>
                        <a:rPr sz="1200" b="0">
                          <a:solidFill>
                            <a:srgbClr val="14142B"/>
                          </a:solidFill>
                          <a:latin typeface="Calibri"/>
                        </a:rPr>
                        <a:t>≥ 0.80</a:t>
                      </a:r>
                    </a:p>
                  </a:txBody>
                  <a:tcPr marL="73152" marR="73152" anchor="ctr">
                    <a:solidFill>
                      <a:srgbClr val="F6F3FD"/>
                    </a:solidFill>
                  </a:tcPr>
                </a:tc>
                <a:tc>
                  <a:txBody>
                    <a:bodyPr/>
                    <a:lstStyle/>
                    <a:p>
                      <a:r>
                        <a:rPr sz="1200" b="0">
                          <a:solidFill>
                            <a:srgbClr val="14142B"/>
                          </a:solidFill>
                          <a:latin typeface="Calibri"/>
                        </a:rPr>
                        <a:t>1.000 (n=52)</a:t>
                      </a:r>
                    </a:p>
                  </a:txBody>
                  <a:tcPr marL="73152" marR="73152" anchor="ctr">
                    <a:solidFill>
                      <a:srgbClr val="F6F3FD"/>
                    </a:solidFill>
                  </a:tcPr>
                </a:tc>
                <a:tc>
                  <a:txBody>
                    <a:bodyPr/>
                    <a:lstStyle/>
                    <a:p>
                      <a:r>
                        <a:rPr sz="1200" b="1">
                          <a:solidFill>
                            <a:srgbClr val="0F8A78"/>
                          </a:solidFill>
                          <a:latin typeface="Calibri"/>
                        </a:rPr>
                        <a:t>PASS</a:t>
                      </a:r>
                    </a:p>
                  </a:txBody>
                  <a:tcPr marL="73152" marR="73152" anchor="ctr">
                    <a:solidFill>
                      <a:srgbClr val="F6F3FD"/>
                    </a:solidFill>
                  </a:tcPr>
                </a:tc>
                <a:extLst>
                  <a:ext uri="{0D108BD9-81ED-4DB2-BD59-A6C34878D82A}">
                    <a16:rowId xmlns:a16="http://schemas.microsoft.com/office/drawing/2014/main" val="10002"/>
                  </a:ext>
                </a:extLst>
              </a:tr>
              <a:tr h="457200">
                <a:tc>
                  <a:txBody>
                    <a:bodyPr/>
                    <a:lstStyle/>
                    <a:p>
                      <a:r>
                        <a:rPr sz="1200" b="1">
                          <a:solidFill>
                            <a:srgbClr val="14142B"/>
                          </a:solidFill>
                          <a:latin typeface="Calibri"/>
                        </a:rPr>
                        <a:t>G3</a:t>
                      </a:r>
                    </a:p>
                  </a:txBody>
                  <a:tcPr marL="73152" marR="73152" anchor="ctr">
                    <a:solidFill>
                      <a:srgbClr val="FFFFFF"/>
                    </a:solidFill>
                  </a:tcPr>
                </a:tc>
                <a:tc>
                  <a:txBody>
                    <a:bodyPr/>
                    <a:lstStyle/>
                    <a:p>
                      <a:r>
                        <a:rPr sz="1200" b="0">
                          <a:solidFill>
                            <a:srgbClr val="14142B"/>
                          </a:solidFill>
                          <a:latin typeface="Calibri"/>
                        </a:rPr>
                        <a:t>Multi-intent decomposition</a:t>
                      </a:r>
                    </a:p>
                  </a:txBody>
                  <a:tcPr marL="73152" marR="73152" anchor="ctr">
                    <a:solidFill>
                      <a:srgbClr val="FFFFFF"/>
                    </a:solidFill>
                  </a:tcPr>
                </a:tc>
                <a:tc>
                  <a:txBody>
                    <a:bodyPr/>
                    <a:lstStyle/>
                    <a:p>
                      <a:r>
                        <a:rPr sz="1200" b="0">
                          <a:solidFill>
                            <a:srgbClr val="14142B"/>
                          </a:solidFill>
                          <a:latin typeface="Calibri"/>
                        </a:rPr>
                        <a:t>≥ 0.70</a:t>
                      </a:r>
                    </a:p>
                  </a:txBody>
                  <a:tcPr marL="73152" marR="73152" anchor="ctr">
                    <a:solidFill>
                      <a:srgbClr val="FFFFFF"/>
                    </a:solidFill>
                  </a:tcPr>
                </a:tc>
                <a:tc>
                  <a:txBody>
                    <a:bodyPr/>
                    <a:lstStyle/>
                    <a:p>
                      <a:r>
                        <a:rPr sz="1200" b="0">
                          <a:solidFill>
                            <a:srgbClr val="14142B"/>
                          </a:solidFill>
                          <a:latin typeface="Calibri"/>
                        </a:rPr>
                        <a:t>0.895 (n=19)</a:t>
                      </a:r>
                    </a:p>
                  </a:txBody>
                  <a:tcPr marL="73152" marR="73152" anchor="ctr">
                    <a:solidFill>
                      <a:srgbClr val="FFFFFF"/>
                    </a:solidFill>
                  </a:tcPr>
                </a:tc>
                <a:tc>
                  <a:txBody>
                    <a:bodyPr/>
                    <a:lstStyle/>
                    <a:p>
                      <a:r>
                        <a:rPr sz="1200" b="1">
                          <a:solidFill>
                            <a:srgbClr val="0F8A78"/>
                          </a:solidFill>
                          <a:latin typeface="Calibri"/>
                        </a:rPr>
                        <a:t>PASS</a:t>
                      </a:r>
                    </a:p>
                  </a:txBody>
                  <a:tcPr marL="73152" marR="73152" anchor="ctr">
                    <a:solidFill>
                      <a:srgbClr val="FFFFFF"/>
                    </a:solidFill>
                  </a:tcPr>
                </a:tc>
                <a:extLst>
                  <a:ext uri="{0D108BD9-81ED-4DB2-BD59-A6C34878D82A}">
                    <a16:rowId xmlns:a16="http://schemas.microsoft.com/office/drawing/2014/main" val="10003"/>
                  </a:ext>
                </a:extLst>
              </a:tr>
              <a:tr h="457200">
                <a:tc>
                  <a:txBody>
                    <a:bodyPr/>
                    <a:lstStyle/>
                    <a:p>
                      <a:r>
                        <a:rPr sz="1200" b="1">
                          <a:solidFill>
                            <a:srgbClr val="14142B"/>
                          </a:solidFill>
                          <a:latin typeface="Calibri"/>
                        </a:rPr>
                        <a:t>G4</a:t>
                      </a:r>
                    </a:p>
                  </a:txBody>
                  <a:tcPr marL="73152" marR="73152" anchor="ctr">
                    <a:solidFill>
                      <a:srgbClr val="F6F3FD"/>
                    </a:solidFill>
                  </a:tcPr>
                </a:tc>
                <a:tc>
                  <a:txBody>
                    <a:bodyPr/>
                    <a:lstStyle/>
                    <a:p>
                      <a:r>
                        <a:rPr sz="1200" b="0">
                          <a:solidFill>
                            <a:srgbClr val="14142B"/>
                          </a:solidFill>
                          <a:latin typeface="Calibri"/>
                        </a:rPr>
                        <a:t>Grounding (hallucinations)</a:t>
                      </a:r>
                    </a:p>
                  </a:txBody>
                  <a:tcPr marL="73152" marR="73152" anchor="ctr">
                    <a:solidFill>
                      <a:srgbClr val="F6F3FD"/>
                    </a:solidFill>
                  </a:tcPr>
                </a:tc>
                <a:tc>
                  <a:txBody>
                    <a:bodyPr/>
                    <a:lstStyle/>
                    <a:p>
                      <a:r>
                        <a:rPr sz="1200" b="0">
                          <a:solidFill>
                            <a:srgbClr val="14142B"/>
                          </a:solidFill>
                          <a:latin typeface="Calibri"/>
                        </a:rPr>
                        <a:t>≤ 0.00</a:t>
                      </a:r>
                    </a:p>
                  </a:txBody>
                  <a:tcPr marL="73152" marR="73152" anchor="ctr">
                    <a:solidFill>
                      <a:srgbClr val="F6F3FD"/>
                    </a:solidFill>
                  </a:tcPr>
                </a:tc>
                <a:tc>
                  <a:txBody>
                    <a:bodyPr/>
                    <a:lstStyle/>
                    <a:p>
                      <a:r>
                        <a:rPr sz="1200" b="0">
                          <a:solidFill>
                            <a:srgbClr val="14142B"/>
                          </a:solidFill>
                          <a:latin typeface="Calibri"/>
                        </a:rPr>
                        <a:t>0.0000 (n=112)</a:t>
                      </a:r>
                    </a:p>
                  </a:txBody>
                  <a:tcPr marL="73152" marR="73152" anchor="ctr">
                    <a:solidFill>
                      <a:srgbClr val="F6F3FD"/>
                    </a:solidFill>
                  </a:tcPr>
                </a:tc>
                <a:tc>
                  <a:txBody>
                    <a:bodyPr/>
                    <a:lstStyle/>
                    <a:p>
                      <a:r>
                        <a:rPr sz="1200" b="1">
                          <a:solidFill>
                            <a:srgbClr val="0F8A78"/>
                          </a:solidFill>
                          <a:latin typeface="Calibri"/>
                        </a:rPr>
                        <a:t>PASS</a:t>
                      </a:r>
                    </a:p>
                  </a:txBody>
                  <a:tcPr marL="73152" marR="73152" anchor="ctr">
                    <a:solidFill>
                      <a:srgbClr val="F6F3FD"/>
                    </a:solidFill>
                  </a:tcPr>
                </a:tc>
                <a:extLst>
                  <a:ext uri="{0D108BD9-81ED-4DB2-BD59-A6C34878D82A}">
                    <a16:rowId xmlns:a16="http://schemas.microsoft.com/office/drawing/2014/main" val="10004"/>
                  </a:ext>
                </a:extLst>
              </a:tr>
              <a:tr h="457200">
                <a:tc>
                  <a:txBody>
                    <a:bodyPr/>
                    <a:lstStyle/>
                    <a:p>
                      <a:r>
                        <a:rPr sz="1200" b="1">
                          <a:solidFill>
                            <a:srgbClr val="14142B"/>
                          </a:solidFill>
                          <a:latin typeface="Calibri"/>
                        </a:rPr>
                        <a:t>G5</a:t>
                      </a:r>
                    </a:p>
                  </a:txBody>
                  <a:tcPr marL="73152" marR="73152" anchor="ctr">
                    <a:solidFill>
                      <a:srgbClr val="FFFFFF"/>
                    </a:solidFill>
                  </a:tcPr>
                </a:tc>
                <a:tc>
                  <a:txBody>
                    <a:bodyPr/>
                    <a:lstStyle/>
                    <a:p>
                      <a:r>
                        <a:rPr sz="1200" b="0">
                          <a:solidFill>
                            <a:srgbClr val="14142B"/>
                          </a:solidFill>
                          <a:latin typeface="Calibri"/>
                        </a:rPr>
                        <a:t>Selective state continuity</a:t>
                      </a:r>
                    </a:p>
                  </a:txBody>
                  <a:tcPr marL="73152" marR="73152" anchor="ctr">
                    <a:solidFill>
                      <a:srgbClr val="FFFFFF"/>
                    </a:solidFill>
                  </a:tcPr>
                </a:tc>
                <a:tc>
                  <a:txBody>
                    <a:bodyPr/>
                    <a:lstStyle/>
                    <a:p>
                      <a:r>
                        <a:rPr sz="1200" b="0">
                          <a:solidFill>
                            <a:srgbClr val="14142B"/>
                          </a:solidFill>
                          <a:latin typeface="Calibri"/>
                        </a:rPr>
                        <a:t>1.0</a:t>
                      </a:r>
                    </a:p>
                  </a:txBody>
                  <a:tcPr marL="73152" marR="73152" anchor="ctr">
                    <a:solidFill>
                      <a:srgbClr val="FFFFFF"/>
                    </a:solidFill>
                  </a:tcPr>
                </a:tc>
                <a:tc>
                  <a:txBody>
                    <a:bodyPr/>
                    <a:lstStyle/>
                    <a:p>
                      <a:r>
                        <a:rPr sz="1200" b="0">
                          <a:solidFill>
                            <a:srgbClr val="14142B"/>
                          </a:solidFill>
                          <a:latin typeface="Calibri"/>
                        </a:rPr>
                        <a:t>1.000 (n=18)</a:t>
                      </a:r>
                    </a:p>
                  </a:txBody>
                  <a:tcPr marL="73152" marR="73152" anchor="ctr">
                    <a:solidFill>
                      <a:srgbClr val="FFFFFF"/>
                    </a:solidFill>
                  </a:tcPr>
                </a:tc>
                <a:tc>
                  <a:txBody>
                    <a:bodyPr/>
                    <a:lstStyle/>
                    <a:p>
                      <a:r>
                        <a:rPr sz="1200" b="1">
                          <a:solidFill>
                            <a:srgbClr val="0F8A78"/>
                          </a:solidFill>
                          <a:latin typeface="Calibri"/>
                        </a:rPr>
                        <a:t>PASS</a:t>
                      </a:r>
                    </a:p>
                  </a:txBody>
                  <a:tcPr marL="73152" marR="73152" anchor="ctr">
                    <a:solidFill>
                      <a:srgbClr val="FFFFFF"/>
                    </a:solidFill>
                  </a:tcPr>
                </a:tc>
                <a:extLst>
                  <a:ext uri="{0D108BD9-81ED-4DB2-BD59-A6C34878D82A}">
                    <a16:rowId xmlns:a16="http://schemas.microsoft.com/office/drawing/2014/main" val="10005"/>
                  </a:ext>
                </a:extLst>
              </a:tr>
              <a:tr h="457200">
                <a:tc>
                  <a:txBody>
                    <a:bodyPr/>
                    <a:lstStyle/>
                    <a:p>
                      <a:r>
                        <a:rPr sz="1200" b="1">
                          <a:solidFill>
                            <a:srgbClr val="14142B"/>
                          </a:solidFill>
                          <a:latin typeface="Calibri"/>
                        </a:rPr>
                        <a:t>G6</a:t>
                      </a:r>
                    </a:p>
                  </a:txBody>
                  <a:tcPr marL="73152" marR="73152" anchor="ctr">
                    <a:solidFill>
                      <a:srgbClr val="F6F3FD"/>
                    </a:solidFill>
                  </a:tcPr>
                </a:tc>
                <a:tc>
                  <a:txBody>
                    <a:bodyPr/>
                    <a:lstStyle/>
                    <a:p>
                      <a:r>
                        <a:rPr sz="1200" b="0">
                          <a:solidFill>
                            <a:srgbClr val="14142B"/>
                          </a:solidFill>
                          <a:latin typeface="Calibri"/>
                        </a:rPr>
                        <a:t>Telemetry schema</a:t>
                      </a:r>
                    </a:p>
                  </a:txBody>
                  <a:tcPr marL="73152" marR="73152" anchor="ctr">
                    <a:solidFill>
                      <a:srgbClr val="F6F3FD"/>
                    </a:solidFill>
                  </a:tcPr>
                </a:tc>
                <a:tc>
                  <a:txBody>
                    <a:bodyPr/>
                    <a:lstStyle/>
                    <a:p>
                      <a:r>
                        <a:rPr sz="1200" b="0">
                          <a:solidFill>
                            <a:srgbClr val="14142B"/>
                          </a:solidFill>
                          <a:latin typeface="Calibri"/>
                        </a:rPr>
                        <a:t>1.0</a:t>
                      </a:r>
                    </a:p>
                  </a:txBody>
                  <a:tcPr marL="73152" marR="73152" anchor="ctr">
                    <a:solidFill>
                      <a:srgbClr val="F6F3FD"/>
                    </a:solidFill>
                  </a:tcPr>
                </a:tc>
                <a:tc>
                  <a:txBody>
                    <a:bodyPr/>
                    <a:lstStyle/>
                    <a:p>
                      <a:r>
                        <a:rPr sz="1200" b="0">
                          <a:solidFill>
                            <a:srgbClr val="14142B"/>
                          </a:solidFill>
                          <a:latin typeface="Calibri"/>
                        </a:rPr>
                        <a:t>1.000 (n=64)</a:t>
                      </a:r>
                    </a:p>
                  </a:txBody>
                  <a:tcPr marL="73152" marR="73152" anchor="ctr">
                    <a:solidFill>
                      <a:srgbClr val="F6F3FD"/>
                    </a:solidFill>
                  </a:tcPr>
                </a:tc>
                <a:tc>
                  <a:txBody>
                    <a:bodyPr/>
                    <a:lstStyle/>
                    <a:p>
                      <a:r>
                        <a:rPr sz="1200" b="1">
                          <a:solidFill>
                            <a:srgbClr val="0F8A78"/>
                          </a:solidFill>
                          <a:latin typeface="Calibri"/>
                        </a:rPr>
                        <a:t>PASS</a:t>
                      </a:r>
                    </a:p>
                  </a:txBody>
                  <a:tcPr marL="73152" marR="73152" anchor="ctr">
                    <a:solidFill>
                      <a:srgbClr val="F6F3FD"/>
                    </a:solidFill>
                  </a:tcPr>
                </a:tc>
                <a:extLst>
                  <a:ext uri="{0D108BD9-81ED-4DB2-BD59-A6C34878D82A}">
                    <a16:rowId xmlns:a16="http://schemas.microsoft.com/office/drawing/2014/main" val="10006"/>
                  </a:ext>
                </a:extLst>
              </a:tr>
            </a:tbl>
          </a:graphicData>
        </a:graphic>
      </p:graphicFrame>
      <p:sp>
        <p:nvSpPr>
          <p:cNvPr id="142" name="Rounded Rectangle 141"/>
          <p:cNvSpPr/>
          <p:nvPr/>
        </p:nvSpPr>
        <p:spPr>
          <a:xfrm>
            <a:off x="822960" y="5166360"/>
            <a:ext cx="6309360" cy="105156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TextBox 142"/>
          <p:cNvSpPr txBox="1"/>
          <p:nvPr/>
        </p:nvSpPr>
        <p:spPr>
          <a:xfrm>
            <a:off x="1051560" y="5276088"/>
            <a:ext cx="5852160" cy="868680"/>
          </a:xfrm>
          <a:prstGeom prst="rect">
            <a:avLst/>
          </a:prstGeom>
          <a:noFill/>
        </p:spPr>
        <p:txBody>
          <a:bodyPr wrap="square" lIns="0" tIns="0" rIns="0" bIns="0" anchor="t">
            <a:spAutoFit/>
          </a:bodyPr>
          <a:lstStyle/>
          <a:p>
            <a:pPr algn="l">
              <a:lnSpc>
                <a:spcPct val="105000"/>
              </a:lnSpc>
            </a:pPr>
            <a:r>
              <a:rPr sz="1300" b="1" i="0">
                <a:solidFill>
                  <a:srgbClr val="6D28D9"/>
                </a:solidFill>
                <a:latin typeface="Calibri"/>
              </a:rPr>
              <a:t>Innovation highlights  </a:t>
            </a:r>
          </a:p>
          <a:p>
            <a:pPr algn="l">
              <a:lnSpc>
                <a:spcPct val="105000"/>
              </a:lnSpc>
            </a:pPr>
            <a:r>
              <a:rPr sz="1200" b="0" i="0">
                <a:solidFill>
                  <a:srgbClr val="63637E"/>
                </a:solidFill>
                <a:latin typeface="Calibri"/>
              </a:rPr>
              <a:t>Ready-at-end drafting (65.4% of turns verified the moment speech ends) · two-speed grounded synthesis · in-place delta evolution of claims</a:t>
            </a:r>
          </a:p>
        </p:txBody>
      </p:sp>
      <p:sp>
        <p:nvSpPr>
          <p:cNvPr id="144" name="Rounded Rectangle 143"/>
          <p:cNvSpPr/>
          <p:nvPr/>
        </p:nvSpPr>
        <p:spPr>
          <a:xfrm>
            <a:off x="7406640" y="1783080"/>
            <a:ext cx="3959352" cy="4434840"/>
          </a:xfrm>
          <a:prstGeom prst="roundRect">
            <a:avLst>
              <a:gd name="adj" fmla="val 8000"/>
            </a:avLst>
          </a:prstGeom>
          <a:solidFill>
            <a:srgbClr val="FFFFFF"/>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7635240" y="1938528"/>
            <a:ext cx="3566160" cy="320040"/>
          </a:xfrm>
          <a:prstGeom prst="rect">
            <a:avLst/>
          </a:prstGeom>
          <a:noFill/>
        </p:spPr>
        <p:txBody>
          <a:bodyPr wrap="square" lIns="0" tIns="0" rIns="0" bIns="0" anchor="t">
            <a:spAutoFit/>
          </a:bodyPr>
          <a:lstStyle/>
          <a:p>
            <a:pPr algn="l"/>
            <a:r>
              <a:rPr sz="1500" b="1" i="0">
                <a:solidFill>
                  <a:srgbClr val="B45F06"/>
                </a:solidFill>
                <a:latin typeface="Calibri"/>
              </a:rPr>
              <a:t>Limitations (honest view)</a:t>
            </a:r>
          </a:p>
        </p:txBody>
      </p:sp>
      <p:sp>
        <p:nvSpPr>
          <p:cNvPr id="146" name="TextBox 145"/>
          <p:cNvSpPr txBox="1"/>
          <p:nvPr/>
        </p:nvSpPr>
        <p:spPr>
          <a:xfrm>
            <a:off x="7635240" y="2423160"/>
            <a:ext cx="3520440" cy="3749039"/>
          </a:xfrm>
          <a:prstGeom prst="rect">
            <a:avLst/>
          </a:prstGeom>
          <a:noFill/>
        </p:spPr>
        <p:txBody>
          <a:bodyPr wrap="square" lIns="0" tIns="0" rIns="0" bIns="0" anchor="t">
            <a:spAutoFit/>
          </a:bodyPr>
          <a:lstStyle/>
          <a:p>
            <a:pPr algn="l">
              <a:lnSpc>
                <a:spcPct val="105000"/>
              </a:lnSpc>
              <a:spcAft>
                <a:spcPts val="900"/>
              </a:spcAft>
            </a:pPr>
            <a:r>
              <a:rPr sz="1400" b="1" i="0">
                <a:solidFill>
                  <a:srgbClr val="B45F06"/>
                </a:solidFill>
                <a:latin typeface="Calibri"/>
              </a:rPr>
              <a:t>•  </a:t>
            </a:r>
            <a:r>
              <a:rPr sz="1400" b="0" i="0">
                <a:solidFill>
                  <a:srgbClr val="14142B"/>
                </a:solidFill>
                <a:latin typeface="Calibri"/>
              </a:rPr>
              <a:t>At natural 1.0× speech rate, 18 of 52 retrieval turns (34.6%) are not yet fully drafted when speech ends.</a:t>
            </a:r>
          </a:p>
          <a:p>
            <a:pPr algn="l">
              <a:lnSpc>
                <a:spcPct val="105000"/>
              </a:lnSpc>
              <a:spcAft>
                <a:spcPts val="900"/>
              </a:spcAft>
            </a:pPr>
            <a:r>
              <a:rPr sz="1400" b="1" i="0">
                <a:solidFill>
                  <a:srgbClr val="B45F06"/>
                </a:solidFill>
                <a:latin typeface="Calibri"/>
              </a:rPr>
              <a:t>•  </a:t>
            </a:r>
            <a:r>
              <a:rPr sz="1400" b="0" i="0">
                <a:solidFill>
                  <a:srgbClr val="14142B"/>
                </a:solidFill>
                <a:latin typeface="Calibri"/>
              </a:rPr>
              <a:t>At 10 concurrent sessions p50 latency rises to 8.5 s; at 25 the engine load-sheds.</a:t>
            </a:r>
          </a:p>
          <a:p>
            <a:pPr algn="l">
              <a:lnSpc>
                <a:spcPct val="105000"/>
              </a:lnSpc>
              <a:spcAft>
                <a:spcPts val="900"/>
              </a:spcAft>
            </a:pPr>
            <a:r>
              <a:rPr sz="1400" b="1" i="0">
                <a:solidFill>
                  <a:srgbClr val="B45F06"/>
                </a:solidFill>
                <a:latin typeface="Calibri"/>
              </a:rPr>
              <a:t>•  </a:t>
            </a:r>
            <a:r>
              <a:rPr sz="1400" b="0" i="0">
                <a:solidFill>
                  <a:srgbClr val="14142B"/>
                </a:solidFill>
                <a:latin typeface="Calibri"/>
              </a:rPr>
              <a:t>A 1.5B local model limits multi-step reasoning depth in rewrites.</a:t>
            </a:r>
          </a:p>
          <a:p>
            <a:pPr algn="l">
              <a:lnSpc>
                <a:spcPct val="105000"/>
              </a:lnSpc>
              <a:spcAft>
                <a:spcPts val="900"/>
              </a:spcAft>
            </a:pPr>
            <a:r>
              <a:rPr sz="1400" b="1" i="0">
                <a:solidFill>
                  <a:srgbClr val="B45F06"/>
                </a:solidFill>
                <a:latin typeface="Calibri"/>
              </a:rPr>
              <a:t>•  </a:t>
            </a:r>
            <a:r>
              <a:rPr sz="1400" b="0" i="0">
                <a:solidFill>
                  <a:srgbClr val="14142B"/>
                </a:solidFill>
                <a:latin typeface="Calibri"/>
              </a:rPr>
              <a:t>Fluency study is small (n = 20 turns, κ = 0.689); eval uses a single frozen corpus.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What’s next</a:t>
            </a:r>
            <a:endParaRPr sz="4400" b="1">
              <a:solidFill>
                <a:srgbClr val="704EA6"/>
              </a:solidFill>
            </a:endParaRPr>
          </a:p>
        </p:txBody>
      </p:sp>
      <p:sp>
        <p:nvSpPr>
          <p:cNvPr id="144" name="TextBox 143"/>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ROADMAP</a:t>
            </a:r>
          </a:p>
        </p:txBody>
      </p:sp>
      <p:sp>
        <p:nvSpPr>
          <p:cNvPr id="145" name="TextBox 144"/>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09 / 12</a:t>
            </a:r>
          </a:p>
        </p:txBody>
      </p:sp>
      <p:sp>
        <p:nvSpPr>
          <p:cNvPr id="146" name="TextBox 145"/>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Planned next steps, building on the limitations we measured</a:t>
            </a:r>
          </a:p>
        </p:txBody>
      </p:sp>
      <p:sp>
        <p:nvSpPr>
          <p:cNvPr id="147" name="Rounded Rectangle 146"/>
          <p:cNvSpPr/>
          <p:nvPr/>
        </p:nvSpPr>
        <p:spPr>
          <a:xfrm>
            <a:off x="822960" y="1783080"/>
            <a:ext cx="1005840" cy="329184"/>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NEXT</a:t>
            </a:r>
          </a:p>
        </p:txBody>
      </p:sp>
      <p:sp>
        <p:nvSpPr>
          <p:cNvPr id="148" name="Right Arrow 147"/>
          <p:cNvSpPr/>
          <p:nvPr/>
        </p:nvSpPr>
        <p:spPr>
          <a:xfrm>
            <a:off x="1965960" y="1810512"/>
            <a:ext cx="2340864" cy="274320"/>
          </a:xfrm>
          <a:prstGeom prst="rightArrow">
            <a:avLst/>
          </a:prstGeom>
          <a:solidFill>
            <a:srgbClr val="D9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ounded Rectangle 148"/>
          <p:cNvSpPr/>
          <p:nvPr/>
        </p:nvSpPr>
        <p:spPr>
          <a:xfrm>
            <a:off x="822960" y="2331720"/>
            <a:ext cx="3300984" cy="30175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TextBox 149"/>
          <p:cNvSpPr txBox="1"/>
          <p:nvPr/>
        </p:nvSpPr>
        <p:spPr>
          <a:xfrm>
            <a:off x="1097280" y="2542032"/>
            <a:ext cx="2752344" cy="640080"/>
          </a:xfrm>
          <a:prstGeom prst="rect">
            <a:avLst/>
          </a:prstGeom>
          <a:noFill/>
        </p:spPr>
        <p:txBody>
          <a:bodyPr wrap="square" lIns="0" tIns="0" rIns="0" bIns="0" anchor="t">
            <a:spAutoFit/>
          </a:bodyPr>
          <a:lstStyle/>
          <a:p>
            <a:pPr algn="l">
              <a:lnSpc>
                <a:spcPct val="95000"/>
              </a:lnSpc>
            </a:pPr>
            <a:r>
              <a:rPr sz="1800" b="1" i="0">
                <a:solidFill>
                  <a:srgbClr val="6D28D9"/>
                </a:solidFill>
                <a:latin typeface="Calibri"/>
              </a:rPr>
              <a:t>Close the ready-at-end gap</a:t>
            </a:r>
          </a:p>
        </p:txBody>
      </p:sp>
      <p:sp>
        <p:nvSpPr>
          <p:cNvPr id="151" name="TextBox 150"/>
          <p:cNvSpPr txBox="1"/>
          <p:nvPr/>
        </p:nvSpPr>
        <p:spPr>
          <a:xfrm>
            <a:off x="1097280" y="3246120"/>
            <a:ext cx="2752344" cy="2834640"/>
          </a:xfrm>
          <a:prstGeom prst="rect">
            <a:avLst/>
          </a:prstGeom>
          <a:noFill/>
        </p:spPr>
        <p:txBody>
          <a:bodyPr wrap="square" lIns="0" tIns="0" rIns="0" bIns="0" anchor="t">
            <a:spAutoFit/>
          </a:bodyPr>
          <a:lstStyle/>
          <a:p>
            <a:pPr algn="l">
              <a:lnSpc>
                <a:spcPct val="105000"/>
              </a:lnSpc>
              <a:spcAft>
                <a:spcPts val="1200"/>
              </a:spcAft>
            </a:pPr>
            <a:r>
              <a:rPr sz="1300" b="1" i="0">
                <a:solidFill>
                  <a:srgbClr val="6D28D9"/>
                </a:solidFill>
                <a:latin typeface="Calibri"/>
              </a:rPr>
              <a:t>•  </a:t>
            </a:r>
            <a:r>
              <a:rPr sz="1300" b="0" i="0">
                <a:solidFill>
                  <a:srgbClr val="14142B"/>
                </a:solidFill>
                <a:latin typeface="Calibri"/>
              </a:rPr>
              <a:t>Better prefix-stability prediction to lift 65.4% at 1.0× speech</a:t>
            </a:r>
          </a:p>
          <a:p>
            <a:pPr algn="l">
              <a:lnSpc>
                <a:spcPct val="105000"/>
              </a:lnSpc>
              <a:spcAft>
                <a:spcPts val="1200"/>
              </a:spcAft>
            </a:pPr>
            <a:r>
              <a:rPr sz="1300" b="1" i="0">
                <a:solidFill>
                  <a:srgbClr val="6D28D9"/>
                </a:solidFill>
                <a:latin typeface="Calibri"/>
              </a:rPr>
              <a:t>•  </a:t>
            </a:r>
            <a:r>
              <a:rPr sz="1300" b="0" i="0">
                <a:solidFill>
                  <a:srgbClr val="14142B"/>
                </a:solidFill>
                <a:latin typeface="Calibri"/>
              </a:rPr>
              <a:t>Streaming TTS so the spoken reply starts at 0 ms</a:t>
            </a:r>
          </a:p>
          <a:p>
            <a:pPr algn="l">
              <a:lnSpc>
                <a:spcPct val="105000"/>
              </a:lnSpc>
              <a:spcAft>
                <a:spcPts val="1200"/>
              </a:spcAft>
            </a:pPr>
            <a:r>
              <a:rPr sz="1300" b="1" i="0">
                <a:solidFill>
                  <a:srgbClr val="6D28D9"/>
                </a:solidFill>
                <a:latin typeface="Calibri"/>
              </a:rPr>
              <a:t>•  </a:t>
            </a:r>
            <a:r>
              <a:rPr sz="1300" b="0" i="0">
                <a:solidFill>
                  <a:srgbClr val="14142B"/>
                </a:solidFill>
                <a:latin typeface="Calibri"/>
              </a:rPr>
              <a:t>Larger, multi-corpus evaluation set</a:t>
            </a:r>
          </a:p>
        </p:txBody>
      </p:sp>
      <p:sp>
        <p:nvSpPr>
          <p:cNvPr id="152" name="Rounded Rectangle 151"/>
          <p:cNvSpPr/>
          <p:nvPr/>
        </p:nvSpPr>
        <p:spPr>
          <a:xfrm>
            <a:off x="4443984" y="1783080"/>
            <a:ext cx="1005840" cy="329184"/>
          </a:xfrm>
          <a:prstGeom prst="roundRect">
            <a:avLst>
              <a:gd name="adj" fmla="val 50000"/>
            </a:avLst>
          </a:prstGeom>
          <a:solidFill>
            <a:srgbClr val="0F8A7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THEN</a:t>
            </a:r>
          </a:p>
        </p:txBody>
      </p:sp>
      <p:sp>
        <p:nvSpPr>
          <p:cNvPr id="153" name="Right Arrow 152"/>
          <p:cNvSpPr/>
          <p:nvPr/>
        </p:nvSpPr>
        <p:spPr>
          <a:xfrm>
            <a:off x="5586984" y="1810512"/>
            <a:ext cx="2340864" cy="274320"/>
          </a:xfrm>
          <a:prstGeom prst="rightArrow">
            <a:avLst/>
          </a:prstGeom>
          <a:solidFill>
            <a:srgbClr val="D9D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ounded Rectangle 153"/>
          <p:cNvSpPr/>
          <p:nvPr/>
        </p:nvSpPr>
        <p:spPr>
          <a:xfrm>
            <a:off x="4443984" y="2331720"/>
            <a:ext cx="3300984" cy="30175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TextBox 154"/>
          <p:cNvSpPr txBox="1"/>
          <p:nvPr/>
        </p:nvSpPr>
        <p:spPr>
          <a:xfrm>
            <a:off x="4718304" y="2542032"/>
            <a:ext cx="2752344" cy="640080"/>
          </a:xfrm>
          <a:prstGeom prst="rect">
            <a:avLst/>
          </a:prstGeom>
          <a:noFill/>
        </p:spPr>
        <p:txBody>
          <a:bodyPr wrap="square" lIns="0" tIns="0" rIns="0" bIns="0" anchor="t">
            <a:spAutoFit/>
          </a:bodyPr>
          <a:lstStyle/>
          <a:p>
            <a:pPr algn="l">
              <a:lnSpc>
                <a:spcPct val="95000"/>
              </a:lnSpc>
            </a:pPr>
            <a:r>
              <a:rPr sz="1800" b="1" i="0">
                <a:solidFill>
                  <a:srgbClr val="0F8A78"/>
                </a:solidFill>
                <a:latin typeface="Calibri"/>
              </a:rPr>
              <a:t>Scale and harden</a:t>
            </a:r>
          </a:p>
        </p:txBody>
      </p:sp>
      <p:sp>
        <p:nvSpPr>
          <p:cNvPr id="156" name="TextBox 155"/>
          <p:cNvSpPr txBox="1"/>
          <p:nvPr/>
        </p:nvSpPr>
        <p:spPr>
          <a:xfrm>
            <a:off x="4718304" y="3246120"/>
            <a:ext cx="2752344" cy="2834640"/>
          </a:xfrm>
          <a:prstGeom prst="rect">
            <a:avLst/>
          </a:prstGeom>
          <a:noFill/>
        </p:spPr>
        <p:txBody>
          <a:bodyPr wrap="square" lIns="0" tIns="0" rIns="0" bIns="0" anchor="t">
            <a:spAutoFit/>
          </a:bodyPr>
          <a:lstStyle/>
          <a:p>
            <a:pPr algn="l">
              <a:lnSpc>
                <a:spcPct val="105000"/>
              </a:lnSpc>
              <a:spcAft>
                <a:spcPts val="1200"/>
              </a:spcAft>
            </a:pPr>
            <a:r>
              <a:rPr sz="1300" b="1" i="0">
                <a:solidFill>
                  <a:srgbClr val="0F8A78"/>
                </a:solidFill>
                <a:latin typeface="Calibri"/>
              </a:rPr>
              <a:t>•  </a:t>
            </a:r>
            <a:r>
              <a:rPr sz="1300" b="0" i="0">
                <a:solidFill>
                  <a:srgbClr val="14142B"/>
                </a:solidFill>
                <a:latin typeface="Calibri"/>
              </a:rPr>
              <a:t>Batched embedding and shared caches to go past 10 concurrent sessions</a:t>
            </a:r>
          </a:p>
          <a:p>
            <a:pPr algn="l">
              <a:lnSpc>
                <a:spcPct val="105000"/>
              </a:lnSpc>
              <a:spcAft>
                <a:spcPts val="1200"/>
              </a:spcAft>
            </a:pPr>
            <a:r>
              <a:rPr sz="1300" b="1" i="0">
                <a:solidFill>
                  <a:srgbClr val="0F8A78"/>
                </a:solidFill>
                <a:latin typeface="Calibri"/>
              </a:rPr>
              <a:t>•  </a:t>
            </a:r>
            <a:r>
              <a:rPr sz="1300" b="0" i="0">
                <a:solidFill>
                  <a:srgbClr val="14142B"/>
                </a:solidFill>
                <a:latin typeface="Calibri"/>
              </a:rPr>
              <a:t>Continuous red-teaming in CI</a:t>
            </a:r>
          </a:p>
          <a:p>
            <a:pPr algn="l">
              <a:lnSpc>
                <a:spcPct val="105000"/>
              </a:lnSpc>
              <a:spcAft>
                <a:spcPts val="1200"/>
              </a:spcAft>
            </a:pPr>
            <a:r>
              <a:rPr sz="1300" b="1" i="0">
                <a:solidFill>
                  <a:srgbClr val="0F8A78"/>
                </a:solidFill>
                <a:latin typeface="Calibri"/>
              </a:rPr>
              <a:t>•  </a:t>
            </a:r>
            <a:r>
              <a:rPr sz="1300" b="0" i="0">
                <a:solidFill>
                  <a:srgbClr val="14142B"/>
                </a:solidFill>
                <a:latin typeface="Calibri"/>
              </a:rPr>
              <a:t>Human fluency study with more raters</a:t>
            </a:r>
          </a:p>
        </p:txBody>
      </p:sp>
      <p:sp>
        <p:nvSpPr>
          <p:cNvPr id="157" name="Rounded Rectangle 156"/>
          <p:cNvSpPr/>
          <p:nvPr/>
        </p:nvSpPr>
        <p:spPr>
          <a:xfrm>
            <a:off x="8065008" y="1783080"/>
            <a:ext cx="1005840" cy="329184"/>
          </a:xfrm>
          <a:prstGeom prst="roundRect">
            <a:avLst>
              <a:gd name="adj" fmla="val 50000"/>
            </a:avLst>
          </a:prstGeom>
          <a:solidFill>
            <a:srgbClr val="2F5BD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LATER</a:t>
            </a:r>
          </a:p>
        </p:txBody>
      </p:sp>
      <p:sp>
        <p:nvSpPr>
          <p:cNvPr id="158" name="Rounded Rectangle 157"/>
          <p:cNvSpPr/>
          <p:nvPr/>
        </p:nvSpPr>
        <p:spPr>
          <a:xfrm>
            <a:off x="8065008" y="2331720"/>
            <a:ext cx="3300984" cy="30175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TextBox 158"/>
          <p:cNvSpPr txBox="1"/>
          <p:nvPr/>
        </p:nvSpPr>
        <p:spPr>
          <a:xfrm>
            <a:off x="8339328" y="2542032"/>
            <a:ext cx="2752344" cy="640080"/>
          </a:xfrm>
          <a:prstGeom prst="rect">
            <a:avLst/>
          </a:prstGeom>
          <a:noFill/>
        </p:spPr>
        <p:txBody>
          <a:bodyPr wrap="square" lIns="0" tIns="0" rIns="0" bIns="0" anchor="t">
            <a:spAutoFit/>
          </a:bodyPr>
          <a:lstStyle/>
          <a:p>
            <a:pPr algn="l">
              <a:lnSpc>
                <a:spcPct val="95000"/>
              </a:lnSpc>
            </a:pPr>
            <a:r>
              <a:rPr sz="1800" b="1" i="0">
                <a:solidFill>
                  <a:srgbClr val="2F5BD3"/>
                </a:solidFill>
                <a:latin typeface="Calibri"/>
              </a:rPr>
              <a:t>Go on-device and multilingual</a:t>
            </a:r>
          </a:p>
        </p:txBody>
      </p:sp>
      <p:sp>
        <p:nvSpPr>
          <p:cNvPr id="160" name="TextBox 159"/>
          <p:cNvSpPr txBox="1"/>
          <p:nvPr/>
        </p:nvSpPr>
        <p:spPr>
          <a:xfrm>
            <a:off x="8339328" y="3246120"/>
            <a:ext cx="2752344" cy="2834640"/>
          </a:xfrm>
          <a:prstGeom prst="rect">
            <a:avLst/>
          </a:prstGeom>
          <a:noFill/>
        </p:spPr>
        <p:txBody>
          <a:bodyPr wrap="square" lIns="0" tIns="0" rIns="0" bIns="0" anchor="t">
            <a:spAutoFit/>
          </a:bodyPr>
          <a:lstStyle/>
          <a:p>
            <a:pPr algn="l">
              <a:lnSpc>
                <a:spcPct val="105000"/>
              </a:lnSpc>
              <a:spcAft>
                <a:spcPts val="1200"/>
              </a:spcAft>
            </a:pPr>
            <a:r>
              <a:rPr sz="1300" b="1" i="0">
                <a:solidFill>
                  <a:srgbClr val="2F5BD3"/>
                </a:solidFill>
                <a:latin typeface="Calibri"/>
              </a:rPr>
              <a:t>•  </a:t>
            </a:r>
            <a:r>
              <a:rPr sz="1300" b="0" i="0">
                <a:solidFill>
                  <a:srgbClr val="14142B"/>
                </a:solidFill>
                <a:latin typeface="Calibri"/>
              </a:rPr>
              <a:t>Indian-language speech (Hindi, Kannada and more) with code-mixed queries</a:t>
            </a:r>
          </a:p>
          <a:p>
            <a:pPr algn="l">
              <a:lnSpc>
                <a:spcPct val="105000"/>
              </a:lnSpc>
              <a:spcAft>
                <a:spcPts val="1200"/>
              </a:spcAft>
            </a:pPr>
            <a:r>
              <a:rPr sz="1300" b="1" i="0">
                <a:solidFill>
                  <a:srgbClr val="2F5BD3"/>
                </a:solidFill>
                <a:latin typeface="Calibri"/>
              </a:rPr>
              <a:t>•  </a:t>
            </a:r>
            <a:r>
              <a:rPr sz="1300" b="0" i="0">
                <a:solidFill>
                  <a:srgbClr val="14142B"/>
                </a:solidFill>
                <a:latin typeface="Calibri"/>
              </a:rPr>
              <a:t>NPU-accelerated inference on phones and TVs</a:t>
            </a:r>
          </a:p>
          <a:p>
            <a:pPr algn="l">
              <a:lnSpc>
                <a:spcPct val="105000"/>
              </a:lnSpc>
              <a:spcAft>
                <a:spcPts val="1200"/>
              </a:spcAft>
            </a:pPr>
            <a:r>
              <a:rPr sz="1300" b="1" i="0">
                <a:solidFill>
                  <a:srgbClr val="2F5BD3"/>
                </a:solidFill>
                <a:latin typeface="Calibri"/>
              </a:rPr>
              <a:t>•  </a:t>
            </a:r>
            <a:r>
              <a:rPr sz="1300" b="0" i="0">
                <a:solidFill>
                  <a:srgbClr val="14142B"/>
                </a:solidFill>
                <a:latin typeface="Calibri"/>
              </a:rPr>
              <a:t>Personal-document RAG that never leaves the device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Brownie points slide( differentiation)</a:t>
            </a:r>
            <a:endParaRPr sz="4400" b="1">
              <a:solidFill>
                <a:srgbClr val="704EA6"/>
              </a:solidFill>
            </a:endParaRPr>
          </a:p>
        </p:txBody>
      </p:sp>
      <p:sp>
        <p:nvSpPr>
          <p:cNvPr id="150" name="TextBox 149"/>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DIFFERENTIATION</a:t>
            </a:r>
          </a:p>
        </p:txBody>
      </p:sp>
      <p:sp>
        <p:nvSpPr>
          <p:cNvPr id="151" name="TextBox 150"/>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10 / 12</a:t>
            </a:r>
          </a:p>
        </p:txBody>
      </p:sp>
      <p:sp>
        <p:nvSpPr>
          <p:cNvPr id="152" name="TextBox 151"/>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Metrics that set KAIROS apart from turn-taking voice RAG</a:t>
            </a:r>
          </a:p>
        </p:txBody>
      </p:sp>
      <p:sp>
        <p:nvSpPr>
          <p:cNvPr id="153" name="Rounded Rectangle 152"/>
          <p:cNvSpPr/>
          <p:nvPr/>
        </p:nvSpPr>
        <p:spPr>
          <a:xfrm>
            <a:off x="822960" y="1783080"/>
            <a:ext cx="3331464" cy="2103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TextBox 153"/>
          <p:cNvSpPr txBox="1"/>
          <p:nvPr/>
        </p:nvSpPr>
        <p:spPr>
          <a:xfrm>
            <a:off x="1097280" y="1984248"/>
            <a:ext cx="2782823" cy="548640"/>
          </a:xfrm>
          <a:prstGeom prst="rect">
            <a:avLst/>
          </a:prstGeom>
          <a:noFill/>
        </p:spPr>
        <p:txBody>
          <a:bodyPr wrap="square" lIns="0" tIns="0" rIns="0" bIns="0" anchor="t">
            <a:spAutoFit/>
          </a:bodyPr>
          <a:lstStyle/>
          <a:p>
            <a:pPr algn="l"/>
            <a:r>
              <a:rPr sz="3200" b="1" i="0">
                <a:solidFill>
                  <a:srgbClr val="6D28D9"/>
                </a:solidFill>
                <a:latin typeface="Arial"/>
              </a:rPr>
              <a:t>65.4%</a:t>
            </a:r>
          </a:p>
        </p:txBody>
      </p:sp>
      <p:sp>
        <p:nvSpPr>
          <p:cNvPr id="155" name="TextBox 154"/>
          <p:cNvSpPr txBox="1"/>
          <p:nvPr/>
        </p:nvSpPr>
        <p:spPr>
          <a:xfrm>
            <a:off x="1097280" y="2606040"/>
            <a:ext cx="2782823" cy="320040"/>
          </a:xfrm>
          <a:prstGeom prst="rect">
            <a:avLst/>
          </a:prstGeom>
          <a:noFill/>
        </p:spPr>
        <p:txBody>
          <a:bodyPr wrap="square" lIns="0" tIns="0" rIns="0" bIns="0" anchor="t">
            <a:spAutoFit/>
          </a:bodyPr>
          <a:lstStyle/>
          <a:p>
            <a:pPr algn="l"/>
            <a:r>
              <a:rPr sz="1500" b="1" i="0">
                <a:solidFill>
                  <a:srgbClr val="14142B"/>
                </a:solidFill>
                <a:latin typeface="Calibri"/>
              </a:rPr>
              <a:t>Ready at end of speech</a:t>
            </a:r>
          </a:p>
        </p:txBody>
      </p:sp>
      <p:sp>
        <p:nvSpPr>
          <p:cNvPr id="156" name="TextBox 155"/>
          <p:cNvSpPr txBox="1"/>
          <p:nvPr/>
        </p:nvSpPr>
        <p:spPr>
          <a:xfrm>
            <a:off x="1097280" y="2953512"/>
            <a:ext cx="2782823" cy="82296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34 / 52 turns verified the exact millisecond speech ended; 100% at 0.75× and 1.5×</a:t>
            </a:r>
          </a:p>
        </p:txBody>
      </p:sp>
      <p:sp>
        <p:nvSpPr>
          <p:cNvPr id="157" name="Rounded Rectangle 156"/>
          <p:cNvSpPr/>
          <p:nvPr/>
        </p:nvSpPr>
        <p:spPr>
          <a:xfrm>
            <a:off x="4428744" y="1783080"/>
            <a:ext cx="3331464" cy="2103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TextBox 157"/>
          <p:cNvSpPr txBox="1"/>
          <p:nvPr/>
        </p:nvSpPr>
        <p:spPr>
          <a:xfrm>
            <a:off x="4703063" y="1984248"/>
            <a:ext cx="2782823" cy="548640"/>
          </a:xfrm>
          <a:prstGeom prst="rect">
            <a:avLst/>
          </a:prstGeom>
          <a:noFill/>
        </p:spPr>
        <p:txBody>
          <a:bodyPr wrap="square" lIns="0" tIns="0" rIns="0" bIns="0" anchor="t">
            <a:spAutoFit/>
          </a:bodyPr>
          <a:lstStyle/>
          <a:p>
            <a:pPr algn="l"/>
            <a:r>
              <a:rPr sz="3200" b="1" i="0">
                <a:solidFill>
                  <a:srgbClr val="6D28D9"/>
                </a:solidFill>
                <a:latin typeface="Arial"/>
              </a:rPr>
              <a:t>1,800 ms</a:t>
            </a:r>
          </a:p>
        </p:txBody>
      </p:sp>
      <p:sp>
        <p:nvSpPr>
          <p:cNvPr id="159" name="TextBox 158"/>
          <p:cNvSpPr txBox="1"/>
          <p:nvPr/>
        </p:nvSpPr>
        <p:spPr>
          <a:xfrm>
            <a:off x="4703063" y="2606040"/>
            <a:ext cx="2782823" cy="320040"/>
          </a:xfrm>
          <a:prstGeom prst="rect">
            <a:avLst/>
          </a:prstGeom>
          <a:noFill/>
        </p:spPr>
        <p:txBody>
          <a:bodyPr wrap="square" lIns="0" tIns="0" rIns="0" bIns="0" anchor="t">
            <a:spAutoFit/>
          </a:bodyPr>
          <a:lstStyle/>
          <a:p>
            <a:pPr algn="l"/>
            <a:r>
              <a:rPr sz="1500" b="1" i="0">
                <a:solidFill>
                  <a:srgbClr val="14142B"/>
                </a:solidFill>
                <a:latin typeface="Calibri"/>
              </a:rPr>
              <a:t>Median lead time</a:t>
            </a:r>
          </a:p>
        </p:txBody>
      </p:sp>
      <p:sp>
        <p:nvSpPr>
          <p:cNvPr id="160" name="TextBox 159"/>
          <p:cNvSpPr txBox="1"/>
          <p:nvPr/>
        </p:nvSpPr>
        <p:spPr>
          <a:xfrm>
            <a:off x="4703063" y="2953512"/>
            <a:ext cx="2782823" cy="82296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Answers retrieved and verified 1.8 s before the speaker goes silent</a:t>
            </a:r>
          </a:p>
        </p:txBody>
      </p:sp>
      <p:sp>
        <p:nvSpPr>
          <p:cNvPr id="161" name="Rounded Rectangle 160"/>
          <p:cNvSpPr/>
          <p:nvPr/>
        </p:nvSpPr>
        <p:spPr>
          <a:xfrm>
            <a:off x="8034527" y="1783080"/>
            <a:ext cx="3331464" cy="2103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TextBox 161"/>
          <p:cNvSpPr txBox="1"/>
          <p:nvPr/>
        </p:nvSpPr>
        <p:spPr>
          <a:xfrm>
            <a:off x="8308847" y="1984248"/>
            <a:ext cx="2782823" cy="548640"/>
          </a:xfrm>
          <a:prstGeom prst="rect">
            <a:avLst/>
          </a:prstGeom>
          <a:noFill/>
        </p:spPr>
        <p:txBody>
          <a:bodyPr wrap="square" lIns="0" tIns="0" rIns="0" bIns="0" anchor="t">
            <a:spAutoFit/>
          </a:bodyPr>
          <a:lstStyle/>
          <a:p>
            <a:pPr algn="l"/>
            <a:r>
              <a:rPr sz="3200" b="1" i="0">
                <a:solidFill>
                  <a:srgbClr val="6D28D9"/>
                </a:solidFill>
                <a:latin typeface="Arial"/>
              </a:rPr>
              <a:t>0.0 ms</a:t>
            </a:r>
          </a:p>
        </p:txBody>
      </p:sp>
      <p:sp>
        <p:nvSpPr>
          <p:cNvPr id="163" name="TextBox 162"/>
          <p:cNvSpPr txBox="1"/>
          <p:nvPr/>
        </p:nvSpPr>
        <p:spPr>
          <a:xfrm>
            <a:off x="8308847" y="2606040"/>
            <a:ext cx="2782823" cy="320040"/>
          </a:xfrm>
          <a:prstGeom prst="rect">
            <a:avLst/>
          </a:prstGeom>
          <a:noFill/>
        </p:spPr>
        <p:txBody>
          <a:bodyPr wrap="square" lIns="0" tIns="0" rIns="0" bIns="0" anchor="t">
            <a:spAutoFit/>
          </a:bodyPr>
          <a:lstStyle/>
          <a:p>
            <a:pPr algn="l"/>
            <a:r>
              <a:rPr sz="1500" b="1" i="0">
                <a:solidFill>
                  <a:srgbClr val="14142B"/>
                </a:solidFill>
                <a:latin typeface="Calibri"/>
              </a:rPr>
              <a:t>Time to first token</a:t>
            </a:r>
          </a:p>
        </p:txBody>
      </p:sp>
      <p:sp>
        <p:nvSpPr>
          <p:cNvPr id="164" name="TextBox 163"/>
          <p:cNvSpPr txBox="1"/>
          <p:nvPr/>
        </p:nvSpPr>
        <p:spPr>
          <a:xfrm>
            <a:off x="8308847" y="2953512"/>
            <a:ext cx="2782823" cy="82296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p50 TTFT, because the answer is pre-drafted in memory</a:t>
            </a:r>
          </a:p>
        </p:txBody>
      </p:sp>
      <p:sp>
        <p:nvSpPr>
          <p:cNvPr id="165" name="Rounded Rectangle 164"/>
          <p:cNvSpPr/>
          <p:nvPr/>
        </p:nvSpPr>
        <p:spPr>
          <a:xfrm>
            <a:off x="822960" y="4114800"/>
            <a:ext cx="3331464" cy="2103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TextBox 165"/>
          <p:cNvSpPr txBox="1"/>
          <p:nvPr/>
        </p:nvSpPr>
        <p:spPr>
          <a:xfrm>
            <a:off x="1097280" y="4315968"/>
            <a:ext cx="2782823" cy="548640"/>
          </a:xfrm>
          <a:prstGeom prst="rect">
            <a:avLst/>
          </a:prstGeom>
          <a:noFill/>
        </p:spPr>
        <p:txBody>
          <a:bodyPr wrap="square" lIns="0" tIns="0" rIns="0" bIns="0" anchor="t">
            <a:spAutoFit/>
          </a:bodyPr>
          <a:lstStyle/>
          <a:p>
            <a:pPr algn="l"/>
            <a:r>
              <a:rPr sz="3200" b="1" i="0">
                <a:solidFill>
                  <a:srgbClr val="0F8A78"/>
                </a:solidFill>
                <a:latin typeface="Arial"/>
              </a:rPr>
              <a:t>0.0%</a:t>
            </a:r>
          </a:p>
        </p:txBody>
      </p:sp>
      <p:sp>
        <p:nvSpPr>
          <p:cNvPr id="167" name="TextBox 166"/>
          <p:cNvSpPr txBox="1"/>
          <p:nvPr/>
        </p:nvSpPr>
        <p:spPr>
          <a:xfrm>
            <a:off x="1097280" y="4937760"/>
            <a:ext cx="2782823" cy="320040"/>
          </a:xfrm>
          <a:prstGeom prst="rect">
            <a:avLst/>
          </a:prstGeom>
          <a:noFill/>
        </p:spPr>
        <p:txBody>
          <a:bodyPr wrap="square" lIns="0" tIns="0" rIns="0" bIns="0" anchor="t">
            <a:spAutoFit/>
          </a:bodyPr>
          <a:lstStyle/>
          <a:p>
            <a:pPr algn="l"/>
            <a:r>
              <a:rPr sz="1500" b="1" i="0">
                <a:solidFill>
                  <a:srgbClr val="14142B"/>
                </a:solidFill>
                <a:latin typeface="Calibri"/>
              </a:rPr>
              <a:t>Attack success rate</a:t>
            </a:r>
          </a:p>
        </p:txBody>
      </p:sp>
      <p:sp>
        <p:nvSpPr>
          <p:cNvPr id="168" name="TextBox 167"/>
          <p:cNvSpPr txBox="1"/>
          <p:nvPr/>
        </p:nvSpPr>
        <p:spPr>
          <a:xfrm>
            <a:off x="1097280" y="5285232"/>
            <a:ext cx="2782823" cy="82296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0 / 32 red-team injection turns succeeded under corpus spotlighting</a:t>
            </a:r>
          </a:p>
        </p:txBody>
      </p:sp>
      <p:sp>
        <p:nvSpPr>
          <p:cNvPr id="169" name="Rounded Rectangle 168"/>
          <p:cNvSpPr/>
          <p:nvPr/>
        </p:nvSpPr>
        <p:spPr>
          <a:xfrm>
            <a:off x="4428744" y="4114800"/>
            <a:ext cx="3331464" cy="2103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TextBox 169"/>
          <p:cNvSpPr txBox="1"/>
          <p:nvPr/>
        </p:nvSpPr>
        <p:spPr>
          <a:xfrm>
            <a:off x="4703063" y="4315968"/>
            <a:ext cx="2782823" cy="548640"/>
          </a:xfrm>
          <a:prstGeom prst="rect">
            <a:avLst/>
          </a:prstGeom>
          <a:noFill/>
        </p:spPr>
        <p:txBody>
          <a:bodyPr wrap="square" lIns="0" tIns="0" rIns="0" bIns="0" anchor="t">
            <a:spAutoFit/>
          </a:bodyPr>
          <a:lstStyle/>
          <a:p>
            <a:pPr algn="l"/>
            <a:r>
              <a:rPr sz="3200" b="1" i="0">
                <a:solidFill>
                  <a:srgbClr val="0F8A78"/>
                </a:solidFill>
                <a:latin typeface="Arial"/>
              </a:rPr>
              <a:t>5.0 / 5</a:t>
            </a:r>
          </a:p>
        </p:txBody>
      </p:sp>
      <p:sp>
        <p:nvSpPr>
          <p:cNvPr id="171" name="TextBox 170"/>
          <p:cNvSpPr txBox="1"/>
          <p:nvPr/>
        </p:nvSpPr>
        <p:spPr>
          <a:xfrm>
            <a:off x="4703063" y="4937760"/>
            <a:ext cx="2782823" cy="320040"/>
          </a:xfrm>
          <a:prstGeom prst="rect">
            <a:avLst/>
          </a:prstGeom>
          <a:noFill/>
        </p:spPr>
        <p:txBody>
          <a:bodyPr wrap="square" lIns="0" tIns="0" rIns="0" bIns="0" anchor="t">
            <a:spAutoFit/>
          </a:bodyPr>
          <a:lstStyle/>
          <a:p>
            <a:pPr algn="l"/>
            <a:r>
              <a:rPr sz="1500" b="1" i="0">
                <a:solidFill>
                  <a:srgbClr val="14142B"/>
                </a:solidFill>
                <a:latin typeface="Calibri"/>
              </a:rPr>
              <a:t>Blind fluency score</a:t>
            </a:r>
          </a:p>
        </p:txBody>
      </p:sp>
      <p:sp>
        <p:nvSpPr>
          <p:cNvPr id="172" name="TextBox 171"/>
          <p:cNvSpPr txBox="1"/>
          <p:nvPr/>
        </p:nvSpPr>
        <p:spPr>
          <a:xfrm>
            <a:off x="4703063" y="5285232"/>
            <a:ext cx="2782823" cy="82296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Grounded rewrite vs 3.92 for raw quotes (+1.08), 0% hallucination</a:t>
            </a:r>
          </a:p>
        </p:txBody>
      </p:sp>
      <p:sp>
        <p:nvSpPr>
          <p:cNvPr id="173" name="Rounded Rectangle 172"/>
          <p:cNvSpPr/>
          <p:nvPr/>
        </p:nvSpPr>
        <p:spPr>
          <a:xfrm>
            <a:off x="8034527" y="4114800"/>
            <a:ext cx="3331464" cy="2103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TextBox 173"/>
          <p:cNvSpPr txBox="1"/>
          <p:nvPr/>
        </p:nvSpPr>
        <p:spPr>
          <a:xfrm>
            <a:off x="8308847" y="4315968"/>
            <a:ext cx="2782823" cy="548640"/>
          </a:xfrm>
          <a:prstGeom prst="rect">
            <a:avLst/>
          </a:prstGeom>
          <a:noFill/>
        </p:spPr>
        <p:txBody>
          <a:bodyPr wrap="square" lIns="0" tIns="0" rIns="0" bIns="0" anchor="t">
            <a:spAutoFit/>
          </a:bodyPr>
          <a:lstStyle/>
          <a:p>
            <a:pPr algn="l"/>
            <a:r>
              <a:rPr sz="3200" b="1" i="0">
                <a:solidFill>
                  <a:srgbClr val="0F8A78"/>
                </a:solidFill>
                <a:latin typeface="Arial"/>
              </a:rPr>
              <a:t>0</a:t>
            </a:r>
          </a:p>
        </p:txBody>
      </p:sp>
      <p:sp>
        <p:nvSpPr>
          <p:cNvPr id="175" name="TextBox 174"/>
          <p:cNvSpPr txBox="1"/>
          <p:nvPr/>
        </p:nvSpPr>
        <p:spPr>
          <a:xfrm>
            <a:off x="8308847" y="4937760"/>
            <a:ext cx="2782823" cy="320040"/>
          </a:xfrm>
          <a:prstGeom prst="rect">
            <a:avLst/>
          </a:prstGeom>
          <a:noFill/>
        </p:spPr>
        <p:txBody>
          <a:bodyPr wrap="square" lIns="0" tIns="0" rIns="0" bIns="0" anchor="t">
            <a:spAutoFit/>
          </a:bodyPr>
          <a:lstStyle/>
          <a:p>
            <a:pPr algn="l"/>
            <a:r>
              <a:rPr sz="1500" b="1" i="0">
                <a:solidFill>
                  <a:srgbClr val="14142B"/>
                </a:solidFill>
                <a:latin typeface="Calibri"/>
              </a:rPr>
              <a:t>Agent frameworks</a:t>
            </a:r>
          </a:p>
        </p:txBody>
      </p:sp>
      <p:sp>
        <p:nvSpPr>
          <p:cNvPr id="176" name="TextBox 175"/>
          <p:cNvSpPr txBox="1"/>
          <p:nvPr/>
        </p:nvSpPr>
        <p:spPr>
          <a:xfrm>
            <a:off x="8308847" y="5285232"/>
            <a:ext cx="2782823" cy="822960"/>
          </a:xfrm>
          <a:prstGeom prst="rect">
            <a:avLst/>
          </a:prstGeom>
          <a:noFill/>
        </p:spPr>
        <p:txBody>
          <a:bodyPr wrap="square" lIns="0" tIns="0" rIns="0" bIns="0" anchor="t">
            <a:spAutoFit/>
          </a:bodyPr>
          <a:lstStyle/>
          <a:p>
            <a:pPr algn="l">
              <a:lnSpc>
                <a:spcPct val="105000"/>
              </a:lnSpc>
            </a:pPr>
            <a:r>
              <a:rPr sz="1200" b="0" i="0">
                <a:solidFill>
                  <a:srgbClr val="63637E"/>
                </a:solidFill>
                <a:latin typeface="Calibri"/>
              </a:rPr>
              <a:t>One asyncio loop and 5 stages; 0.01 ms security overhead per turn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731520" y="475488"/>
            <a:ext cx="10058400"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3200" b="1">
                <a:solidFill>
                  <a:srgbClr val="704EA6"/>
                </a:solidFill>
                <a:latin typeface="Calibri"/>
                <a:ea typeface="Calibri"/>
                <a:cs typeface="Calibri"/>
                <a:sym typeface="Calibri"/>
              </a:rPr>
              <a:t>Checklist- Updated on Public GitHub</a:t>
            </a:r>
            <a:endParaRPr/>
          </a:p>
        </p:txBody>
      </p:sp>
      <p:sp>
        <p:nvSpPr>
          <p:cNvPr id="156" name="TextBox 155"/>
          <p:cNvSpPr txBox="1"/>
          <p:nvPr/>
        </p:nvSpPr>
        <p:spPr>
          <a:xfrm>
            <a:off x="822960" y="292608"/>
            <a:ext cx="7315200" cy="228600"/>
          </a:xfrm>
          <a:prstGeom prst="rect">
            <a:avLst/>
          </a:prstGeom>
          <a:noFill/>
        </p:spPr>
        <p:txBody>
          <a:bodyPr wrap="square" lIns="0" tIns="0" rIns="0" bIns="0" anchor="t">
            <a:spAutoFit/>
          </a:bodyPr>
          <a:lstStyle/>
          <a:p>
            <a:pPr algn="l"/>
            <a:r>
              <a:rPr sz="1100" b="1" i="0">
                <a:solidFill>
                  <a:srgbClr val="6D28D9"/>
                </a:solidFill>
                <a:latin typeface="Calibri"/>
              </a:rPr>
              <a:t>SUBMISSION CHECKLIST</a:t>
            </a:r>
          </a:p>
        </p:txBody>
      </p:sp>
      <p:sp>
        <p:nvSpPr>
          <p:cNvPr id="157" name="TextBox 156"/>
          <p:cNvSpPr txBox="1"/>
          <p:nvPr/>
        </p:nvSpPr>
        <p:spPr>
          <a:xfrm>
            <a:off x="10424160" y="292608"/>
            <a:ext cx="941832" cy="228600"/>
          </a:xfrm>
          <a:prstGeom prst="rect">
            <a:avLst/>
          </a:prstGeom>
          <a:noFill/>
        </p:spPr>
        <p:txBody>
          <a:bodyPr wrap="square" lIns="0" tIns="0" rIns="0" bIns="0" anchor="t">
            <a:spAutoFit/>
          </a:bodyPr>
          <a:lstStyle/>
          <a:p>
            <a:pPr algn="r"/>
            <a:r>
              <a:rPr sz="1100" b="0" i="0">
                <a:solidFill>
                  <a:srgbClr val="63637E"/>
                </a:solidFill>
                <a:latin typeface="Calibri"/>
              </a:rPr>
              <a:t>11 / 12</a:t>
            </a:r>
          </a:p>
        </p:txBody>
      </p:sp>
      <p:sp>
        <p:nvSpPr>
          <p:cNvPr id="158" name="TextBox 157"/>
          <p:cNvSpPr txBox="1"/>
          <p:nvPr/>
        </p:nvSpPr>
        <p:spPr>
          <a:xfrm>
            <a:off x="822960" y="1188720"/>
            <a:ext cx="10515600" cy="320040"/>
          </a:xfrm>
          <a:prstGeom prst="rect">
            <a:avLst/>
          </a:prstGeom>
          <a:noFill/>
        </p:spPr>
        <p:txBody>
          <a:bodyPr wrap="square" lIns="0" tIns="0" rIns="0" bIns="0" anchor="t">
            <a:spAutoFit/>
          </a:bodyPr>
          <a:lstStyle/>
          <a:p>
            <a:pPr algn="l"/>
            <a:r>
              <a:rPr sz="1400" b="0" i="0">
                <a:solidFill>
                  <a:srgbClr val="63637E"/>
                </a:solidFill>
                <a:latin typeface="Calibri"/>
              </a:rPr>
              <a:t>Release tag PRISM_GENAI_HACKATHON_Y2026 on github.com/cheshtarajput098-arch/kairos</a:t>
            </a:r>
          </a:p>
        </p:txBody>
      </p:sp>
      <p:sp>
        <p:nvSpPr>
          <p:cNvPr id="159" name="Rounded Rectangle 158"/>
          <p:cNvSpPr/>
          <p:nvPr/>
        </p:nvSpPr>
        <p:spPr>
          <a:xfrm>
            <a:off x="822960" y="1783080"/>
            <a:ext cx="10543032" cy="960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1051560" y="2020824"/>
            <a:ext cx="475488" cy="475488"/>
          </a:xfrm>
          <a:prstGeom prst="ellipse">
            <a:avLst/>
          </a:prstGeom>
          <a:solidFill>
            <a:srgbClr val="0F8A7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Y</a:t>
            </a:r>
          </a:p>
        </p:txBody>
      </p:sp>
      <p:sp>
        <p:nvSpPr>
          <p:cNvPr id="161" name="TextBox 160"/>
          <p:cNvSpPr txBox="1"/>
          <p:nvPr/>
        </p:nvSpPr>
        <p:spPr>
          <a:xfrm>
            <a:off x="1783080" y="1938528"/>
            <a:ext cx="9326880" cy="365760"/>
          </a:xfrm>
          <a:prstGeom prst="rect">
            <a:avLst/>
          </a:prstGeom>
          <a:noFill/>
        </p:spPr>
        <p:txBody>
          <a:bodyPr wrap="square" lIns="0" tIns="0" rIns="0" bIns="0" anchor="t">
            <a:spAutoFit/>
          </a:bodyPr>
          <a:lstStyle/>
          <a:p>
            <a:pPr algn="l"/>
            <a:r>
              <a:rPr sz="1700" b="1" i="0">
                <a:solidFill>
                  <a:srgbClr val="14142B"/>
                </a:solidFill>
                <a:latin typeface="Calibri"/>
              </a:rPr>
              <a:t>Working prototype code: public or shared GitHub repo</a:t>
            </a:r>
          </a:p>
        </p:txBody>
      </p:sp>
      <p:sp>
        <p:nvSpPr>
          <p:cNvPr id="162" name="TextBox 161"/>
          <p:cNvSpPr txBox="1"/>
          <p:nvPr/>
        </p:nvSpPr>
        <p:spPr>
          <a:xfrm>
            <a:off x="1783080" y="2304288"/>
            <a:ext cx="9326880" cy="365760"/>
          </a:xfrm>
          <a:prstGeom prst="rect">
            <a:avLst/>
          </a:prstGeom>
          <a:noFill/>
        </p:spPr>
        <p:txBody>
          <a:bodyPr wrap="square" lIns="0" tIns="0" rIns="0" bIns="0" anchor="t">
            <a:spAutoFit/>
          </a:bodyPr>
          <a:lstStyle/>
          <a:p>
            <a:pPr algn="l"/>
            <a:r>
              <a:rPr sz="1300" b="0" i="0">
                <a:solidFill>
                  <a:srgbClr val="63637E"/>
                </a:solidFill>
                <a:latin typeface="Calibri"/>
              </a:rPr>
              <a:t>github.com/cheshtarajput098-arch/kairos</a:t>
            </a:r>
          </a:p>
        </p:txBody>
      </p:sp>
      <p:sp>
        <p:nvSpPr>
          <p:cNvPr id="163" name="Rounded Rectangle 162"/>
          <p:cNvSpPr/>
          <p:nvPr/>
        </p:nvSpPr>
        <p:spPr>
          <a:xfrm>
            <a:off x="822960" y="2926080"/>
            <a:ext cx="10543032" cy="960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1051560" y="3163824"/>
            <a:ext cx="475488" cy="475488"/>
          </a:xfrm>
          <a:prstGeom prst="ellipse">
            <a:avLst/>
          </a:prstGeom>
          <a:solidFill>
            <a:srgbClr val="0F8A7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Y</a:t>
            </a:r>
          </a:p>
        </p:txBody>
      </p:sp>
      <p:sp>
        <p:nvSpPr>
          <p:cNvPr id="165" name="TextBox 164"/>
          <p:cNvSpPr txBox="1"/>
          <p:nvPr/>
        </p:nvSpPr>
        <p:spPr>
          <a:xfrm>
            <a:off x="1783080" y="3081528"/>
            <a:ext cx="9326880" cy="365760"/>
          </a:xfrm>
          <a:prstGeom prst="rect">
            <a:avLst/>
          </a:prstGeom>
          <a:noFill/>
        </p:spPr>
        <p:txBody>
          <a:bodyPr wrap="square" lIns="0" tIns="0" rIns="0" bIns="0" anchor="t">
            <a:spAutoFit/>
          </a:bodyPr>
          <a:lstStyle/>
          <a:p>
            <a:pPr algn="l"/>
            <a:r>
              <a:rPr sz="1700" b="1" i="0">
                <a:solidFill>
                  <a:srgbClr val="14142B"/>
                </a:solidFill>
                <a:latin typeface="Calibri"/>
              </a:rPr>
              <a:t>README with reproducible setup instructions</a:t>
            </a:r>
          </a:p>
        </p:txBody>
      </p:sp>
      <p:sp>
        <p:nvSpPr>
          <p:cNvPr id="166" name="TextBox 165"/>
          <p:cNvSpPr txBox="1"/>
          <p:nvPr/>
        </p:nvSpPr>
        <p:spPr>
          <a:xfrm>
            <a:off x="1783080" y="3447288"/>
            <a:ext cx="9326880" cy="365760"/>
          </a:xfrm>
          <a:prstGeom prst="rect">
            <a:avLst/>
          </a:prstGeom>
          <a:noFill/>
        </p:spPr>
        <p:txBody>
          <a:bodyPr wrap="square" lIns="0" tIns="0" rIns="0" bIns="0" anchor="t">
            <a:spAutoFit/>
          </a:bodyPr>
          <a:lstStyle/>
          <a:p>
            <a:pPr algn="l"/>
            <a:r>
              <a:rPr sz="1300" b="0" i="0">
                <a:solidFill>
                  <a:srgbClr val="63637E"/>
                </a:solidFill>
                <a:latin typeface="Calibri"/>
              </a:rPr>
              <a:t>docker compose up brings the system up; make eval re-runs gates G1–G6 offline</a:t>
            </a:r>
          </a:p>
        </p:txBody>
      </p:sp>
      <p:sp>
        <p:nvSpPr>
          <p:cNvPr id="167" name="Rounded Rectangle 166"/>
          <p:cNvSpPr/>
          <p:nvPr/>
        </p:nvSpPr>
        <p:spPr>
          <a:xfrm>
            <a:off x="822960" y="4069080"/>
            <a:ext cx="10543032" cy="960120"/>
          </a:xfrm>
          <a:prstGeom prst="roundRect">
            <a:avLst>
              <a:gd name="adj" fmla="val 8000"/>
            </a:avLst>
          </a:prstGeom>
          <a:solidFill>
            <a:srgbClr val="FFFFFF"/>
          </a:solidFill>
          <a:ln w="12700">
            <a:solidFill>
              <a:srgbClr val="B45F0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1051560" y="4306824"/>
            <a:ext cx="475488" cy="475488"/>
          </a:xfrm>
          <a:prstGeom prst="ellipse">
            <a:avLst/>
          </a:prstGeom>
          <a:solidFill>
            <a:srgbClr val="B45F0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69" name="TextBox 168"/>
          <p:cNvSpPr txBox="1"/>
          <p:nvPr/>
        </p:nvSpPr>
        <p:spPr>
          <a:xfrm>
            <a:off x="1783080" y="4224528"/>
            <a:ext cx="9326880" cy="365760"/>
          </a:xfrm>
          <a:prstGeom prst="rect">
            <a:avLst/>
          </a:prstGeom>
          <a:noFill/>
        </p:spPr>
        <p:txBody>
          <a:bodyPr wrap="square" lIns="0" tIns="0" rIns="0" bIns="0" anchor="t">
            <a:spAutoFit/>
          </a:bodyPr>
          <a:lstStyle/>
          <a:p>
            <a:pPr algn="l"/>
            <a:r>
              <a:rPr sz="1700" b="1" i="0">
                <a:solidFill>
                  <a:srgbClr val="14142B"/>
                </a:solidFill>
                <a:latin typeface="Calibri"/>
              </a:rPr>
              <a:t>Demo video, max 5 minutes (YouTube or Drive link)</a:t>
            </a:r>
          </a:p>
        </p:txBody>
      </p:sp>
      <p:sp>
        <p:nvSpPr>
          <p:cNvPr id="170" name="TextBox 169"/>
          <p:cNvSpPr txBox="1"/>
          <p:nvPr/>
        </p:nvSpPr>
        <p:spPr>
          <a:xfrm>
            <a:off x="1783080" y="4590288"/>
            <a:ext cx="9326880" cy="365760"/>
          </a:xfrm>
          <a:prstGeom prst="rect">
            <a:avLst/>
          </a:prstGeom>
          <a:noFill/>
        </p:spPr>
        <p:txBody>
          <a:bodyPr wrap="square" lIns="0" tIns="0" rIns="0" bIns="0" anchor="t">
            <a:spAutoFit/>
          </a:bodyPr>
          <a:lstStyle/>
          <a:p>
            <a:pPr algn="l"/>
            <a:r>
              <a:rPr sz="1300" b="0" i="0">
                <a:solidFill>
                  <a:srgbClr val="63637E"/>
                </a:solidFill>
                <a:latin typeface="Calibri"/>
              </a:rPr>
              <a:t>Link: add before submitting</a:t>
            </a:r>
          </a:p>
        </p:txBody>
      </p:sp>
      <p:sp>
        <p:nvSpPr>
          <p:cNvPr id="171" name="Rounded Rectangle 170"/>
          <p:cNvSpPr/>
          <p:nvPr/>
        </p:nvSpPr>
        <p:spPr>
          <a:xfrm>
            <a:off x="822960" y="5212080"/>
            <a:ext cx="10543032" cy="960120"/>
          </a:xfrm>
          <a:prstGeom prst="roundRect">
            <a:avLst>
              <a:gd name="adj" fmla="val 8000"/>
            </a:avLst>
          </a:prstGeom>
          <a:solidFill>
            <a:srgbClr val="F6F3FD"/>
          </a:solidFill>
          <a:ln w="12700">
            <a:solidFill>
              <a:srgbClr val="D9D3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1051560" y="5449824"/>
            <a:ext cx="475488" cy="475488"/>
          </a:xfrm>
          <a:prstGeom prst="ellipse">
            <a:avLst/>
          </a:prstGeom>
          <a:solidFill>
            <a:srgbClr val="0F8A7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Y</a:t>
            </a:r>
          </a:p>
        </p:txBody>
      </p:sp>
      <p:sp>
        <p:nvSpPr>
          <p:cNvPr id="173" name="TextBox 172"/>
          <p:cNvSpPr txBox="1"/>
          <p:nvPr/>
        </p:nvSpPr>
        <p:spPr>
          <a:xfrm>
            <a:off x="1783080" y="5367528"/>
            <a:ext cx="9326880" cy="365760"/>
          </a:xfrm>
          <a:prstGeom prst="rect">
            <a:avLst/>
          </a:prstGeom>
          <a:noFill/>
        </p:spPr>
        <p:txBody>
          <a:bodyPr wrap="square" lIns="0" tIns="0" rIns="0" bIns="0" anchor="t">
            <a:spAutoFit/>
          </a:bodyPr>
          <a:lstStyle/>
          <a:p>
            <a:pPr algn="l"/>
            <a:r>
              <a:rPr sz="1700" b="1" i="0">
                <a:solidFill>
                  <a:srgbClr val="14142B"/>
                </a:solidFill>
                <a:latin typeface="Calibri"/>
              </a:rPr>
              <a:t>Presentation file (PPT or PDF)</a:t>
            </a:r>
          </a:p>
        </p:txBody>
      </p:sp>
      <p:sp>
        <p:nvSpPr>
          <p:cNvPr id="174" name="TextBox 173"/>
          <p:cNvSpPr txBox="1"/>
          <p:nvPr/>
        </p:nvSpPr>
        <p:spPr>
          <a:xfrm>
            <a:off x="1783080" y="5733288"/>
            <a:ext cx="9326880" cy="365760"/>
          </a:xfrm>
          <a:prstGeom prst="rect">
            <a:avLst/>
          </a:prstGeom>
          <a:noFill/>
        </p:spPr>
        <p:txBody>
          <a:bodyPr wrap="square" lIns="0" tIns="0" rIns="0" bIns="0" anchor="t">
            <a:spAutoFit/>
          </a:bodyPr>
          <a:lstStyle/>
          <a:p>
            <a:pPr algn="l"/>
            <a:r>
              <a:rPr sz="1300" b="0" i="0">
                <a:solidFill>
                  <a:srgbClr val="63637E"/>
                </a:solidFill>
                <a:latin typeface="Calibri"/>
              </a:rPr>
              <a:t>This deck, plus architecture brief, telemetry schema, runbook and STRIDE threat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a:solidFill>
                  <a:srgbClr val="14142B"/>
                </a:solidFill>
                <a:latin typeface="Arial"/>
                <a:ea typeface="Arial"/>
                <a:cs typeface="Arial"/>
                <a:sym typeface="Arial"/>
              </a:rPr>
              <a:t>Thank you</a:t>
            </a:r>
            <a:endParaRPr sz="4600" b="0" i="0" u="none" strike="noStrike" cap="non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
        <p:nvSpPr>
          <p:cNvPr id="164" name="TextBox 163"/>
          <p:cNvSpPr txBox="1"/>
          <p:nvPr/>
        </p:nvSpPr>
        <p:spPr>
          <a:xfrm>
            <a:off x="1042415" y="4572000"/>
            <a:ext cx="9144000" cy="365760"/>
          </a:xfrm>
          <a:prstGeom prst="rect">
            <a:avLst/>
          </a:prstGeom>
          <a:noFill/>
        </p:spPr>
        <p:txBody>
          <a:bodyPr wrap="square" lIns="0" tIns="0" rIns="0" bIns="0" anchor="t">
            <a:spAutoFit/>
          </a:bodyPr>
          <a:lstStyle/>
          <a:p>
            <a:pPr algn="l"/>
            <a:r>
              <a:rPr sz="1600" b="1" i="0">
                <a:solidFill>
                  <a:srgbClr val="6D28D9"/>
                </a:solidFill>
                <a:latin typeface="Calibri"/>
              </a:rPr>
              <a:t>KAIROS</a:t>
            </a:r>
            <a:r>
              <a:rPr sz="1600" b="0" i="0">
                <a:solidFill>
                  <a:srgbClr val="14142B"/>
                </a:solidFill>
                <a:latin typeface="Calibri"/>
              </a:rPr>
              <a:t>  ·  Team Coding Agent RIT  ·  M S Ramaiah Institute of Technology</a:t>
            </a:r>
          </a:p>
        </p:txBody>
      </p:sp>
      <p:sp>
        <p:nvSpPr>
          <p:cNvPr id="165" name="TextBox 164"/>
          <p:cNvSpPr txBox="1"/>
          <p:nvPr/>
        </p:nvSpPr>
        <p:spPr>
          <a:xfrm>
            <a:off x="1042415" y="4956048"/>
            <a:ext cx="9144000" cy="320040"/>
          </a:xfrm>
          <a:prstGeom prst="rect">
            <a:avLst/>
          </a:prstGeom>
          <a:noFill/>
        </p:spPr>
        <p:txBody>
          <a:bodyPr wrap="square" lIns="0" tIns="0" rIns="0" bIns="0" anchor="t">
            <a:spAutoFit/>
          </a:bodyPr>
          <a:lstStyle/>
          <a:p>
            <a:pPr algn="l"/>
            <a:r>
              <a:rPr sz="1300" b="0" i="0">
                <a:solidFill>
                  <a:srgbClr val="63637E"/>
                </a:solidFill>
                <a:latin typeface="Calibri"/>
              </a:rPr>
              <a:t>Presenter: Cheshta Rajput  ·  github.com/cheshtarajput098-arch/kairos  ·  We welcome your questions</a:t>
            </a:r>
          </a:p>
        </p:txBody>
      </p:sp>
      <p:sp>
        <p:nvSpPr>
          <p:cNvPr id="166" name="TextBox 165"/>
          <p:cNvSpPr txBox="1"/>
          <p:nvPr/>
        </p:nvSpPr>
        <p:spPr>
          <a:xfrm>
            <a:off x="1042415" y="5349240"/>
            <a:ext cx="9144000" cy="320040"/>
          </a:xfrm>
          <a:prstGeom prst="rect">
            <a:avLst/>
          </a:prstGeom>
          <a:noFill/>
        </p:spPr>
        <p:txBody>
          <a:bodyPr wrap="square" lIns="0" tIns="0" rIns="0" bIns="0">
            <a:noAutofit/>
          </a:bodyPr>
          <a:lstStyle/>
          <a:p>
            <a:pPr algn="l"/>
            <a:r>
              <a:rPr sz="1400" b="1">
                <a:solidFill>
                  <a:srgbClr val="6D28D9"/>
                </a:solidFill>
                <a:latin typeface="Calibri"/>
              </a:rPr>
              <a:t>Submitted on: 29 September 2026</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2177</Words>
  <Application>Microsoft Office PowerPoint</Application>
  <PresentationFormat>Widescreen</PresentationFormat>
  <Paragraphs>278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Chiranjeevi U Jadhav</cp:lastModifiedBy>
  <cp:revision>1</cp:revision>
  <dcterms:created xsi:type="dcterms:W3CDTF">2026-09-07T12:01:01Z</dcterms:created>
  <dcterms:modified xsi:type="dcterms:W3CDTF">2026-09-29T18:19:45Z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